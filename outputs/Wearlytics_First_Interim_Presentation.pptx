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2ccc64068b4570" /><Relationship Type="http://schemas.openxmlformats.org/officeDocument/2006/relationships/extended-properties" Target="/docProps/app.xml" Id="Ra349ff5655754017" /><Relationship Type="http://schemas.openxmlformats.org/officeDocument/2006/relationships/officeDocument" Target="/ppt/presentation.xml" Id="R70bda30baf34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567b68414a4216"/>
  </p:sldMasterIdLst>
  <p:notesMasterIdLst>
    <p:notesMasterId xmlns:r="http://schemas.openxmlformats.org/officeDocument/2006/relationships" r:id="R113a7fbed1b94585"/>
  </p:notesMasterIdLst>
  <p:sldIdLst>
    <p:sldId xmlns:r="http://schemas.openxmlformats.org/officeDocument/2006/relationships" id="256" r:id="Ra78b7eccfc094269"/>
    <p:sldId xmlns:r="http://schemas.openxmlformats.org/officeDocument/2006/relationships" id="257" r:id="Re73eb944655d4391"/>
    <p:sldId xmlns:r="http://schemas.openxmlformats.org/officeDocument/2006/relationships" id="258" r:id="R2fcbbf17c31b4785"/>
    <p:sldId xmlns:r="http://schemas.openxmlformats.org/officeDocument/2006/relationships" id="259" r:id="R071b44663aa94b6a"/>
    <p:sldId xmlns:r="http://schemas.openxmlformats.org/officeDocument/2006/relationships" id="260" r:id="R25a854028a514a2d"/>
    <p:sldId xmlns:r="http://schemas.openxmlformats.org/officeDocument/2006/relationships" id="261" r:id="R6b1682b18f314ee1"/>
    <p:sldId xmlns:r="http://schemas.openxmlformats.org/officeDocument/2006/relationships" id="262" r:id="Re87f69973c674d9f"/>
    <p:sldId xmlns:r="http://schemas.openxmlformats.org/officeDocument/2006/relationships" id="263" r:id="R506fabed5bca4987"/>
    <p:sldId xmlns:r="http://schemas.openxmlformats.org/officeDocument/2006/relationships" id="264" r:id="R61c47454854d4c21"/>
    <p:sldId xmlns:r="http://schemas.openxmlformats.org/officeDocument/2006/relationships" id="265" r:id="R426ed014c4524d32"/>
    <p:sldId xmlns:r="http://schemas.openxmlformats.org/officeDocument/2006/relationships" id="266" r:id="R4609ac54ac1140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855a52726a47a0" /><Relationship Type="http://schemas.openxmlformats.org/officeDocument/2006/relationships/slideMaster" Target="/ppt/slideMasters/slideMaster1.xml" Id="R5f567b68414a4216" /><Relationship Type="http://schemas.openxmlformats.org/officeDocument/2006/relationships/notesMaster" Target="/ppt/notesMasters/notesMaster1.xml" Id="R113a7fbed1b94585" /><Relationship Type="http://schemas.openxmlformats.org/officeDocument/2006/relationships/presProps" Target="/ppt/presProps.xml" Id="R95016955afe745d8" /><Relationship Type="http://schemas.openxmlformats.org/officeDocument/2006/relationships/tableStyles" Target="/ppt/tableStyles.xml" Id="Rfec11ca959dd413a" /><Relationship Type="http://schemas.openxmlformats.org/officeDocument/2006/relationships/slide" Target="/ppt/slides/slide1.xml" Id="Ra78b7eccfc094269" /><Relationship Type="http://schemas.openxmlformats.org/officeDocument/2006/relationships/slide" Target="/ppt/slides/slide2.xml" Id="Re73eb944655d4391" /><Relationship Type="http://schemas.openxmlformats.org/officeDocument/2006/relationships/slide" Target="/ppt/slides/slide3.xml" Id="R2fcbbf17c31b4785" /><Relationship Type="http://schemas.openxmlformats.org/officeDocument/2006/relationships/slide" Target="/ppt/slides/slide4.xml" Id="R071b44663aa94b6a" /><Relationship Type="http://schemas.openxmlformats.org/officeDocument/2006/relationships/slide" Target="/ppt/slides/slide5.xml" Id="R25a854028a514a2d" /><Relationship Type="http://schemas.openxmlformats.org/officeDocument/2006/relationships/slide" Target="/ppt/slides/slide6.xml" Id="R6b1682b18f314ee1" /><Relationship Type="http://schemas.openxmlformats.org/officeDocument/2006/relationships/slide" Target="/ppt/slides/slide7.xml" Id="Re87f69973c674d9f" /><Relationship Type="http://schemas.openxmlformats.org/officeDocument/2006/relationships/slide" Target="/ppt/slides/slide8.xml" Id="R506fabed5bca4987" /><Relationship Type="http://schemas.openxmlformats.org/officeDocument/2006/relationships/slide" Target="/ppt/slides/slide9.xml" Id="R61c47454854d4c21" /><Relationship Type="http://schemas.openxmlformats.org/officeDocument/2006/relationships/slide" Target="/ppt/slides/slide10.xml" Id="R426ed014c4524d32" /><Relationship Type="http://schemas.openxmlformats.org/officeDocument/2006/relationships/slide" Target="/ppt/slides/slide11.xml" Id="R4609ac54ac11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5d8829c5894f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ec69cb5a13495e" /><Relationship Type="http://schemas.openxmlformats.org/officeDocument/2006/relationships/notesMaster" Target="/ppt/notesMasters/notesMaster1.xml" Id="Rb190b61cd58747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0d50f58a24130" /><Relationship Type="http://schemas.openxmlformats.org/officeDocument/2006/relationships/notesMaster" Target="/ppt/notesMasters/notesMaster1.xml" Id="Rd78798f21f12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87292a749b4180" /><Relationship Type="http://schemas.openxmlformats.org/officeDocument/2006/relationships/notesMaster" Target="/ppt/notesMasters/notesMaster1.xml" Id="R7810697ff54043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210d3978d54051" /><Relationship Type="http://schemas.openxmlformats.org/officeDocument/2006/relationships/notesMaster" Target="/ppt/notesMasters/notesMaster1.xml" Id="Rba6a0d969d294a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8aff5f72444145" /><Relationship Type="http://schemas.openxmlformats.org/officeDocument/2006/relationships/notesMaster" Target="/ppt/notesMasters/notesMaster1.xml" Id="R6ef4d5afd23e4f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94ac21434b4ad6" /><Relationship Type="http://schemas.openxmlformats.org/officeDocument/2006/relationships/notesMaster" Target="/ppt/notesMasters/notesMaster1.xml" Id="R19d71636891846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778ecff49b4d64" /><Relationship Type="http://schemas.openxmlformats.org/officeDocument/2006/relationships/notesMaster" Target="/ppt/notesMasters/notesMaster1.xml" Id="R793135e2b59247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90048c9fb4051" /><Relationship Type="http://schemas.openxmlformats.org/officeDocument/2006/relationships/notesMaster" Target="/ppt/notesMasters/notesMaster1.xml" Id="Rdb9b457e2f2b46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f2aada3c44ef8" /><Relationship Type="http://schemas.openxmlformats.org/officeDocument/2006/relationships/notesMaster" Target="/ppt/notesMasters/notesMaster1.xml" Id="R963ba4e5059246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9f2d30df6046c8" /><Relationship Type="http://schemas.openxmlformats.org/officeDocument/2006/relationships/notesMaster" Target="/ppt/notesMasters/notesMaster1.xml" Id="R577ec627d5dc42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58468a29604111" /><Relationship Type="http://schemas.openxmlformats.org/officeDocument/2006/relationships/notesMaster" Target="/ppt/notesMasters/notesMaster1.xml" Id="R8c805f11f84d4d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146c5804f45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e5660b2dda4489" /><Relationship Type="http://schemas.openxmlformats.org/officeDocument/2006/relationships/slideLayout" Target="/ppt/slideLayouts/slideLayout1.xml" Id="R4295d2590f99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95d2590f99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5317d311a472a" /><Relationship Type="http://schemas.openxmlformats.org/officeDocument/2006/relationships/image" Target="/ppt/media/image.png" Id="R4de4f18698284d43" /><Relationship Type="http://schemas.openxmlformats.org/officeDocument/2006/relationships/notesSlide" Target="/ppt/notesSlides/notesSlide1.xml" Id="R1c917d4ae99a46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6e3d7d07d4442" /><Relationship Type="http://schemas.openxmlformats.org/officeDocument/2006/relationships/notesSlide" Target="/ppt/notesSlides/notesSlide2.xml" Id="R8a4213b7592f4b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7f7fd26eb486f" /><Relationship Type="http://schemas.openxmlformats.org/officeDocument/2006/relationships/notesSlide" Target="/ppt/notesSlides/notesSlide3.xml" Id="Raa611738950a41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4a67e3f3041d5" /><Relationship Type="http://schemas.openxmlformats.org/officeDocument/2006/relationships/notesSlide" Target="/ppt/notesSlides/notesSlide4.xml" Id="R35391b509542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5e1c1ef7147b6" /><Relationship Type="http://schemas.openxmlformats.org/officeDocument/2006/relationships/notesSlide" Target="/ppt/notesSlides/notesSlide5.xml" Id="Re054fbeeb25845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822896e264e9b" /><Relationship Type="http://schemas.openxmlformats.org/officeDocument/2006/relationships/notesSlide" Target="/ppt/notesSlides/notesSlide6.xml" Id="R8051b0d05c6841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d42bf83694822" /><Relationship Type="http://schemas.openxmlformats.org/officeDocument/2006/relationships/notesSlide" Target="/ppt/notesSlides/notesSlide7.xml" Id="R742b89e7519546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cc83143974a14" /><Relationship Type="http://schemas.openxmlformats.org/officeDocument/2006/relationships/notesSlide" Target="/ppt/notesSlides/notesSlide8.xml" Id="Ra64d1df649ae4e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8baf517024916" /><Relationship Type="http://schemas.openxmlformats.org/officeDocument/2006/relationships/notesSlide" Target="/ppt/notesSlides/notesSlide9.xml" Id="Ra8859f971a3948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2f8446edf469d" /><Relationship Type="http://schemas.openxmlformats.org/officeDocument/2006/relationships/notesSlide" Target="/ppt/notesSlides/notesSlide10.xml" Id="R8d41c7c6899642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40e22e6c24d0e" /><Relationship Type="http://schemas.openxmlformats.org/officeDocument/2006/relationships/notesSlide" Target="/ppt/notesSlides/notesSlide11.xml" Id="R73aaf9725dd8453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F176F"/>
            </a:gs>
            <a:gs pos="100000">
              <a:srgbClr val="7655EB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AA9F0-CFDF-40E5-AE1D-0AD7A48C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04875" y="4429125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9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2AE91-A660-49EE-8F87-8862554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-1381125"/>
            <a:ext cx="4667250" cy="466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F">
              <a:alpha val="1490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F1CBC-B650-4653-B7FB-81E636DA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5334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E4FF"/>
                </a:solidFill>
              </a:defRPr>
            </a:pPr>
            <a:r>
              <a:rPr sz="975" b="1">
                <a:solidFill>
                  <a:srgbClr val="E9E4FF"/>
                </a:solidFill>
              </a:rPr>
              <a:t>MCA MINI PROJECT  •  FIRST INTERIM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1A23E-4E9A-4C6C-847E-09723410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5334000" cy="714375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Wearlytics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60407-B3FD-43B5-B170-E6DE1A3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5143500" cy="876300"/>
          </a:xfrm>
          <a:prstGeom xmlns:a="http://schemas.openxmlformats.org/drawingml/2006/main" prst="roundRect">
            <a:avLst>
              <a:gd name="adj" fmla="val 130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0EDFF"/>
                </a:solidFill>
              </a:defRPr>
            </a:pPr>
            <a:r>
              <a:rPr sz="2250" b="0">
                <a:solidFill>
                  <a:srgbClr val="F0EDFF"/>
                </a:solidFill>
              </a:rPr>
              <a:t>AI Powered Wardrobe and</a:t>
            </a:r>
          </a:p>
          <a:p xmlns:a="http://schemas.openxmlformats.org/drawingml/2006/main">
            <a:pPr algn="l">
              <a:defRPr sz="2250" b="0">
                <a:solidFill>
                  <a:srgbClr val="F0EDFF"/>
                </a:solidFill>
              </a:defRPr>
            </a:pPr>
            <a:r>
              <a:rPr sz="2250" b="0">
                <a:solidFill>
                  <a:srgbClr val="F0EDFF"/>
                </a:solidFill>
              </a:rPr>
              <a:t>Outfit Recommendation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5F15C-A0CC-4955-A239-BB1034A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9337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544DF-E685-4E7A-8968-CA364966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47625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Anchana R P  |  Master of Computer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DCF92-094A-447E-92F5-AE0566D4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000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D7FF"/>
                </a:solidFill>
              </a:defRPr>
            </a:pPr>
            <a:r>
              <a:rPr sz="1125" b="0">
                <a:solidFill>
                  <a:srgbClr val="DDD7FF"/>
                </a:solidFill>
              </a:rPr>
              <a:t>College Name  •  Guide Name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4f18698284d43"/>
          <a:srcRect xmlns:a="http://schemas.openxmlformats.org/drawingml/2006/main" l="22354" t="0" r="223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666750"/>
            <a:ext cx="5334000" cy="54292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5A312-67C2-4E41-9A2E-106B8B41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1FF"/>
                </a:solidFill>
              </a:defRPr>
            </a:pPr>
            <a:r>
              <a:rPr sz="750" b="1">
                <a:solidFill>
                  <a:srgbClr val="D8D1FF"/>
                </a:solidFill>
              </a:rPr>
              <a:t>WEARLYTICS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CCD91-F896-4448-BD08-E14C9186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D1FF"/>
                </a:solidFill>
              </a:defRPr>
            </a:pPr>
            <a:r>
              <a:rPr sz="750" b="1">
                <a:solidFill>
                  <a:srgbClr val="D8D1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67138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7238A-E1F7-4069-9826-FA1025BC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PROJECT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FE5EB-C1B6-4B0F-9273-F64DDEDD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A smarter way to understand your wardrobe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CBC0-EE8D-4CB2-8F62-75BDC988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Wearlytics brings clothing, planning, and recommendations into one digital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17AD2-53C1-4A35-A975-00C24E26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F3800-D66B-45BF-A765-5A1EF704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53345-3B18-42CF-9902-6B2ECB38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C113D-030A-45A4-A84B-DE9379E7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22AA-30A0-4E43-8A6E-8D554123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43125"/>
            <a:ext cx="48482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Digitally organize every clothing 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DA35E-6854-4333-9B41-1F8086B1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965B8-009A-4CFD-86A8-19285F86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76525"/>
            <a:ext cx="48482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Upload wardrobe images for easy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5EF75-3177-4664-B9B6-25E12131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57034-5D00-44E0-9F19-C7D2B8D3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09925"/>
            <a:ext cx="48482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Receive AI-based outfit recommendations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F1D49-D8B8-40CB-BAB6-9DD5DD5D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D473F-D611-4CF4-BAE4-EC88E00A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43325"/>
            <a:ext cx="48482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Track wardrobe insights and usage 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639E7-E06C-4953-9ABB-BFF824D6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DFCD5-A9F5-4D0B-B436-CAAC65D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76725"/>
            <a:ext cx="48482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Plan looks for the upcoming week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CFC6C-679B-44CB-871B-09FB99BA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73DC8-FFBA-4D12-9EA5-77EDA2F6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2762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YOUR DIGITAL WARDROBE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34614-9C4C-4237-AD45-97CF4C4C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2491D-A141-4669-AB6D-932E857B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479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1950A-1821-42AD-8DF5-462A55E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D4D4D-1889-46A1-9602-F28B6630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479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1A8FB-2FB8-4B6F-9B18-C6325C0A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44F37-6C6B-4C28-B2C4-3A10126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479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7F385-9BD3-4B04-B3DE-6671AE7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3028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8CE42-92FF-4FC2-BD0A-933053CE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90950"/>
            <a:ext cx="2571750" cy="428625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One place for clothes, ideas, and plans.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3F42B-E282-443F-B671-BF487A4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48200"/>
            <a:ext cx="8667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26C90-9A12-469A-B3B3-A0580F70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866775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4CF1"/>
                </a:solidFill>
              </a:defRPr>
            </a:pPr>
            <a:r>
              <a:rPr sz="825" b="1">
                <a:solidFill>
                  <a:srgbClr val="6C4CF1"/>
                </a:solidFill>
              </a:rPr>
              <a:t>Organize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A887C-63D0-4DEE-AC2E-B903C6E0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8667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9CDD73-B44B-415D-8AC2-771EB5A4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866775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4CF1"/>
                </a:solidFill>
              </a:defRPr>
            </a:pPr>
            <a:r>
              <a:rPr sz="825" b="1">
                <a:solidFill>
                  <a:srgbClr val="6C4CF1"/>
                </a:solidFill>
              </a:rPr>
              <a:t>Discover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2E6CE-5F82-4D50-A441-F28E0752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7048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D95C0-A77A-45A8-8534-3E73F169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14875"/>
            <a:ext cx="7048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4CF1"/>
                </a:solidFill>
              </a:defRPr>
            </a:pPr>
            <a:r>
              <a:rPr sz="825" b="1">
                <a:solidFill>
                  <a:srgbClr val="6C4CF1"/>
                </a:solidFill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20858285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0B583-B34B-4D61-B57A-BC7E5123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A6E54-4497-4DCA-9E65-75592C1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Wardrobe decisions are still largely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73B73-51B0-4EEE-9D3F-2CEFFD2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The lack of a single digital view creates friction before the day even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D2F61-F2D1-419E-884D-5CCB7CF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51C1B-7463-44D1-8BB6-8D6AC709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C420E-F79F-4210-8B95-2F328D25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9139C-325A-4B4F-9E07-72022655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000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24A5A-50B8-4F50-AC16-8D22EC9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288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82185-2047-49A4-B25D-F9D0690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95550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A25A5-7515-456E-A7E8-C110ADE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38400"/>
            <a:ext cx="31432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Manual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01C6C-7AE2-41BB-AF84-14DE224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71775"/>
            <a:ext cx="3714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084"/>
                </a:solidFill>
              </a:defRPr>
            </a:pPr>
            <a:r>
              <a:rPr sz="1125" b="0">
                <a:solidFill>
                  <a:srgbClr val="6E7084"/>
                </a:solidFill>
              </a:rPr>
              <a:t>Clothes are difficult to catalogue and retrieve.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48109-C7F1-406B-A288-64D3A466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5000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37CD6-44E5-4A7C-B508-681A64C3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1AD9-992F-4ECD-A65F-6F5F874E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80EE2-3BF8-4EB4-8FD7-73BB7AD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1432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Matching effort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2EAAF-8E4B-494D-A135-5E6C3900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71775"/>
            <a:ext cx="3714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084"/>
                </a:solidFill>
              </a:defRPr>
            </a:pPr>
            <a:r>
              <a:rPr sz="1125" b="0">
                <a:solidFill>
                  <a:srgbClr val="6E7084"/>
                </a:solidFill>
              </a:rPr>
              <a:t>Choosing compatible outfits takes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26303-B627-4EC3-A507-FB7160FD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000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C90A9-B05C-413D-A445-89402F05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576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F4C09-DA03-4A65-9214-65D342A5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24300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2AB9F-E173-4447-8862-B199A75C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67150"/>
            <a:ext cx="31432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Repeated purchases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0229A-DC1A-4BD0-A761-C54448FF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00525"/>
            <a:ext cx="3714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084"/>
                </a:solidFill>
              </a:defRPr>
            </a:pPr>
            <a:r>
              <a:rPr sz="1125" b="0">
                <a:solidFill>
                  <a:srgbClr val="6E7084"/>
                </a:solidFill>
              </a:rPr>
              <a:t>Items already owned are easy to overlook.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8B7D6-57AA-44A6-9147-5621FB5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50006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6FBD8-E99B-4AC6-B3A2-1D8BED38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653FE-743D-461F-AF26-8A343C2B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75DAE6-D032-42D9-AEB1-FDA9C24C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31432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No insight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B9593-9AF8-47F5-AC15-F10F0E33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00525"/>
            <a:ext cx="3714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084"/>
                </a:solidFill>
              </a:defRPr>
            </a:pPr>
            <a:r>
              <a:rPr sz="1125" b="0">
                <a:solidFill>
                  <a:srgbClr val="6E7084"/>
                </a:solidFill>
              </a:rPr>
              <a:t>Wardrobe usage and gaps remain invisible.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6CC705-8304-4B80-BC86-24662A8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9715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217E"/>
                </a:solidFill>
              </a:defRPr>
            </a:pPr>
            <a:r>
              <a:rPr sz="1650" b="1">
                <a:solidFill>
                  <a:srgbClr val="35217E"/>
                </a:solidFill>
              </a:rPr>
              <a:t>The outcome: time-consuming choices and a wardrobe that is underused.</a:t>
            </a:r>
          </a:p>
        </p:txBody>
      </p:sp>
    </p:spTree>
    <p:extLst>
      <p:ext uri="{BB962C8B-B14F-4D97-AF65-F5344CB8AC3E}">
        <p14:creationId xmlns:p14="http://schemas.microsoft.com/office/powerpoint/2010/main" val="14597043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A0756-4DB3-4973-B502-F9DECBD1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PROPOSED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AA1AA-94A3-44D1-B674-36EC9DEE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Wearlytics turns wardrobe data into daily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688D0-0B33-4984-A58E-5630035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A connected workflow replaces manual browsing with smart, personalized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02462-0F97-410D-8119-53C52AB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55849-1E6D-4323-9AA2-87A2772C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05A81-D5C2-4050-8734-30BB42CC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9D7F6-C55C-4ABC-B483-C65F620A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09562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9FC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4373F-F6B1-450C-88A6-629B4BE8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2D"/>
                </a:solidFill>
              </a:defRPr>
            </a:pPr>
            <a:r>
              <a:rPr sz="1800" b="1">
                <a:solidFill>
                  <a:srgbClr val="20202D"/>
                </a:solidFill>
              </a:rPr>
              <a:t>Existing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B5C2A-FAB5-4800-B7D9-1ECE67BA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F66ED-2552-4802-90D4-EDC0712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9907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Manual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7C389-D90F-4078-A692-7DE9856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B6201-E984-48DB-B71F-1C05538F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19907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No digital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E5A6A-DEEF-48E1-840F-4384F6D3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D66A3-9D6C-4ACE-91DB-49D80321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1990725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2D"/>
                </a:solidFill>
              </a:defRPr>
            </a:pPr>
            <a:r>
              <a:rPr sz="1500" b="0">
                <a:solidFill>
                  <a:srgbClr val="20202D"/>
                </a:solidFill>
              </a:rPr>
              <a:t>No recommendations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51D58-1064-44E7-9043-5B6A48E6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952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5EC26-E4CE-4093-ABE8-8C3607D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5619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5B3A5-C1E4-42C2-82D9-68A5549C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C4CF1"/>
                </a:solidFill>
              </a:defRPr>
            </a:pPr>
            <a:r>
              <a:rPr sz="1950" b="1">
                <a:solidFill>
                  <a:srgbClr val="6C4CF1"/>
                </a:solidFill>
              </a:rPr>
              <a:t>Wearlytics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32274-FFE3-458B-8682-3A019C93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561E2-42F8-484E-B3ED-29D43921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B0A86-328F-4F33-997B-EF50BA1D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AI Outfit Recommendation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AC62F-1702-4F59-9858-F21CB23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96CDE-4B9E-42DB-B8B3-1F057205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241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5DF6E-82F3-44CF-829B-9AF27A10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Digital Wardrobe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6798E-A1B4-4B3D-BA8F-3FE5D169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05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B55E9-8B94-48A9-A120-F14151E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718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94280-3B06-4CF8-BB8A-8C6AAF94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Weekly Planner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2CDD0-3A66-4F79-883D-3D7B654E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E2410-13F4-4C4A-AC4F-7818E25C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BC9012-441B-4257-AB7E-1AD5D7C4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Analytics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04CCC-7E4E-4A6E-A74E-9A6C0D4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4723A1-A071-491B-99F6-15259251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95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ACEDE-E74E-4807-9462-3DD55D10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Smart 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7B115-E653-463F-9FA6-C81C665C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2136F-9341-4DEC-A72F-7F41B11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9575"/>
            <a:ext cx="419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C4CF1"/>
                </a:solidFill>
              </a:defRPr>
            </a:pPr>
            <a:r>
              <a:rPr sz="1500" b="1">
                <a:solidFill>
                  <a:srgbClr val="6C4CF1"/>
                </a:solidFill>
              </a:rPr>
              <a:t>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3B9167-F819-405D-950A-5261E550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5574687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054A5-12DC-4B49-9D8A-11F501CB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SYSTEM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B55E7-F911-4211-93EF-EA638956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From wardrobe upload to actionable outfit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8D02C-1CEF-4209-8428-D897DEA4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Each step builds a reliable picture of the user’s clothing and preferences.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44D54-52D1-40FE-9061-AC251A7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AD8BB-1A5A-479C-BD09-C8E295A3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1B49A-79B5-4041-A91C-249BDAB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C9505-3FF5-4BE8-B8BB-A85B45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4763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F9FDB-5847-4631-811D-FF7E7565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14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5A43E-6FC7-4D94-B0C0-A9AE4B0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D"/>
                </a:solidFill>
              </a:defRPr>
            </a:pPr>
            <a:r>
              <a:rPr sz="1050" b="1">
                <a:solidFill>
                  <a:srgbClr val="20202D"/>
                </a:solidFill>
              </a:rPr>
              <a:t>User 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411B7-6894-43C0-BBBB-3E533276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19450"/>
            <a:ext cx="31432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87188-EF60-4F7A-8E66-29408E6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14763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1DD01-36B4-487D-A539-1C44037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514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01292-3D22-4226-A87D-2ECA9572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2422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D"/>
                </a:solidFill>
              </a:defRPr>
            </a:pPr>
            <a:r>
              <a:rPr sz="1050" b="1">
                <a:solidFill>
                  <a:srgbClr val="20202D"/>
                </a:solidFill>
              </a:rPr>
              <a:t>Upload Clothing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00F68-4579-45F7-BF15-0BA6DE84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19450"/>
            <a:ext cx="31432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6C8A5-9896-4F9C-A557-541F1ABA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14763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44CC6-CD8D-4174-9989-A42EE579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514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2DDF0-C196-4870-9524-8CB4B118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2422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D"/>
                </a:solidFill>
              </a:defRPr>
            </a:pPr>
            <a:r>
              <a:rPr sz="1050" b="1">
                <a:solidFill>
                  <a:srgbClr val="20202D"/>
                </a:solidFill>
              </a:rPr>
              <a:t>Store in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4B613-6B8E-4FE8-8F89-8227D9F9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19450"/>
            <a:ext cx="31432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D5FAE-31E2-44CE-A402-CBA6FFC3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14763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9525">
            <a:solidFill>
              <a:srgbClr val="6C4C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D8864-EFED-456E-AC64-4ADBE1E8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D8FF"/>
                </a:solidFill>
              </a:defRPr>
            </a:pPr>
            <a:r>
              <a:rPr sz="900" b="1">
                <a:solidFill>
                  <a:srgbClr val="DFD8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391A7-14C2-46E1-9846-47C5813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AI 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E7DC5-7A16-4AB5-B83A-81DBD7A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19450"/>
            <a:ext cx="31432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E77AF-3FC3-4F17-8143-7600B31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14763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7DE88-4056-4704-8AD7-2BC4D950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514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86985-FBBC-4F4E-A890-FFCD7DAB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2422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D"/>
                </a:solidFill>
              </a:defRPr>
            </a:pPr>
            <a:r>
              <a:rPr sz="1050" b="1">
                <a:solidFill>
                  <a:srgbClr val="20202D"/>
                </a:solidFill>
              </a:rPr>
              <a:t>Outfit</a:t>
            </a:r>
          </a:p>
          <a:p xmlns:a="http://schemas.openxmlformats.org/drawingml/2006/main">
            <a:pPr algn="ctr">
              <a:defRPr sz="1050" b="1">
                <a:solidFill>
                  <a:srgbClr val="20202D"/>
                </a:solidFill>
              </a:defRPr>
            </a:pPr>
            <a:r>
              <a:rPr sz="1050" b="1">
                <a:solidFill>
                  <a:srgbClr val="20202D"/>
                </a:solidFill>
              </a:rPr>
              <a:t>Suggestions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42BDE-967D-490C-83CA-72522F0D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19450"/>
            <a:ext cx="31432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2EF552-67F6-45AD-BB56-0756EA50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4763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9D460-3565-42B0-9702-26489ABF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514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4FFE7-59FC-471C-ABC6-19B80752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2422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D"/>
                </a:solidFill>
              </a:defRPr>
            </a:pPr>
            <a:r>
              <a:rPr sz="1050" b="1">
                <a:solidFill>
                  <a:srgbClr val="20202D"/>
                </a:solidFill>
              </a:rPr>
              <a:t>Dashboard &amp; Analytics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EF8EDF-24B4-491A-87ED-F2000DBB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9048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Secure access  →  Structured data  →  Intelligent suggestions  →  Better daily decisions</a:t>
            </a:r>
          </a:p>
        </p:txBody>
      </p:sp>
    </p:spTree>
    <p:extLst>
      <p:ext uri="{BB962C8B-B14F-4D97-AF65-F5344CB8AC3E}">
        <p14:creationId xmlns:p14="http://schemas.microsoft.com/office/powerpoint/2010/main" val="5111762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8442A-BCE3-4D07-9330-C097506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METHODS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05781-8356-45CD-89E1-22FA045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A practical web stack supports the current build and future AI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2E1E4-BC5A-40D9-B7F7-D66592C5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The architecture uses familiar, maintainable technologies for a smooth implementation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51E3F-708D-4C5C-B745-3A2A278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EB4AD-B8CB-496C-95B7-7FEF719C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05F20-0576-4FA9-9612-A79758C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AF6CD-A3EB-4AEA-A0CA-18B6CAAB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286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FFBD2-ECA2-4A69-ADED-0D88D78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4133D-B808-4E8D-AED2-1427396E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52540-9D33-4F72-B239-3C71B2C7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8003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084"/>
                </a:solidFill>
              </a:defRPr>
            </a:pPr>
            <a:r>
              <a:rPr sz="1050" b="0">
                <a:solidFill>
                  <a:srgbClr val="6E7084"/>
                </a:solidFill>
              </a:rPr>
              <a:t>HTML  •  CSS  •  Bootstrap  • 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C4080-A439-4DC1-854F-371BD6E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286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4B523-9DD7-498C-B2A5-49E73CC5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0539C-E064-459F-BB73-D6002A93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19375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A27EA-0976-446D-ADFC-C7684CB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28003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084"/>
                </a:solidFill>
              </a:defRPr>
            </a:pPr>
            <a:r>
              <a:rPr sz="1050" b="0">
                <a:solidFill>
                  <a:srgbClr val="6E7084"/>
                </a:solidFill>
              </a:rPr>
              <a:t>Python Flask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FF1AF-BBE8-407D-AC7C-0DB6E583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3286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EBC00-E6D5-48C0-9C71-280AD2C0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E5807-A680-4648-816F-C2FA68CB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AC70D-9072-4B5E-99C5-A8D5BF38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28003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084"/>
                </a:solidFill>
              </a:defRPr>
            </a:pPr>
            <a:r>
              <a:rPr sz="1050" b="0">
                <a:solidFill>
                  <a:srgbClr val="6E7084"/>
                </a:solidFill>
              </a:rPr>
              <a:t>MySQL  •  SQLAlchemy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10D85-DC63-4282-AD5A-A3DFA1D7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3286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BB7E8-F1D1-4E09-A852-05A175E3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E891E-088D-4A0B-BBA7-BBACBD18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Authentication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18A59-1328-4C2C-BBDE-7AEEF84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28003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084"/>
                </a:solidFill>
              </a:defRPr>
            </a:pPr>
            <a:r>
              <a:rPr sz="1050" b="0">
                <a:solidFill>
                  <a:srgbClr val="6E7084"/>
                </a:solidFill>
              </a:rPr>
              <a:t>Flask-Login  •  Werkzeug hashing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3EF3D-B7FD-4424-A421-A50DF367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3286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DAAA9-D0B0-44F6-9963-7021AFA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4798C-D332-4A17-A150-072507D1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247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2D"/>
                </a:solidFill>
              </a:defRPr>
            </a:pPr>
            <a:r>
              <a:rPr sz="1575" b="1">
                <a:solidFill>
                  <a:srgbClr val="20202D"/>
                </a:solidFill>
              </a:rPr>
              <a:t>Future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C1BFC-1F32-478E-9B7B-735E7AE1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28003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084"/>
                </a:solidFill>
              </a:defRPr>
            </a:pPr>
            <a:r>
              <a:rPr sz="1050" b="0">
                <a:solidFill>
                  <a:srgbClr val="6E7084"/>
                </a:solidFill>
              </a:rPr>
              <a:t>Computer Vision  •  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814502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5AE385-AEE9-4698-8E64-D3B37FC6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CURRENT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213E-894B-4FC9-BBF3-1F456B73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The core product foundation is already in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3E10-643F-4149-9DF5-EFF85017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The first interim milestone demonstrates a working Flask application with persistent user accounts.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5F497-56E2-4A0F-A237-9BA72EFC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E19AF-B74C-4C7E-A8B5-47003FA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B6255-68B8-4D25-9F74-2A76C6A3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88BE3-648A-4959-9E8B-15B2EDCD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BBAA9-2757-422F-871C-18B4B7A6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32C3-8755-40D5-9AB3-A90A07A8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B0451-EFB3-40F9-B2A7-98BB56AA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219325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Authentication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99ABC-06C5-4077-88E0-73242866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F9F86-15E6-45AC-9F6F-08DC3A4C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0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9F8E5-A6D4-4231-B68E-3745AE58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28850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D9C8A-6DB4-47A0-BDFC-6630CFE3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19325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Registration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6C47F-D6D4-440C-9A81-DEA66ED8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7E4CB-BDEB-4D5B-B123-1962088B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B0EB9-EA57-45C3-B08C-5FE67686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158D0-DC15-46FC-821B-FD50BB58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00350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Login &amp; Logout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39152-AA27-410B-9737-FD7851B9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76525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F96D1-D31F-4752-8C09-F5F75F8F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90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DA0FB-86F8-4F4F-84F2-5915026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09875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7DAFA-BD69-4819-A4B2-DD326236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Dashboard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77F7E-5F0D-4278-98B8-07DC2931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60081-44B3-4F49-A193-3B0D5F70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0D6C0-5468-42BC-B87B-35D1D6B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8E467-5F7C-4F53-934B-EB3518D1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381375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Sidebar Navigation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5D5C7F-18F5-429A-B7F5-65D9EC5C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57550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2605E-94FF-4489-8E4F-2283635D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71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EC6AC-239F-4954-A017-3B60AE1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90900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D6C21-2AD2-4273-9885-CD29853E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1375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Upload Page Design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56A8A-08A8-4541-A7DB-37EA71E9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5A660-06F8-4C82-BF63-49E3EBF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CC8AE6-BEA0-4B9A-8DBD-1D943C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804E1C-E192-46B5-B43D-9AE0DA18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962400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Analytics 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41C49C-7B03-45B3-AE16-E4F8AD12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38575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0D850B-CBCD-454A-A067-56DACA30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52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63F78A-B336-4282-AEC5-D9F405E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71925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7CC3D5-E0F1-4B9C-9F6B-C2DFDF6C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Responsive Design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72D82-8EB5-4C13-9612-4AA843D9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CB5518-8128-49D9-A810-C550127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85E141-3709-4975-BAF4-BA6E2B6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4809C6-ABCE-457C-BFFF-B646DE14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43425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MySQL Connection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2B67DB-A810-4F82-B7A1-31A4D76C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19600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5E2D3E-3D82-4E1E-AA1E-F8F4C4A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3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38F555-E386-4040-8B84-F1C30E13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52950"/>
            <a:ext cx="2095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A179"/>
                </a:solidFill>
              </a:defRPr>
            </a:pPr>
            <a:r>
              <a:rPr sz="900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005586-6CEF-4000-9024-D20F326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43425"/>
            <a:ext cx="3619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D"/>
                </a:solidFill>
              </a:defRPr>
            </a:pPr>
            <a:r>
              <a:rPr sz="1200" b="1">
                <a:solidFill>
                  <a:srgbClr val="20202D"/>
                </a:solidFill>
              </a:rPr>
              <a:t>Flask Structure</a:t>
            </a:r>
          </a:p>
        </p:txBody>
      </p:sp>
    </p:spTree>
    <p:extLst>
      <p:ext uri="{BB962C8B-B14F-4D97-AF65-F5344CB8AC3E}">
        <p14:creationId xmlns:p14="http://schemas.microsoft.com/office/powerpoint/2010/main" val="3700597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4B51D-EB08-435C-95F6-57B70F15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41314-8555-4B3C-8B58-7778642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A modular architecture separates the user experience from data and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426B6-08B4-4AF1-B371-0BE47287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The current application is ready to extend with AI processing without redesigning the 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BABEF-346D-42FC-B1D4-E770E020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ED641-43E2-40C2-89DA-2CAA9CD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86CE0-AAF0-4A02-8646-D30A720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64E6E-52C2-4F73-A256-441D29A7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476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99AA9-C098-4A25-BC1C-66D61F81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285875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D"/>
                </a:solidFill>
              </a:defRPr>
            </a:pPr>
            <a:r>
              <a:rPr sz="1275" b="1">
                <a:solidFill>
                  <a:srgbClr val="20202D"/>
                </a:solidFill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F3AC6-0AA9-4144-9DB4-2EF04F3E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33725"/>
            <a:ext cx="285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C28FE-9687-4EB2-906C-432B4C6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5E62B-7900-43CF-8F44-456E73DE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67050"/>
            <a:ext cx="1714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D"/>
                </a:solidFill>
              </a:defRPr>
            </a:pPr>
            <a:r>
              <a:rPr sz="1275" b="1">
                <a:solidFill>
                  <a:srgbClr val="20202D"/>
                </a:solidFill>
              </a:rPr>
              <a:t>Frontend</a:t>
            </a:r>
          </a:p>
          <a:p xmlns:a="http://schemas.openxmlformats.org/drawingml/2006/main">
            <a:pPr algn="ctr">
              <a:defRPr sz="1275" b="1">
                <a:solidFill>
                  <a:srgbClr val="20202D"/>
                </a:solidFill>
              </a:defRPr>
            </a:pPr>
            <a:r>
              <a:rPr sz="1275" b="1">
                <a:solidFill>
                  <a:srgbClr val="20202D"/>
                </a:solidFill>
              </a:rPr>
              <a:t>HTML • CSS • 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622AE-A01E-437D-ADD1-CCD649A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33725"/>
            <a:ext cx="5238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DB15A-BDFD-47CE-ABE7-A9F644A2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476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9525">
            <a:solidFill>
              <a:srgbClr val="6C4C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45E6A-14CE-4B33-A8FE-293277A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1285875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Flask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E1F86-678B-481E-99D6-A31A9708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3725"/>
            <a:ext cx="285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D231C-49BC-4A6F-854B-822FFEC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1476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BF9E1-7980-4E5D-ADB6-65D2D7D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1285875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D"/>
                </a:solidFill>
              </a:defRPr>
            </a:pPr>
            <a:r>
              <a:rPr sz="1275" b="1">
                <a:solidFill>
                  <a:srgbClr val="20202D"/>
                </a:solidFill>
              </a:rPr>
              <a:t>SQLAlchemy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C6E77-2089-4804-A89D-C3CFB1E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33725"/>
            <a:ext cx="285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2B4CC-BFFD-4B73-BD04-6612C68F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62250"/>
            <a:ext cx="1476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A2469-D4B0-4C2C-9ECA-B1C7C20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67050"/>
            <a:ext cx="1285875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D"/>
                </a:solidFill>
              </a:defRPr>
            </a:pPr>
            <a:r>
              <a:rPr sz="1275" b="1">
                <a:solidFill>
                  <a:srgbClr val="20202D"/>
                </a:solidFill>
              </a:rPr>
              <a:t>MySQL Database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82B83-C9FA-4A5B-A47C-0A394B38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48200"/>
            <a:ext cx="400050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36E71-16A3-4E42-9A74-2DCC987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34861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C4CF1"/>
                </a:solidFill>
              </a:defRPr>
            </a:pPr>
            <a:r>
              <a:rPr sz="1275" b="1">
                <a:solidFill>
                  <a:srgbClr val="6C4CF1"/>
                </a:solidFill>
              </a:rPr>
              <a:t>Future AI Module  →  Outfit Recommendation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6D926-2584-4AB9-869D-308E37A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24350"/>
            <a:ext cx="1428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7084"/>
                </a:solidFill>
              </a:defRPr>
            </a:pPr>
            <a:r>
              <a:rPr sz="900" b="1">
                <a:solidFill>
                  <a:srgbClr val="6E7084"/>
                </a:solidFill>
              </a:rPr>
              <a:t>Future extension layer</a:t>
            </a:r>
          </a:p>
        </p:txBody>
      </p:sp>
    </p:spTree>
    <p:extLst>
      <p:ext uri="{BB962C8B-B14F-4D97-AF65-F5344CB8AC3E}">
        <p14:creationId xmlns:p14="http://schemas.microsoft.com/office/powerpoint/2010/main" val="19189365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C279E-A25E-4D7A-8251-48ECDFA4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INTERFACE PREVIEW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ECAAE-1554-449E-AFC0-7CE0D89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The product experience is designed around a calm, guided wardrobe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80BD7-4861-472B-BFD0-ABF88AF4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Add final application screenshots here before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4DCCB-7ABA-4E52-AF14-6C1695C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F40AC-EF28-4163-A008-9572401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BBAF8-A1AA-47A1-9A36-6C6A6659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35912-D84A-46D3-8E61-27CDED02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190750" cy="2476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576B9-61F4-4842-8C63-B85028E0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962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2CCEC-49B2-4D0E-A0F9-04BE951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76525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AF9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B6353-3007-4E0F-BDDA-E1F536EE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48000"/>
            <a:ext cx="266700" cy="333375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9ADF9"/>
                </a:solidFill>
              </a:defRPr>
            </a:pPr>
            <a:r>
              <a:rPr sz="2025" b="1">
                <a:solidFill>
                  <a:srgbClr val="B9ADF9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84716-20EF-4B1B-A9B4-ACE93E90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8478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Login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9249A-1C9B-4787-A127-D799EA9A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95500"/>
            <a:ext cx="2190750" cy="2476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847C1-0946-4B42-9407-FE696A1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09800"/>
            <a:ext cx="1962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4F3D1-5CD4-4DD0-B3CB-86B79E4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76525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AF9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CF6FE-3466-47D1-8401-03A5135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266700" cy="333375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9ADF9"/>
                </a:solidFill>
              </a:defRPr>
            </a:pPr>
            <a:r>
              <a:rPr sz="2025" b="1">
                <a:solidFill>
                  <a:srgbClr val="B9ADF9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FCBAE-FABC-49BD-AD23-15C6B5C5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52900"/>
            <a:ext cx="18478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Registration Page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3BDC2-D5AD-46A2-BFB5-64D6D0F0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2762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4CDE9-375E-44B1-B268-6194068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09800"/>
            <a:ext cx="2533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EB15E-6FBD-4AE6-9B50-37221ED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76525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AF9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2921A-F024-4BC8-BF5B-19AF44EC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57500"/>
            <a:ext cx="666750" cy="7048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DC1FB-8354-4348-8CFE-D437E1F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666750" cy="7048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B977B-E54B-427E-AE1E-457F3C63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476250" cy="7048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5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D4F26-585F-49CF-A575-3CBA20EC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52900"/>
            <a:ext cx="24193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C6C5D-10D6-4693-8946-82DC38B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2190750" cy="2476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8E2E6-9325-4F22-B283-3DD3AEC2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09800"/>
            <a:ext cx="19621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A7154-6712-4BC1-BC38-BCA7C1E0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76525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AF9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E38CD-6C6B-48BA-83A8-E0FC7B33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266700" cy="333375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9ADF9"/>
                </a:solidFill>
              </a:defRPr>
            </a:pPr>
            <a:r>
              <a:rPr sz="2025" b="1">
                <a:solidFill>
                  <a:srgbClr val="B9ADF9"/>
                </a:solidFill>
              </a:rPr>
              <a:t>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6345C-5FB3-40C8-804C-502F354E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52900"/>
            <a:ext cx="18478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1CC65-6B77-4709-AE18-2A451F40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028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7084"/>
                </a:solidFill>
              </a:defRPr>
            </a:pPr>
            <a:r>
              <a:rPr sz="1275" b="0">
                <a:solidFill>
                  <a:srgbClr val="6E7084"/>
                </a:solidFill>
              </a:rPr>
              <a:t>Replace these labelled frames with your own final screenshots.</a:t>
            </a:r>
          </a:p>
        </p:txBody>
      </p:sp>
    </p:spTree>
    <p:extLst>
      <p:ext uri="{BB962C8B-B14F-4D97-AF65-F5344CB8AC3E}">
        <p14:creationId xmlns:p14="http://schemas.microsoft.com/office/powerpoint/2010/main" val="1840712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5A9D8C-DC81-453B-9CA0-797E983D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4CF1"/>
                </a:solidFill>
              </a:defRPr>
            </a:pPr>
            <a:r>
              <a:rPr sz="900" b="1">
                <a:solidFill>
                  <a:srgbClr val="6C4CF1"/>
                </a:solidFill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B77A6-0D0D-4A9D-A6C2-40968756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D"/>
                </a:solidFill>
              </a:defRPr>
            </a:pPr>
            <a:r>
              <a:rPr sz="2850" b="1">
                <a:solidFill>
                  <a:srgbClr val="20202D"/>
                </a:solidFill>
              </a:rPr>
              <a:t>The foundation is complete; intelligence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F01E7-669F-4DAA-9B86-56E159B9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90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7084"/>
                </a:solidFill>
              </a:defRPr>
            </a:pPr>
            <a:r>
              <a:rPr sz="1350" b="0">
                <a:solidFill>
                  <a:srgbClr val="6E7084"/>
                </a:solidFill>
              </a:rPr>
              <a:t>The project is progressing from a reliable web product to an AI-enabled wardrobe companion.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7637-E76C-42AE-B8D6-6503949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58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9D9D3-0B99-483B-A693-0467298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2900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WEARLYTICS  /  MCA MINI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C6FAA-2C4F-4FE2-9B75-857CBA8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76250" cy="1619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A98A9"/>
                </a:solidFill>
              </a:defRPr>
            </a:pPr>
            <a:r>
              <a:rPr sz="750" b="1">
                <a:solidFill>
                  <a:srgbClr val="9A98A9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7720C-9D94-4152-B1DC-404BBDA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717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A179"/>
                </a:solidFill>
              </a:defRPr>
            </a:pPr>
            <a:r>
              <a:rPr sz="1725" b="1">
                <a:solidFill>
                  <a:srgbClr val="21A179"/>
                </a:solidFill>
              </a:rPr>
              <a:t>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B1F2-8A27-45FB-AF49-ABEFBDB0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717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C4CF1"/>
                </a:solidFill>
              </a:defRPr>
            </a:pPr>
            <a:r>
              <a:rPr sz="1725" b="1">
                <a:solidFill>
                  <a:srgbClr val="6C4CF1"/>
                </a:solidFill>
              </a:rPr>
              <a:t>Upcoming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E4779-BF89-4422-BE91-A1A383B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9FD75-C279-40B7-A42A-FD42E7F9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2095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</a:defRPr>
            </a:pPr>
            <a:r>
              <a:rPr sz="975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1E48B-AED7-4AE9-BCA3-6618695F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432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UI Completed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2F57D-CCB3-44CD-99B8-D65BE11F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ECEB8-8B8D-4618-9C12-FB6F99F5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2095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</a:defRPr>
            </a:pPr>
            <a:r>
              <a:rPr sz="975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EE83C-916C-447B-84A9-029E0924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385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Authentication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EEC5A-78DC-450A-AE84-60E734A9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8D8BE-DAB0-4941-95CC-E304365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2095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</a:defRPr>
            </a:pPr>
            <a:r>
              <a:rPr sz="975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22073-772E-409F-ACF7-F8395E16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338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Dashboard 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73B41-91A6-473E-8F59-5AD81A2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0E637-88EC-4700-8CFF-AAD62D31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095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</a:defRPr>
            </a:pPr>
            <a:r>
              <a:rPr sz="975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BB39B-7FFC-4FEB-92A5-6FE1A996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291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Database Connected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8D3D6-A96C-481D-BFFA-2971C469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5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B490B-CE88-4657-97F2-3CF328CA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2095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</a:defRPr>
            </a:pPr>
            <a:r>
              <a:rPr sz="975" b="1">
                <a:solidFill>
                  <a:srgbClr val="21A179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7CF8A-0871-4A22-B62E-94DB2D0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244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Flask Structure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A23CC-D353-4089-AF55-7F06A0F8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9525">
            <a:solidFill>
              <a:srgbClr val="E5D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89701-3D92-459F-BB91-161F173A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3619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C4CF1"/>
                </a:solidFill>
              </a:defRPr>
            </a:pPr>
            <a:r>
              <a:rPr sz="750" b="1">
                <a:solidFill>
                  <a:srgbClr val="6C4CF1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08AF8-4B10-4A8A-9C2F-A9755C7E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432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AI Recommendation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CA4FC-2D44-48DA-9596-A043AB23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9525">
            <a:solidFill>
              <a:srgbClr val="E5D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767FD-8957-463E-AD37-CE8B4B42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19450"/>
            <a:ext cx="3619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C4CF1"/>
                </a:solidFill>
              </a:defRPr>
            </a:pPr>
            <a:r>
              <a:rPr sz="750" b="1">
                <a:solidFill>
                  <a:srgbClr val="6C4CF1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95BF8-D311-4702-8434-3FD7EC51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Upload Processing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8DF34-EEED-4C77-9496-84822BF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576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9525">
            <a:solidFill>
              <a:srgbClr val="E5D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5B55F0-6305-4E8D-9D05-2707AC6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3619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C4CF1"/>
                </a:solidFill>
              </a:defRPr>
            </a:pPr>
            <a:r>
              <a:rPr sz="750" b="1">
                <a:solidFill>
                  <a:srgbClr val="6C4CF1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6414D-7EA4-4761-B548-0BF56F3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338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Wardrobe Management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71EEB-74E3-493D-918D-21EA1D57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9525">
            <a:solidFill>
              <a:srgbClr val="E5D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6DBEFE-637D-4226-BEFA-161712FC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3619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C4CF1"/>
                </a:solidFill>
              </a:defRPr>
            </a:pPr>
            <a:r>
              <a:rPr sz="750" b="1">
                <a:solidFill>
                  <a:srgbClr val="6C4CF1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1C3B49-87EA-4AEB-9F29-B27B9386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291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Analytics Logic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C2CA34-C735-45F6-9ED1-6E1C25CE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3905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9525">
            <a:solidFill>
              <a:srgbClr val="E5D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CBBEA5-2FC8-428A-934C-74183F0D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05350"/>
            <a:ext cx="3619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C4CF1"/>
                </a:solidFill>
              </a:defRPr>
            </a:pPr>
            <a:r>
              <a:rPr sz="750" b="1">
                <a:solidFill>
                  <a:srgbClr val="6C4CF1"/>
                </a:solidFill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E47C6A-22A4-4694-8C5C-DFB8279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3000375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D"/>
                </a:solidFill>
              </a:defRPr>
            </a:pPr>
            <a:r>
              <a:rPr sz="1125" b="1">
                <a:solidFill>
                  <a:srgbClr val="20202D"/>
                </a:solidFill>
              </a:rPr>
              <a:t>Final Testing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4A9AA3-131A-451E-BDA2-3D2D7EDC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9050" cy="2705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7A8806-0B86-4C81-8EF3-D6BA00A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9F25DA-4CCB-4F6C-A725-AE6A8ED5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05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21476840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331875"/>
            </a:gs>
            <a:gs pos="100000">
              <a:srgbClr val="8065F0"/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AE561-1B56-4300-ABD8-FBE92821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-952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8FF">
              <a:alpha val="1411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61E80-9554-4766-855A-3490706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EFF">
              <a:alpha val="1411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98C57-FB1F-4D24-BACF-A56E55B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43075"/>
            <a:ext cx="1333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0784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6570B-C87F-4A5C-B053-06B77AA0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71675"/>
            <a:ext cx="1333500" cy="714375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2DA35-3C60-44D2-A5E7-A234BA90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8382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37D81-6D84-4755-93AD-0A91C6ED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8382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EDE9FF"/>
                </a:solidFill>
              </a:defRPr>
            </a:pPr>
            <a:r>
              <a:rPr sz="2100" b="0">
                <a:solidFill>
                  <a:srgbClr val="EDE9FF"/>
                </a:solidFill>
              </a:rPr>
              <a:t>Questions?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2046E-DDA3-46AE-BE90-0C22F64F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D5FF"/>
                </a:solidFill>
              </a:defRPr>
            </a:pPr>
            <a:r>
              <a:rPr sz="1125" b="0">
                <a:solidFill>
                  <a:srgbClr val="DCD5FF"/>
                </a:solidFill>
              </a:rPr>
              <a:t>Wearlytics  •  AI Powered Wardrobe and Outfit Recommendation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0836D-D12D-4BB6-B405-3A9C8DB7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D1FF"/>
                </a:solidFill>
              </a:defRPr>
            </a:pPr>
            <a:r>
              <a:rPr sz="750" b="1">
                <a:solidFill>
                  <a:srgbClr val="D8D1F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1216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2026-08-05T15:40:15.9690000Z</dcterms:created>
  <dcterms:modified xsi:type="dcterms:W3CDTF">2026-08-05T15:40:15.9700000Z</dcterms:modified>
</coreProperties>
</file>