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8F44A2F1-9E1F-4B54-A3A2-5F16C0AD49E2}" styleName="">
    <a:tblBg/>
    <a:wholeTbl>
      <a:tcTxStyle b="off" i="off">
        <a:font>
          <a:latin typeface="Aptos"/>
          <a:ea typeface="Aptos"/>
          <a:cs typeface="Aptos"/>
        </a:font>
        <a:srgbClr val="302A3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6377D"/>
          </a:solidFill>
        </a:fill>
      </a:tcStyle>
    </a:firstRow>
  </a:tblStyle>
  <a:tblStyle styleId="{D51ADE6A-740E-44AE-83CC-AE7238B6C88D}" styleName="">
    <a:tblBg/>
    <a:wholeTbl>
      <a:tcTxStyle b="off" i="off">
        <a:font>
          <a:latin typeface="Aptos"/>
          <a:ea typeface="Aptos"/>
          <a:cs typeface="Aptos"/>
        </a:font>
        <a:srgbClr val="302A3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6377D"/>
          </a:solidFill>
        </a:fill>
      </a:tcStyle>
    </a:firstRow>
  </a:tblStyle>
  <a:tblStyle styleId="{4A9BC294-FFE2-49D5-8D69-9E1BD2C41BD5}" styleName="">
    <a:tblBg/>
    <a:wholeTbl>
      <a:tcTxStyle b="off" i="off">
        <a:font>
          <a:latin typeface="Aptos"/>
          <a:ea typeface="Aptos"/>
          <a:cs typeface="Aptos"/>
        </a:font>
        <a:srgbClr val="302A3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6377D"/>
          </a:solidFill>
        </a:fill>
      </a:tcStyle>
    </a:firstRow>
  </a:tblStyle>
  <a:tblStyle styleId="{BBFC77FB-9ED0-4EC9-95AA-A1379042E648}" styleName="">
    <a:tblBg/>
    <a:wholeTbl>
      <a:tcTxStyle b="off" i="off">
        <a:font>
          <a:latin typeface="Aptos"/>
          <a:ea typeface="Aptos"/>
          <a:cs typeface="Aptos"/>
        </a:font>
        <a:srgbClr val="302A3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ptos"/>
          <a:ea typeface="Aptos"/>
          <a:cs typeface="Apto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6377D"/>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4" name="Shape 24"/>
          <p:cNvSpPr/>
          <p:nvPr>
            <p:ph type="sldImg"/>
          </p:nvPr>
        </p:nvSpPr>
        <p:spPr>
          <a:xfrm>
            <a:off x="1143000" y="685800"/>
            <a:ext cx="4572000" cy="3429000"/>
          </a:xfrm>
          <a:prstGeom prst="rect">
            <a:avLst/>
          </a:prstGeom>
        </p:spPr>
        <p:txBody>
          <a:bodyPr/>
          <a:lstStyle/>
          <a:p>
            <a:pPr/>
          </a:p>
        </p:txBody>
      </p:sp>
      <p:sp>
        <p:nvSpPr>
          <p:cNvPr id="25" name="Shape 2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78978" y="6232198"/>
            <a:ext cx="258623" cy="248304"/>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Shape 0"/>
          <p:cNvSpPr/>
          <p:nvPr/>
        </p:nvSpPr>
        <p:spPr>
          <a:xfrm>
            <a:off x="-1" y="0"/>
            <a:ext cx="12191697" cy="6858000"/>
          </a:xfrm>
          <a:prstGeom prst="rect">
            <a:avLst/>
          </a:prstGeom>
          <a:solidFill>
            <a:srgbClr val="2A1758"/>
          </a:solidFill>
          <a:ln w="12700">
            <a:solidFill>
              <a:srgbClr val="2A1758"/>
            </a:solidFill>
          </a:ln>
        </p:spPr>
        <p:txBody>
          <a:bodyPr lIns="45718" tIns="45718" rIns="45718" bIns="45718"/>
          <a:lstStyle/>
          <a:p>
            <a:pPr>
              <a:defRPr>
                <a:latin typeface="+mn-lt"/>
                <a:ea typeface="+mn-ea"/>
                <a:cs typeface="+mn-cs"/>
                <a:sym typeface="Calibri"/>
              </a:defRPr>
            </a:pPr>
          </a:p>
        </p:txBody>
      </p:sp>
      <p:sp>
        <p:nvSpPr>
          <p:cNvPr id="28" name="Shape 1"/>
          <p:cNvSpPr/>
          <p:nvPr/>
        </p:nvSpPr>
        <p:spPr>
          <a:xfrm>
            <a:off x="9692640" y="-1463040"/>
            <a:ext cx="4754883" cy="4754880"/>
          </a:xfrm>
          <a:prstGeom prst="ellipse">
            <a:avLst/>
          </a:prstGeom>
          <a:solidFill>
            <a:srgbClr val="3B2178"/>
          </a:solidFill>
          <a:ln w="12700">
            <a:solidFill>
              <a:srgbClr val="333333"/>
            </a:solidFill>
          </a:ln>
        </p:spPr>
        <p:txBody>
          <a:bodyPr lIns="45718" tIns="45718" rIns="45718" bIns="45718"/>
          <a:lstStyle/>
          <a:p>
            <a:pPr>
              <a:defRPr>
                <a:latin typeface="+mn-lt"/>
                <a:ea typeface="+mn-ea"/>
                <a:cs typeface="+mn-cs"/>
                <a:sym typeface="Calibri"/>
              </a:defRPr>
            </a:pPr>
          </a:p>
        </p:txBody>
      </p:sp>
      <p:sp>
        <p:nvSpPr>
          <p:cNvPr id="29" name="Shape 2"/>
          <p:cNvSpPr/>
          <p:nvPr/>
        </p:nvSpPr>
        <p:spPr>
          <a:xfrm>
            <a:off x="10607040" y="2743200"/>
            <a:ext cx="3108963" cy="3108962"/>
          </a:xfrm>
          <a:prstGeom prst="ellipse">
            <a:avLst/>
          </a:prstGeom>
          <a:solidFill>
            <a:srgbClr val="4A2C93"/>
          </a:solidFill>
          <a:ln w="12700">
            <a:solidFill>
              <a:srgbClr val="333333"/>
            </a:solidFill>
          </a:ln>
        </p:spPr>
        <p:txBody>
          <a:bodyPr lIns="45718" tIns="45718" rIns="45718" bIns="45718"/>
          <a:lstStyle/>
          <a:p>
            <a:pPr>
              <a:defRPr>
                <a:latin typeface="+mn-lt"/>
                <a:ea typeface="+mn-ea"/>
                <a:cs typeface="+mn-cs"/>
                <a:sym typeface="Calibri"/>
              </a:defRPr>
            </a:pPr>
          </a:p>
        </p:txBody>
      </p:sp>
      <p:sp>
        <p:nvSpPr>
          <p:cNvPr id="30" name="Shape 3"/>
          <p:cNvSpPr/>
          <p:nvPr/>
        </p:nvSpPr>
        <p:spPr>
          <a:xfrm>
            <a:off x="548640" y="502919"/>
            <a:ext cx="777241" cy="777241"/>
          </a:xfrm>
          <a:prstGeom prst="roundRect">
            <a:avLst>
              <a:gd name="adj" fmla="val 25882"/>
            </a:avLst>
          </a:prstGeom>
          <a:solidFill>
            <a:srgbClr val="6C4FE0"/>
          </a:solidFill>
          <a:ln w="12700">
            <a:solidFill>
              <a:srgbClr val="333333"/>
            </a:solidFill>
          </a:ln>
          <a:effectLst>
            <a:outerShdw sx="100000" sy="100000" kx="0" ky="0" algn="b" rotWithShape="0" blurRad="190500" dist="12700" dir="5400000">
              <a:srgbClr val="000000"/>
            </a:outerShdw>
          </a:effectLst>
        </p:spPr>
        <p:txBody>
          <a:bodyPr lIns="45718" tIns="45718" rIns="45718" bIns="45718"/>
          <a:lstStyle/>
          <a:p>
            <a:pPr>
              <a:defRPr>
                <a:latin typeface="+mn-lt"/>
                <a:ea typeface="+mn-ea"/>
                <a:cs typeface="+mn-cs"/>
                <a:sym typeface="Calibri"/>
              </a:defRPr>
            </a:pPr>
          </a:p>
        </p:txBody>
      </p:sp>
      <p:sp>
        <p:nvSpPr>
          <p:cNvPr id="31" name="Text 4"/>
          <p:cNvSpPr txBox="1"/>
          <p:nvPr/>
        </p:nvSpPr>
        <p:spPr>
          <a:xfrm>
            <a:off x="548640" y="662938"/>
            <a:ext cx="777242"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rgbClr val="FFFFFF"/>
                </a:solidFill>
                <a:latin typeface="Poppins"/>
                <a:ea typeface="Poppins"/>
                <a:cs typeface="Poppins"/>
                <a:sym typeface="Poppins"/>
              </a:defRPr>
            </a:lvl1pPr>
          </a:lstStyle>
          <a:p>
            <a:pPr/>
            <a:r>
              <a:t>W</a:t>
            </a:r>
          </a:p>
        </p:txBody>
      </p:sp>
      <p:sp>
        <p:nvSpPr>
          <p:cNvPr id="32" name="Text 5"/>
          <p:cNvSpPr txBox="1"/>
          <p:nvPr/>
        </p:nvSpPr>
        <p:spPr>
          <a:xfrm>
            <a:off x="1508759" y="662938"/>
            <a:ext cx="5943603" cy="457201"/>
          </a:xfrm>
          <a:prstGeom prst="rect">
            <a:avLst/>
          </a:prstGeom>
          <a:ln w="12700">
            <a:miter lim="400000"/>
          </a:ln>
          <a:effectLst>
            <a:outerShdw sx="100000" sy="100000" kx="0" ky="0" algn="b" rotWithShape="0" blurRad="190500" dist="12700" dir="5400000">
              <a:srgbClr val="000000"/>
            </a:outerShdw>
          </a:effectLst>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FFFFF"/>
                </a:solidFill>
                <a:latin typeface="Poppins"/>
                <a:ea typeface="Poppins"/>
                <a:cs typeface="Poppins"/>
                <a:sym typeface="Poppins"/>
              </a:defRPr>
            </a:lvl1pPr>
          </a:lstStyle>
          <a:p>
            <a:pPr/>
            <a:r>
              <a:t>Wearlytics</a:t>
            </a:r>
          </a:p>
        </p:txBody>
      </p:sp>
      <p:sp>
        <p:nvSpPr>
          <p:cNvPr id="33" name="Text 6"/>
          <p:cNvSpPr txBox="1"/>
          <p:nvPr/>
        </p:nvSpPr>
        <p:spPr>
          <a:xfrm>
            <a:off x="548640" y="1842918"/>
            <a:ext cx="6675119" cy="293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2200">
                <a:solidFill>
                  <a:srgbClr val="D9CFFF"/>
                </a:solidFill>
                <a:latin typeface="+mn-lt"/>
                <a:ea typeface="+mn-ea"/>
                <a:cs typeface="+mn-cs"/>
                <a:sym typeface="Calibri"/>
              </a:defRPr>
            </a:lvl1pPr>
          </a:lstStyle>
          <a:p>
            <a:pPr/>
            <a:r>
              <a:t>AI-Powered Wardrobe &amp; Outfit Recommendation System</a:t>
            </a:r>
          </a:p>
        </p:txBody>
      </p:sp>
      <p:sp>
        <p:nvSpPr>
          <p:cNvPr id="34" name="Text 7"/>
          <p:cNvSpPr txBox="1"/>
          <p:nvPr/>
        </p:nvSpPr>
        <p:spPr>
          <a:xfrm>
            <a:off x="548640" y="2833490"/>
            <a:ext cx="6675119"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66" sz="1600">
                <a:solidFill>
                  <a:srgbClr val="E8DAC8"/>
                </a:solidFill>
                <a:latin typeface="+mn-lt"/>
                <a:ea typeface="+mn-ea"/>
                <a:cs typeface="+mn-cs"/>
                <a:sym typeface="Calibri"/>
              </a:defRPr>
            </a:lvl1pPr>
          </a:lstStyle>
          <a:p>
            <a:pPr/>
            <a:r>
              <a:t>MCA MINI PROJECT  —  SECOND INTERIM PRESENTATION</a:t>
            </a:r>
          </a:p>
        </p:txBody>
      </p:sp>
      <p:sp>
        <p:nvSpPr>
          <p:cNvPr id="35" name="Shape 8"/>
          <p:cNvSpPr/>
          <p:nvPr/>
        </p:nvSpPr>
        <p:spPr>
          <a:xfrm>
            <a:off x="548640" y="3476006"/>
            <a:ext cx="6035041" cy="2660906"/>
          </a:xfrm>
          <a:prstGeom prst="roundRect">
            <a:avLst>
              <a:gd name="adj" fmla="val 3436"/>
            </a:avLst>
          </a:prstGeom>
          <a:solidFill>
            <a:srgbClr val="35216B"/>
          </a:solidFill>
          <a:ln w="12700">
            <a:solidFill>
              <a:srgbClr val="6C4FDC">
                <a:alpha val="9571"/>
              </a:srgbClr>
            </a:solidFill>
          </a:ln>
          <a:effectLst>
            <a:outerShdw sx="100000" sy="100000" kx="0" ky="0" algn="b" rotWithShape="0" blurRad="381000" dist="114300" dir="0">
              <a:srgbClr val="000000">
                <a:alpha val="75000"/>
              </a:srgbClr>
            </a:outerShdw>
          </a:effectLst>
        </p:spPr>
        <p:txBody>
          <a:bodyPr lIns="45718" tIns="45718" rIns="45718" bIns="45718"/>
          <a:lstStyle/>
          <a:p>
            <a:pPr>
              <a:defRPr>
                <a:latin typeface="+mn-lt"/>
                <a:ea typeface="+mn-ea"/>
                <a:cs typeface="+mn-cs"/>
                <a:sym typeface="Calibri"/>
              </a:defRPr>
            </a:pPr>
          </a:p>
        </p:txBody>
      </p:sp>
      <p:sp>
        <p:nvSpPr>
          <p:cNvPr id="36" name="Text 9"/>
          <p:cNvSpPr txBox="1"/>
          <p:nvPr/>
        </p:nvSpPr>
        <p:spPr>
          <a:xfrm>
            <a:off x="822959" y="3926955"/>
            <a:ext cx="5486403"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400">
                <a:solidFill>
                  <a:srgbClr val="FFFFFF"/>
                </a:solidFill>
                <a:latin typeface="Aptos"/>
                <a:ea typeface="Aptos"/>
                <a:cs typeface="Aptos"/>
                <a:sym typeface="Aptos"/>
              </a:defRPr>
            </a:pPr>
            <a:r>
              <a:t>Submitted by :  </a:t>
            </a:r>
            <a:r>
              <a:rPr b="0">
                <a:solidFill>
                  <a:srgbClr val="D9CFFF"/>
                </a:solidFill>
              </a:rPr>
              <a:t>Anchana R P</a:t>
            </a:r>
          </a:p>
        </p:txBody>
      </p:sp>
      <p:sp>
        <p:nvSpPr>
          <p:cNvPr id="37" name="Text 10"/>
          <p:cNvSpPr txBox="1"/>
          <p:nvPr/>
        </p:nvSpPr>
        <p:spPr>
          <a:xfrm>
            <a:off x="822959" y="4645197"/>
            <a:ext cx="5486403" cy="293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D9CFFF"/>
                </a:solidFill>
                <a:latin typeface="+mn-lt"/>
                <a:ea typeface="+mn-ea"/>
                <a:cs typeface="+mn-cs"/>
                <a:sym typeface="Calibri"/>
              </a:defRPr>
            </a:lvl1pPr>
          </a:lstStyle>
          <a:p>
            <a:pPr/>
            <a:r>
              <a:t>S3 MCA  |  Roll No: 23</a:t>
            </a:r>
          </a:p>
        </p:txBody>
      </p:sp>
      <p:sp>
        <p:nvSpPr>
          <p:cNvPr id="38" name="Text 11"/>
          <p:cNvSpPr txBox="1"/>
          <p:nvPr/>
        </p:nvSpPr>
        <p:spPr>
          <a:xfrm>
            <a:off x="822959" y="5289075"/>
            <a:ext cx="5113216" cy="2911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300">
                <a:solidFill>
                  <a:srgbClr val="FFFFFF"/>
                </a:solidFill>
                <a:latin typeface="+mn-lt"/>
                <a:ea typeface="+mn-ea"/>
                <a:cs typeface="+mn-cs"/>
                <a:sym typeface="Calibri"/>
              </a:defRPr>
            </a:pPr>
            <a:r>
              <a:t>Guide:  </a:t>
            </a:r>
            <a:r>
              <a:rPr b="0">
                <a:solidFill>
                  <a:srgbClr val="D9CFFF"/>
                </a:solidFill>
              </a:rPr>
              <a:t>Ms. Bismi K Charleys</a:t>
            </a:r>
          </a:p>
        </p:txBody>
      </p:sp>
      <p:sp>
        <p:nvSpPr>
          <p:cNvPr id="39" name="Shape 12"/>
          <p:cNvSpPr/>
          <p:nvPr/>
        </p:nvSpPr>
        <p:spPr>
          <a:xfrm>
            <a:off x="7421619" y="2098548"/>
            <a:ext cx="4361691" cy="2660906"/>
          </a:xfrm>
          <a:prstGeom prst="roundRect">
            <a:avLst>
              <a:gd name="adj" fmla="val 3436"/>
            </a:avLst>
          </a:prstGeom>
          <a:solidFill>
            <a:srgbClr val="FFFFFF"/>
          </a:solidFill>
          <a:ln w="12700">
            <a:solidFill>
              <a:srgbClr val="333333"/>
            </a:solidFill>
          </a:ln>
          <a:effectLst>
            <a:outerShdw sx="100000" sy="100000" kx="0" ky="0" algn="b" rotWithShape="0" blurRad="177800" dist="50800" dir="5400000">
              <a:srgbClr val="2A1758">
                <a:alpha val="28000"/>
              </a:srgbClr>
            </a:outerShdw>
          </a:effectLst>
        </p:spPr>
        <p:txBody>
          <a:bodyPr lIns="45718" tIns="45718" rIns="45718" bIns="45718"/>
          <a:lstStyle/>
          <a:p>
            <a:pPr>
              <a:defRPr>
                <a:latin typeface="+mn-lt"/>
                <a:ea typeface="+mn-ea"/>
                <a:cs typeface="+mn-cs"/>
                <a:sym typeface="Calibri"/>
              </a:defRPr>
            </a:pPr>
          </a:p>
        </p:txBody>
      </p:sp>
      <p:pic>
        <p:nvPicPr>
          <p:cNvPr id="40" name="Image 0" descr="Image 0"/>
          <p:cNvPicPr>
            <a:picLocks noChangeAspect="1"/>
          </p:cNvPicPr>
          <p:nvPr/>
        </p:nvPicPr>
        <p:blipFill>
          <a:blip r:embed="rId2">
            <a:extLst/>
          </a:blip>
          <a:srcRect l="0" t="0" r="0" b="2"/>
          <a:stretch>
            <a:fillRect/>
          </a:stretch>
        </p:blipFill>
        <p:spPr>
          <a:xfrm>
            <a:off x="7476404" y="2153443"/>
            <a:ext cx="4251962" cy="25511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close/>
              </a:path>
            </a:pathLst>
          </a:custGeom>
          <a:ln w="12700">
            <a:miter lim="400000"/>
          </a:ln>
          <a:effectLst>
            <a:outerShdw sx="100000" sy="100000" kx="0" ky="0" algn="b" rotWithShape="0" blurRad="177800" dist="50800" dir="5400000">
              <a:srgbClr val="2A1758">
                <a:alpha val="28000"/>
              </a:srgbClr>
            </a:outerShdw>
          </a:effectLst>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42" name="TextBox 1"/>
          <p:cNvSpPr txBox="1"/>
          <p:nvPr/>
        </p:nvSpPr>
        <p:spPr>
          <a:xfrm>
            <a:off x="1510981" y="311911"/>
            <a:ext cx="1993392" cy="366778"/>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sz="2200">
                <a:solidFill>
                  <a:srgbClr val="684E91"/>
                </a:solidFill>
                <a:latin typeface="Aptos"/>
                <a:ea typeface="Aptos"/>
                <a:cs typeface="Aptos"/>
                <a:sym typeface="Aptos"/>
              </a:defRPr>
            </a:lvl1pPr>
          </a:lstStyle>
          <a:p>
            <a:pPr/>
            <a:r>
              <a:t>CONTENTS</a:t>
            </a:r>
          </a:p>
        </p:txBody>
      </p:sp>
      <p:sp>
        <p:nvSpPr>
          <p:cNvPr id="43" name="TextBox 13"/>
          <p:cNvSpPr txBox="1"/>
          <p:nvPr/>
        </p:nvSpPr>
        <p:spPr>
          <a:xfrm>
            <a:off x="640079" y="1434338"/>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01</a:t>
            </a:r>
          </a:p>
        </p:txBody>
      </p:sp>
      <p:sp>
        <p:nvSpPr>
          <p:cNvPr id="44" name="TextBox 19"/>
          <p:cNvSpPr txBox="1"/>
          <p:nvPr/>
        </p:nvSpPr>
        <p:spPr>
          <a:xfrm>
            <a:off x="1562510" y="1434338"/>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Introduction</a:t>
            </a:r>
          </a:p>
        </p:txBody>
      </p:sp>
      <p:sp>
        <p:nvSpPr>
          <p:cNvPr id="45" name="TextBox 21"/>
          <p:cNvSpPr txBox="1"/>
          <p:nvPr/>
        </p:nvSpPr>
        <p:spPr>
          <a:xfrm>
            <a:off x="640079" y="2024126"/>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02</a:t>
            </a:r>
          </a:p>
        </p:txBody>
      </p:sp>
      <p:sp>
        <p:nvSpPr>
          <p:cNvPr id="46" name="TextBox 27"/>
          <p:cNvSpPr txBox="1"/>
          <p:nvPr/>
        </p:nvSpPr>
        <p:spPr>
          <a:xfrm>
            <a:off x="1562510" y="2011426"/>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Literature Survey</a:t>
            </a:r>
          </a:p>
        </p:txBody>
      </p:sp>
      <p:sp>
        <p:nvSpPr>
          <p:cNvPr id="47" name="TextBox 29"/>
          <p:cNvSpPr txBox="1"/>
          <p:nvPr/>
        </p:nvSpPr>
        <p:spPr>
          <a:xfrm>
            <a:off x="640079" y="2556764"/>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03</a:t>
            </a:r>
          </a:p>
        </p:txBody>
      </p:sp>
      <p:sp>
        <p:nvSpPr>
          <p:cNvPr id="48" name="TextBox 35"/>
          <p:cNvSpPr txBox="1"/>
          <p:nvPr/>
        </p:nvSpPr>
        <p:spPr>
          <a:xfrm>
            <a:off x="1562510" y="2544064"/>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Drawbacks of the Existing System</a:t>
            </a:r>
          </a:p>
        </p:txBody>
      </p:sp>
      <p:sp>
        <p:nvSpPr>
          <p:cNvPr id="49" name="TextBox 37"/>
          <p:cNvSpPr txBox="1"/>
          <p:nvPr/>
        </p:nvSpPr>
        <p:spPr>
          <a:xfrm>
            <a:off x="640079" y="3089402"/>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04</a:t>
            </a:r>
          </a:p>
        </p:txBody>
      </p:sp>
      <p:sp>
        <p:nvSpPr>
          <p:cNvPr id="50" name="TextBox 43"/>
          <p:cNvSpPr txBox="1"/>
          <p:nvPr/>
        </p:nvSpPr>
        <p:spPr>
          <a:xfrm>
            <a:off x="1562510" y="3076702"/>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Proposed System</a:t>
            </a:r>
          </a:p>
        </p:txBody>
      </p:sp>
      <p:sp>
        <p:nvSpPr>
          <p:cNvPr id="51" name="TextBox 45"/>
          <p:cNvSpPr txBox="1"/>
          <p:nvPr/>
        </p:nvSpPr>
        <p:spPr>
          <a:xfrm>
            <a:off x="640079" y="3539744"/>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05</a:t>
            </a:r>
          </a:p>
        </p:txBody>
      </p:sp>
      <p:sp>
        <p:nvSpPr>
          <p:cNvPr id="52" name="TextBox 51"/>
          <p:cNvSpPr txBox="1"/>
          <p:nvPr/>
        </p:nvSpPr>
        <p:spPr>
          <a:xfrm>
            <a:off x="1562510" y="3527044"/>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Technology Used</a:t>
            </a:r>
          </a:p>
        </p:txBody>
      </p:sp>
      <p:sp>
        <p:nvSpPr>
          <p:cNvPr id="53" name="TextBox 53"/>
          <p:cNvSpPr txBox="1"/>
          <p:nvPr/>
        </p:nvSpPr>
        <p:spPr>
          <a:xfrm>
            <a:off x="640079" y="3990085"/>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06</a:t>
            </a:r>
          </a:p>
        </p:txBody>
      </p:sp>
      <p:sp>
        <p:nvSpPr>
          <p:cNvPr id="54" name="TextBox 59"/>
          <p:cNvSpPr txBox="1"/>
          <p:nvPr/>
        </p:nvSpPr>
        <p:spPr>
          <a:xfrm>
            <a:off x="1562510" y="3977385"/>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System Design / Architectural Design</a:t>
            </a:r>
          </a:p>
        </p:txBody>
      </p:sp>
      <p:sp>
        <p:nvSpPr>
          <p:cNvPr id="55" name="TextBox 61"/>
          <p:cNvSpPr txBox="1"/>
          <p:nvPr/>
        </p:nvSpPr>
        <p:spPr>
          <a:xfrm>
            <a:off x="640079" y="4445508"/>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07</a:t>
            </a:r>
          </a:p>
        </p:txBody>
      </p:sp>
      <p:sp>
        <p:nvSpPr>
          <p:cNvPr id="56" name="TextBox 67"/>
          <p:cNvSpPr txBox="1"/>
          <p:nvPr/>
        </p:nvSpPr>
        <p:spPr>
          <a:xfrm>
            <a:off x="1562510" y="4440300"/>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Dataset / Database Description</a:t>
            </a:r>
          </a:p>
        </p:txBody>
      </p:sp>
      <p:sp>
        <p:nvSpPr>
          <p:cNvPr id="57" name="TextBox 69"/>
          <p:cNvSpPr txBox="1"/>
          <p:nvPr/>
        </p:nvSpPr>
        <p:spPr>
          <a:xfrm>
            <a:off x="640079" y="4915915"/>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08</a:t>
            </a:r>
          </a:p>
        </p:txBody>
      </p:sp>
      <p:sp>
        <p:nvSpPr>
          <p:cNvPr id="58" name="TextBox 75"/>
          <p:cNvSpPr txBox="1"/>
          <p:nvPr/>
        </p:nvSpPr>
        <p:spPr>
          <a:xfrm>
            <a:off x="1562510" y="4878069"/>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Proposed Method / Module Description</a:t>
            </a:r>
          </a:p>
        </p:txBody>
      </p:sp>
      <p:sp>
        <p:nvSpPr>
          <p:cNvPr id="59" name="TextBox 77"/>
          <p:cNvSpPr txBox="1"/>
          <p:nvPr/>
        </p:nvSpPr>
        <p:spPr>
          <a:xfrm>
            <a:off x="640079" y="5351272"/>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09</a:t>
            </a:r>
          </a:p>
        </p:txBody>
      </p:sp>
      <p:sp>
        <p:nvSpPr>
          <p:cNvPr id="60" name="TextBox 83"/>
          <p:cNvSpPr txBox="1"/>
          <p:nvPr/>
        </p:nvSpPr>
        <p:spPr>
          <a:xfrm>
            <a:off x="1562510" y="5315838"/>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Results &amp; Screenshots</a:t>
            </a:r>
          </a:p>
        </p:txBody>
      </p:sp>
      <p:sp>
        <p:nvSpPr>
          <p:cNvPr id="61" name="TextBox 85"/>
          <p:cNvSpPr txBox="1"/>
          <p:nvPr/>
        </p:nvSpPr>
        <p:spPr>
          <a:xfrm>
            <a:off x="640079" y="5800597"/>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10</a:t>
            </a:r>
          </a:p>
        </p:txBody>
      </p:sp>
      <p:sp>
        <p:nvSpPr>
          <p:cNvPr id="62" name="TextBox 91"/>
          <p:cNvSpPr txBox="1"/>
          <p:nvPr/>
        </p:nvSpPr>
        <p:spPr>
          <a:xfrm>
            <a:off x="1562510" y="5787897"/>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Conclusion &amp; Future Enhancement</a:t>
            </a:r>
          </a:p>
        </p:txBody>
      </p:sp>
      <p:sp>
        <p:nvSpPr>
          <p:cNvPr id="63" name="TextBox 93"/>
          <p:cNvSpPr txBox="1"/>
          <p:nvPr/>
        </p:nvSpPr>
        <p:spPr>
          <a:xfrm>
            <a:off x="640079" y="6292087"/>
            <a:ext cx="594362"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11</a:t>
            </a:r>
          </a:p>
        </p:txBody>
      </p:sp>
      <p:sp>
        <p:nvSpPr>
          <p:cNvPr id="64" name="TextBox 99"/>
          <p:cNvSpPr txBox="1"/>
          <p:nvPr/>
        </p:nvSpPr>
        <p:spPr>
          <a:xfrm>
            <a:off x="1562510" y="6279387"/>
            <a:ext cx="7178041" cy="315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defTabSz="457200">
              <a:defRPr b="1">
                <a:solidFill>
                  <a:srgbClr val="2D2A37"/>
                </a:solidFill>
                <a:latin typeface="Aptos"/>
                <a:ea typeface="Aptos"/>
                <a:cs typeface="Aptos"/>
                <a:sym typeface="Aptos"/>
              </a:defRPr>
            </a:lvl1pPr>
          </a:lstStyle>
          <a:p>
            <a:pPr/>
            <a:r>
              <a:t>References</a:t>
            </a:r>
          </a:p>
        </p:txBody>
      </p:sp>
      <p:sp>
        <p:nvSpPr>
          <p:cNvPr id="65" name="TextBox 103"/>
          <p:cNvSpPr txBox="1"/>
          <p:nvPr/>
        </p:nvSpPr>
        <p:spPr>
          <a:xfrm>
            <a:off x="11055095" y="6697471"/>
            <a:ext cx="484632" cy="138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r" defTabSz="457200">
              <a:defRPr b="1" sz="700">
                <a:solidFill>
                  <a:srgbClr val="684E91"/>
                </a:solidFill>
                <a:latin typeface="Aptos"/>
                <a:ea typeface="Aptos"/>
                <a:cs typeface="Aptos"/>
                <a:sym typeface="Aptos"/>
              </a:defRPr>
            </a:lvl1pPr>
          </a:lstStyle>
          <a:p>
            <a:pPr/>
            <a:r>
              <a:t>02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Box 1"/>
          <p:cNvSpPr txBox="1"/>
          <p:nvPr/>
        </p:nvSpPr>
        <p:spPr>
          <a:xfrm>
            <a:off x="548639" y="329184"/>
            <a:ext cx="5212081" cy="408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6549CF"/>
                </a:solidFill>
                <a:latin typeface="Aptos"/>
                <a:ea typeface="Aptos"/>
                <a:cs typeface="Aptos"/>
                <a:sym typeface="Aptos"/>
              </a:defRPr>
            </a:lvl1pPr>
          </a:lstStyle>
          <a:p>
            <a:pPr/>
            <a:r>
              <a:t>01  ·  PROJECT INTRODUCTION</a:t>
            </a:r>
          </a:p>
        </p:txBody>
      </p:sp>
      <p:sp>
        <p:nvSpPr>
          <p:cNvPr id="68" name="TextBox 2"/>
          <p:cNvSpPr txBox="1"/>
          <p:nvPr/>
        </p:nvSpPr>
        <p:spPr>
          <a:xfrm>
            <a:off x="560580" y="898651"/>
            <a:ext cx="5852161"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2B2250"/>
                </a:solidFill>
                <a:latin typeface="Aptos"/>
                <a:ea typeface="Aptos"/>
                <a:cs typeface="Aptos"/>
                <a:sym typeface="Aptos"/>
              </a:defRPr>
            </a:lvl1pPr>
          </a:lstStyle>
          <a:p>
            <a:pPr/>
            <a:r>
              <a:t>What is Wearlytics?</a:t>
            </a:r>
          </a:p>
        </p:txBody>
      </p:sp>
      <p:sp>
        <p:nvSpPr>
          <p:cNvPr id="69" name="TextBox 3"/>
          <p:cNvSpPr txBox="1"/>
          <p:nvPr/>
        </p:nvSpPr>
        <p:spPr>
          <a:xfrm>
            <a:off x="603249" y="1328674"/>
            <a:ext cx="10972801"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675E7E"/>
                </a:solidFill>
                <a:latin typeface="Aptos"/>
                <a:ea typeface="Aptos"/>
                <a:cs typeface="Aptos"/>
                <a:sym typeface="Aptos"/>
              </a:defRPr>
            </a:lvl1pPr>
          </a:lstStyle>
          <a:p>
            <a:pPr/>
            <a:r>
              <a:t>Wearlytics is a web-based smart wardrobe platform that helps users organize clothing, analyze wardrobe usage and receive personalized outfit recommendations.</a:t>
            </a:r>
          </a:p>
        </p:txBody>
      </p:sp>
      <p:sp>
        <p:nvSpPr>
          <p:cNvPr id="70" name="Rounded Rectangle 4"/>
          <p:cNvSpPr/>
          <p:nvPr/>
        </p:nvSpPr>
        <p:spPr>
          <a:xfrm>
            <a:off x="502919" y="2057400"/>
            <a:ext cx="3657601" cy="3246121"/>
          </a:xfrm>
          <a:prstGeom prst="roundRect">
            <a:avLst>
              <a:gd name="adj" fmla="val 16667"/>
            </a:avLst>
          </a:prstGeom>
          <a:solidFill>
            <a:srgbClr val="FFFFFF"/>
          </a:solidFill>
          <a:ln w="15240">
            <a:solidFill>
              <a:srgbClr val="CDC6E0"/>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defRPr>
            </a:pPr>
          </a:p>
        </p:txBody>
      </p:sp>
      <p:sp>
        <p:nvSpPr>
          <p:cNvPr id="71" name="Oval 5"/>
          <p:cNvSpPr/>
          <p:nvPr/>
        </p:nvSpPr>
        <p:spPr>
          <a:xfrm>
            <a:off x="685800" y="2240279"/>
            <a:ext cx="393193" cy="393193"/>
          </a:xfrm>
          <a:prstGeom prst="ellipse">
            <a:avLst/>
          </a:prstGeom>
          <a:solidFill>
            <a:srgbClr val="6549CF"/>
          </a:solidFill>
          <a:ln w="12700">
            <a:miter lim="400000"/>
          </a:ln>
        </p:spPr>
        <p:txBody>
          <a:bodyPr lIns="45718" tIns="45718" rIns="45718" bIns="45718" anchor="ctr"/>
          <a:lstStyle/>
          <a:p>
            <a:pPr algn="ctr">
              <a:defRPr>
                <a:solidFill>
                  <a:srgbClr val="FFFFFF"/>
                </a:solidFill>
              </a:defRPr>
            </a:pPr>
          </a:p>
        </p:txBody>
      </p:sp>
      <p:sp>
        <p:nvSpPr>
          <p:cNvPr id="72" name="TextBox 6"/>
          <p:cNvSpPr txBox="1"/>
          <p:nvPr/>
        </p:nvSpPr>
        <p:spPr>
          <a:xfrm>
            <a:off x="731519" y="2281427"/>
            <a:ext cx="30175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FFFFFF"/>
                </a:solidFill>
                <a:latin typeface="Aptos"/>
                <a:ea typeface="Aptos"/>
                <a:cs typeface="Aptos"/>
                <a:sym typeface="Aptos"/>
              </a:defRPr>
            </a:lvl1pPr>
          </a:lstStyle>
          <a:p>
            <a:pPr/>
            <a:r>
              <a:t>1</a:t>
            </a:r>
          </a:p>
        </p:txBody>
      </p:sp>
      <p:sp>
        <p:nvSpPr>
          <p:cNvPr id="73" name="TextBox 7"/>
          <p:cNvSpPr txBox="1"/>
          <p:nvPr/>
        </p:nvSpPr>
        <p:spPr>
          <a:xfrm>
            <a:off x="1261872" y="2221992"/>
            <a:ext cx="267004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2B2250"/>
                </a:solidFill>
                <a:latin typeface="Aptos"/>
                <a:ea typeface="Aptos"/>
                <a:cs typeface="Aptos"/>
                <a:sym typeface="Aptos"/>
              </a:defRPr>
            </a:lvl1pPr>
          </a:lstStyle>
          <a:p>
            <a:pPr/>
            <a:r>
              <a:t>Project Overview</a:t>
            </a:r>
          </a:p>
        </p:txBody>
      </p:sp>
      <p:sp>
        <p:nvSpPr>
          <p:cNvPr id="74" name="TextBox 8"/>
          <p:cNvSpPr txBox="1"/>
          <p:nvPr/>
        </p:nvSpPr>
        <p:spPr>
          <a:xfrm>
            <a:off x="777239" y="2816351"/>
            <a:ext cx="3108961" cy="2148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500">
                <a:solidFill>
                  <a:srgbClr val="675E7E"/>
                </a:solidFill>
                <a:latin typeface="Aptos"/>
                <a:ea typeface="Aptos"/>
                <a:cs typeface="Aptos"/>
                <a:sym typeface="Aptos"/>
              </a:defRPr>
            </a:pPr>
            <a:r>
              <a:t>• Digital wardrobe for personal clothing</a:t>
            </a:r>
            <a:br/>
            <a:r>
              <a:t>• Upload and organize clothing items</a:t>
            </a:r>
            <a:br/>
            <a:r>
              <a:t>• AI-assisted clothing classification and color detection</a:t>
            </a:r>
            <a:br/>
            <a:r>
              <a:t>• Personalized outfit recommendations from available items</a:t>
            </a:r>
          </a:p>
        </p:txBody>
      </p:sp>
      <p:sp>
        <p:nvSpPr>
          <p:cNvPr id="75" name="Rounded Rectangle 9"/>
          <p:cNvSpPr/>
          <p:nvPr/>
        </p:nvSpPr>
        <p:spPr>
          <a:xfrm>
            <a:off x="4270247" y="2057400"/>
            <a:ext cx="3657601" cy="3246121"/>
          </a:xfrm>
          <a:prstGeom prst="roundRect">
            <a:avLst>
              <a:gd name="adj" fmla="val 16667"/>
            </a:avLst>
          </a:prstGeom>
          <a:solidFill>
            <a:srgbClr val="FFFFFF"/>
          </a:solidFill>
          <a:ln w="15240">
            <a:solidFill>
              <a:srgbClr val="CDC6E0"/>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defRPr>
            </a:pPr>
          </a:p>
        </p:txBody>
      </p:sp>
      <p:sp>
        <p:nvSpPr>
          <p:cNvPr id="76" name="Oval 10"/>
          <p:cNvSpPr/>
          <p:nvPr/>
        </p:nvSpPr>
        <p:spPr>
          <a:xfrm>
            <a:off x="4453128" y="2240279"/>
            <a:ext cx="393193" cy="393193"/>
          </a:xfrm>
          <a:prstGeom prst="ellipse">
            <a:avLst/>
          </a:prstGeom>
          <a:solidFill>
            <a:srgbClr val="6549CF"/>
          </a:solidFill>
          <a:ln w="12700">
            <a:miter lim="400000"/>
          </a:ln>
        </p:spPr>
        <p:txBody>
          <a:bodyPr lIns="45718" tIns="45718" rIns="45718" bIns="45718" anchor="ctr"/>
          <a:lstStyle/>
          <a:p>
            <a:pPr algn="ctr">
              <a:defRPr>
                <a:solidFill>
                  <a:srgbClr val="FFFFFF"/>
                </a:solidFill>
              </a:defRPr>
            </a:pPr>
          </a:p>
        </p:txBody>
      </p:sp>
      <p:sp>
        <p:nvSpPr>
          <p:cNvPr id="77" name="TextBox 11"/>
          <p:cNvSpPr txBox="1"/>
          <p:nvPr/>
        </p:nvSpPr>
        <p:spPr>
          <a:xfrm>
            <a:off x="4498848" y="2281427"/>
            <a:ext cx="301753"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FFFFFF"/>
                </a:solidFill>
                <a:latin typeface="Aptos"/>
                <a:ea typeface="Aptos"/>
                <a:cs typeface="Aptos"/>
                <a:sym typeface="Aptos"/>
              </a:defRPr>
            </a:lvl1pPr>
          </a:lstStyle>
          <a:p>
            <a:pPr/>
            <a:r>
              <a:t>2</a:t>
            </a:r>
          </a:p>
        </p:txBody>
      </p:sp>
      <p:sp>
        <p:nvSpPr>
          <p:cNvPr id="78" name="TextBox 12"/>
          <p:cNvSpPr txBox="1"/>
          <p:nvPr/>
        </p:nvSpPr>
        <p:spPr>
          <a:xfrm>
            <a:off x="5029200" y="2221992"/>
            <a:ext cx="267004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2B2250"/>
                </a:solidFill>
                <a:latin typeface="Aptos"/>
                <a:ea typeface="Aptos"/>
                <a:cs typeface="Aptos"/>
                <a:sym typeface="Aptos"/>
              </a:defRPr>
            </a:lvl1pPr>
          </a:lstStyle>
          <a:p>
            <a:pPr/>
            <a:r>
              <a:t>Problem Statement</a:t>
            </a:r>
          </a:p>
        </p:txBody>
      </p:sp>
      <p:sp>
        <p:nvSpPr>
          <p:cNvPr id="79" name="TextBox 13"/>
          <p:cNvSpPr txBox="1"/>
          <p:nvPr/>
        </p:nvSpPr>
        <p:spPr>
          <a:xfrm>
            <a:off x="4544567" y="2816351"/>
            <a:ext cx="3108961" cy="192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500">
                <a:solidFill>
                  <a:srgbClr val="675E7E"/>
                </a:solidFill>
                <a:latin typeface="Aptos"/>
                <a:ea typeface="Aptos"/>
                <a:cs typeface="Aptos"/>
                <a:sym typeface="Aptos"/>
              </a:defRPr>
            </a:pPr>
            <a:r>
              <a:t>• Managing a large wardrobe can be difficult</a:t>
            </a:r>
            <a:br/>
            <a:r>
              <a:t>• Hard to remember available clothing and previous usage</a:t>
            </a:r>
            <a:br/>
            <a:r>
              <a:t>• Choosing suitable outfit combinations takes time</a:t>
            </a:r>
            <a:br/>
            <a:r>
              <a:t>• Repeated use of the same items is difficult to track</a:t>
            </a:r>
          </a:p>
        </p:txBody>
      </p:sp>
      <p:sp>
        <p:nvSpPr>
          <p:cNvPr id="80" name="Rounded Rectangle 14"/>
          <p:cNvSpPr/>
          <p:nvPr/>
        </p:nvSpPr>
        <p:spPr>
          <a:xfrm>
            <a:off x="8037575" y="2057400"/>
            <a:ext cx="3657601" cy="3246121"/>
          </a:xfrm>
          <a:prstGeom prst="roundRect">
            <a:avLst>
              <a:gd name="adj" fmla="val 16667"/>
            </a:avLst>
          </a:prstGeom>
          <a:solidFill>
            <a:srgbClr val="FFFFFF"/>
          </a:solidFill>
          <a:ln w="15240">
            <a:solidFill>
              <a:srgbClr val="CDC6E0"/>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defRPr>
            </a:pPr>
          </a:p>
        </p:txBody>
      </p:sp>
      <p:sp>
        <p:nvSpPr>
          <p:cNvPr id="81" name="Oval 15"/>
          <p:cNvSpPr/>
          <p:nvPr/>
        </p:nvSpPr>
        <p:spPr>
          <a:xfrm>
            <a:off x="8220454" y="2240279"/>
            <a:ext cx="393193" cy="393193"/>
          </a:xfrm>
          <a:prstGeom prst="ellipse">
            <a:avLst/>
          </a:prstGeom>
          <a:solidFill>
            <a:srgbClr val="6549CF"/>
          </a:solidFill>
          <a:ln w="12700">
            <a:miter lim="400000"/>
          </a:ln>
        </p:spPr>
        <p:txBody>
          <a:bodyPr lIns="45718" tIns="45718" rIns="45718" bIns="45718" anchor="ctr"/>
          <a:lstStyle/>
          <a:p>
            <a:pPr algn="ctr">
              <a:defRPr>
                <a:solidFill>
                  <a:srgbClr val="FFFFFF"/>
                </a:solidFill>
              </a:defRPr>
            </a:pPr>
          </a:p>
        </p:txBody>
      </p:sp>
      <p:sp>
        <p:nvSpPr>
          <p:cNvPr id="82" name="TextBox 16"/>
          <p:cNvSpPr txBox="1"/>
          <p:nvPr/>
        </p:nvSpPr>
        <p:spPr>
          <a:xfrm>
            <a:off x="8266174" y="2281427"/>
            <a:ext cx="301753"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FFFFFF"/>
                </a:solidFill>
                <a:latin typeface="Aptos"/>
                <a:ea typeface="Aptos"/>
                <a:cs typeface="Aptos"/>
                <a:sym typeface="Aptos"/>
              </a:defRPr>
            </a:lvl1pPr>
          </a:lstStyle>
          <a:p>
            <a:pPr/>
            <a:r>
              <a:t>3</a:t>
            </a:r>
          </a:p>
        </p:txBody>
      </p:sp>
      <p:sp>
        <p:nvSpPr>
          <p:cNvPr id="83" name="TextBox 17"/>
          <p:cNvSpPr txBox="1"/>
          <p:nvPr/>
        </p:nvSpPr>
        <p:spPr>
          <a:xfrm>
            <a:off x="8796526" y="2221992"/>
            <a:ext cx="267004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2B2250"/>
                </a:solidFill>
                <a:latin typeface="Aptos"/>
                <a:ea typeface="Aptos"/>
                <a:cs typeface="Aptos"/>
                <a:sym typeface="Aptos"/>
              </a:defRPr>
            </a:lvl1pPr>
          </a:lstStyle>
          <a:p>
            <a:pPr/>
            <a:r>
              <a:t>Objectives</a:t>
            </a:r>
          </a:p>
        </p:txBody>
      </p:sp>
      <p:sp>
        <p:nvSpPr>
          <p:cNvPr id="84" name="TextBox 18"/>
          <p:cNvSpPr txBox="1"/>
          <p:nvPr/>
        </p:nvSpPr>
        <p:spPr>
          <a:xfrm>
            <a:off x="8311894" y="2816351"/>
            <a:ext cx="3108962" cy="192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500">
                <a:solidFill>
                  <a:srgbClr val="675E7E"/>
                </a:solidFill>
                <a:latin typeface="Aptos"/>
                <a:ea typeface="Aptos"/>
                <a:cs typeface="Aptos"/>
                <a:sym typeface="Aptos"/>
              </a:defRPr>
            </a:pPr>
            <a:r>
              <a:t>• Digitize and organize the personal wardrobe</a:t>
            </a:r>
            <a:br/>
            <a:r>
              <a:t>• Assist clothing classification and color identification</a:t>
            </a:r>
            <a:br/>
            <a:r>
              <a:t>• Generate personalized outfit recommendations</a:t>
            </a:r>
            <a:br/>
            <a:r>
              <a:t>• Support planning, wear tracking and wardrobe analytics</a:t>
            </a:r>
          </a:p>
        </p:txBody>
      </p:sp>
      <p:sp>
        <p:nvSpPr>
          <p:cNvPr id="85" name="TextBox 19"/>
          <p:cNvSpPr txBox="1"/>
          <p:nvPr/>
        </p:nvSpPr>
        <p:spPr>
          <a:xfrm>
            <a:off x="548640" y="6473952"/>
            <a:ext cx="3749040"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675E7E"/>
                </a:solidFill>
                <a:latin typeface="Aptos"/>
                <a:ea typeface="Aptos"/>
                <a:cs typeface="Aptos"/>
                <a:sym typeface="Aptos"/>
              </a:defRPr>
            </a:lvl1pPr>
          </a:lstStyle>
          <a:p>
            <a:pPr/>
            <a:r>
              <a:t>Wearlytics — MCA Mini Project</a:t>
            </a:r>
          </a:p>
        </p:txBody>
      </p:sp>
      <p:sp>
        <p:nvSpPr>
          <p:cNvPr id="86" name="TextBox 20"/>
          <p:cNvSpPr txBox="1"/>
          <p:nvPr/>
        </p:nvSpPr>
        <p:spPr>
          <a:xfrm>
            <a:off x="11451515" y="6446520"/>
            <a:ext cx="207085"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sz="800">
                <a:solidFill>
                  <a:srgbClr val="675E7E"/>
                </a:solidFill>
                <a:latin typeface="Aptos"/>
                <a:ea typeface="Aptos"/>
                <a:cs typeface="Aptos"/>
                <a:sym typeface="Aptos"/>
              </a:defRPr>
            </a:lvl1pPr>
          </a:lstStyle>
          <a:p>
            <a:pPr/>
            <a:r>
              <a:t>02</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9FC"/>
        </a:solidFill>
      </p:bgPr>
    </p:bg>
    <p:spTree>
      <p:nvGrpSpPr>
        <p:cNvPr id="1" name=""/>
        <p:cNvGrpSpPr/>
        <p:nvPr/>
      </p:nvGrpSpPr>
      <p:grpSpPr>
        <a:xfrm>
          <a:off x="0" y="0"/>
          <a:ext cx="0" cy="0"/>
          <a:chOff x="0" y="0"/>
          <a:chExt cx="0" cy="0"/>
        </a:xfrm>
      </p:grpSpPr>
      <p:sp>
        <p:nvSpPr>
          <p:cNvPr id="88" name="TextBox 1"/>
          <p:cNvSpPr txBox="1"/>
          <p:nvPr/>
        </p:nvSpPr>
        <p:spPr>
          <a:xfrm>
            <a:off x="617219" y="303021"/>
            <a:ext cx="4056145" cy="3449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b="1" sz="2100">
                <a:solidFill>
                  <a:srgbClr val="5B3E84"/>
                </a:solidFill>
                <a:latin typeface="Aptos"/>
                <a:ea typeface="Aptos"/>
                <a:cs typeface="Aptos"/>
                <a:sym typeface="Aptos"/>
              </a:defRPr>
            </a:lvl1pPr>
          </a:lstStyle>
          <a:p>
            <a:pPr/>
            <a:r>
              <a:t>02 · LITERATURE SURVEY</a:t>
            </a:r>
          </a:p>
        </p:txBody>
      </p:sp>
      <p:sp>
        <p:nvSpPr>
          <p:cNvPr id="89" name="TextBox 2"/>
          <p:cNvSpPr txBox="1"/>
          <p:nvPr/>
        </p:nvSpPr>
        <p:spPr>
          <a:xfrm>
            <a:off x="898776" y="841267"/>
            <a:ext cx="6172201"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b="1" sz="1200">
                <a:solidFill>
                  <a:srgbClr val="5B3E84"/>
                </a:solidFill>
                <a:latin typeface="Aptos"/>
                <a:ea typeface="Aptos"/>
                <a:cs typeface="Aptos"/>
                <a:sym typeface="Aptos"/>
              </a:defRPr>
            </a:lvl1pPr>
          </a:lstStyle>
          <a:p>
            <a:pPr/>
            <a:r>
              <a:t>Review of Relevant Research</a:t>
            </a:r>
          </a:p>
        </p:txBody>
      </p:sp>
      <p:sp>
        <p:nvSpPr>
          <p:cNvPr id="90" name="Rectangle 3"/>
          <p:cNvSpPr/>
          <p:nvPr/>
        </p:nvSpPr>
        <p:spPr>
          <a:xfrm>
            <a:off x="336601" y="1360443"/>
            <a:ext cx="438913" cy="530353"/>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91" name="TextBox 4"/>
          <p:cNvSpPr txBox="1"/>
          <p:nvPr/>
        </p:nvSpPr>
        <p:spPr>
          <a:xfrm>
            <a:off x="396037" y="1500143"/>
            <a:ext cx="320040"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No.</a:t>
            </a:r>
          </a:p>
        </p:txBody>
      </p:sp>
      <p:sp>
        <p:nvSpPr>
          <p:cNvPr id="92" name="Rectangle 5"/>
          <p:cNvSpPr/>
          <p:nvPr/>
        </p:nvSpPr>
        <p:spPr>
          <a:xfrm>
            <a:off x="775513" y="1360443"/>
            <a:ext cx="2788921" cy="530353"/>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93" name="TextBox 6"/>
          <p:cNvSpPr txBox="1"/>
          <p:nvPr/>
        </p:nvSpPr>
        <p:spPr>
          <a:xfrm>
            <a:off x="834949" y="1500143"/>
            <a:ext cx="267004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Research Paper</a:t>
            </a:r>
          </a:p>
        </p:txBody>
      </p:sp>
      <p:sp>
        <p:nvSpPr>
          <p:cNvPr id="94" name="Rectangle 7"/>
          <p:cNvSpPr/>
          <p:nvPr/>
        </p:nvSpPr>
        <p:spPr>
          <a:xfrm>
            <a:off x="3564433" y="1360443"/>
            <a:ext cx="1755649" cy="530353"/>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95" name="TextBox 8"/>
          <p:cNvSpPr txBox="1"/>
          <p:nvPr/>
        </p:nvSpPr>
        <p:spPr>
          <a:xfrm>
            <a:off x="3623869" y="1500143"/>
            <a:ext cx="1636776"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Author</a:t>
            </a:r>
          </a:p>
        </p:txBody>
      </p:sp>
      <p:sp>
        <p:nvSpPr>
          <p:cNvPr id="96" name="Rectangle 9"/>
          <p:cNvSpPr/>
          <p:nvPr/>
        </p:nvSpPr>
        <p:spPr>
          <a:xfrm>
            <a:off x="5320081" y="1360443"/>
            <a:ext cx="594361" cy="530353"/>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97" name="TextBox 10"/>
          <p:cNvSpPr txBox="1"/>
          <p:nvPr/>
        </p:nvSpPr>
        <p:spPr>
          <a:xfrm>
            <a:off x="5379517" y="1500143"/>
            <a:ext cx="47548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Year</a:t>
            </a:r>
          </a:p>
        </p:txBody>
      </p:sp>
      <p:sp>
        <p:nvSpPr>
          <p:cNvPr id="98" name="Rectangle 11"/>
          <p:cNvSpPr/>
          <p:nvPr/>
        </p:nvSpPr>
        <p:spPr>
          <a:xfrm>
            <a:off x="5914441" y="1360443"/>
            <a:ext cx="987553" cy="530353"/>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99" name="TextBox 12"/>
          <p:cNvSpPr txBox="1"/>
          <p:nvPr/>
        </p:nvSpPr>
        <p:spPr>
          <a:xfrm>
            <a:off x="5973877" y="1500143"/>
            <a:ext cx="868681"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Publisher</a:t>
            </a:r>
          </a:p>
        </p:txBody>
      </p:sp>
      <p:sp>
        <p:nvSpPr>
          <p:cNvPr id="100" name="Rectangle 13"/>
          <p:cNvSpPr/>
          <p:nvPr/>
        </p:nvSpPr>
        <p:spPr>
          <a:xfrm>
            <a:off x="6901993" y="1360443"/>
            <a:ext cx="2606041" cy="530353"/>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01" name="TextBox 14"/>
          <p:cNvSpPr txBox="1"/>
          <p:nvPr/>
        </p:nvSpPr>
        <p:spPr>
          <a:xfrm>
            <a:off x="6961429" y="1500143"/>
            <a:ext cx="2487169"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Methods / Technologies</a:t>
            </a:r>
          </a:p>
        </p:txBody>
      </p:sp>
      <p:sp>
        <p:nvSpPr>
          <p:cNvPr id="102" name="Rectangle 15"/>
          <p:cNvSpPr/>
          <p:nvPr/>
        </p:nvSpPr>
        <p:spPr>
          <a:xfrm>
            <a:off x="9508033" y="1360443"/>
            <a:ext cx="2334666" cy="530353"/>
          </a:xfrm>
          <a:prstGeom prst="rect">
            <a:avLst/>
          </a:prstGeom>
          <a:solidFill>
            <a:srgbClr val="5B3E84"/>
          </a:solidFill>
          <a:ln w="12700">
            <a:solidFill>
              <a:srgbClr val="FFFFFF"/>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03" name="TextBox 16"/>
          <p:cNvSpPr txBox="1"/>
          <p:nvPr/>
        </p:nvSpPr>
        <p:spPr>
          <a:xfrm>
            <a:off x="9567469" y="1500143"/>
            <a:ext cx="191109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FFFFFF"/>
                </a:solidFill>
                <a:latin typeface="Aptos"/>
                <a:ea typeface="Aptos"/>
                <a:cs typeface="Aptos"/>
                <a:sym typeface="Aptos"/>
              </a:defRPr>
            </a:lvl1pPr>
          </a:lstStyle>
          <a:p>
            <a:pPr/>
            <a:r>
              <a:t>Limitations</a:t>
            </a:r>
          </a:p>
        </p:txBody>
      </p:sp>
      <p:sp>
        <p:nvSpPr>
          <p:cNvPr id="104" name="Rectangle 17"/>
          <p:cNvSpPr/>
          <p:nvPr/>
        </p:nvSpPr>
        <p:spPr>
          <a:xfrm>
            <a:off x="332791" y="1890795"/>
            <a:ext cx="442723" cy="786385"/>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05" name="TextBox 18"/>
          <p:cNvSpPr txBox="1"/>
          <p:nvPr/>
        </p:nvSpPr>
        <p:spPr>
          <a:xfrm>
            <a:off x="400609" y="2181371"/>
            <a:ext cx="31089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01</a:t>
            </a:r>
          </a:p>
        </p:txBody>
      </p:sp>
      <p:sp>
        <p:nvSpPr>
          <p:cNvPr id="106" name="Rectangle 19"/>
          <p:cNvSpPr/>
          <p:nvPr/>
        </p:nvSpPr>
        <p:spPr>
          <a:xfrm>
            <a:off x="775513" y="1890795"/>
            <a:ext cx="2788921" cy="786385"/>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07" name="TextBox 20"/>
          <p:cNvSpPr txBox="1"/>
          <p:nvPr/>
        </p:nvSpPr>
        <p:spPr>
          <a:xfrm>
            <a:off x="839521" y="1914671"/>
            <a:ext cx="2660905"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Hybrid-Hierarchical Fashion Graph Attention Network for Compatibility-Oriented and Personalized Outfit Recommendation</a:t>
            </a:r>
          </a:p>
        </p:txBody>
      </p:sp>
      <p:sp>
        <p:nvSpPr>
          <p:cNvPr id="108" name="Rectangle 21"/>
          <p:cNvSpPr/>
          <p:nvPr/>
        </p:nvSpPr>
        <p:spPr>
          <a:xfrm>
            <a:off x="3564433" y="1890795"/>
            <a:ext cx="1755649" cy="786385"/>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09" name="TextBox 22"/>
          <p:cNvSpPr txBox="1"/>
          <p:nvPr/>
        </p:nvSpPr>
        <p:spPr>
          <a:xfrm>
            <a:off x="3628441" y="2092471"/>
            <a:ext cx="1627632"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Sajjad Saed &amp; Babak Teimourpour</a:t>
            </a:r>
          </a:p>
        </p:txBody>
      </p:sp>
      <p:sp>
        <p:nvSpPr>
          <p:cNvPr id="110" name="Rectangle 23"/>
          <p:cNvSpPr/>
          <p:nvPr/>
        </p:nvSpPr>
        <p:spPr>
          <a:xfrm>
            <a:off x="5320081" y="1890795"/>
            <a:ext cx="594361" cy="786385"/>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11" name="TextBox 24"/>
          <p:cNvSpPr txBox="1"/>
          <p:nvPr/>
        </p:nvSpPr>
        <p:spPr>
          <a:xfrm>
            <a:off x="5384089" y="2181371"/>
            <a:ext cx="466345"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2026</a:t>
            </a:r>
          </a:p>
        </p:txBody>
      </p:sp>
      <p:sp>
        <p:nvSpPr>
          <p:cNvPr id="112" name="Rectangle 25"/>
          <p:cNvSpPr/>
          <p:nvPr/>
        </p:nvSpPr>
        <p:spPr>
          <a:xfrm>
            <a:off x="5914441" y="1890795"/>
            <a:ext cx="987553" cy="786385"/>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13" name="TextBox 26"/>
          <p:cNvSpPr txBox="1"/>
          <p:nvPr/>
        </p:nvSpPr>
        <p:spPr>
          <a:xfrm>
            <a:off x="5978449" y="2181371"/>
            <a:ext cx="85953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Elsevier</a:t>
            </a:r>
          </a:p>
        </p:txBody>
      </p:sp>
      <p:sp>
        <p:nvSpPr>
          <p:cNvPr id="114" name="Rectangle 27"/>
          <p:cNvSpPr/>
          <p:nvPr/>
        </p:nvSpPr>
        <p:spPr>
          <a:xfrm>
            <a:off x="6901993" y="1890795"/>
            <a:ext cx="2606041" cy="786385"/>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15" name="TextBox 28"/>
          <p:cNvSpPr txBox="1"/>
          <p:nvPr/>
        </p:nvSpPr>
        <p:spPr>
          <a:xfrm>
            <a:off x="6966001" y="2092471"/>
            <a:ext cx="2478025"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GNN, GAT, hierarchical graph, multimodal learning, attention</a:t>
            </a:r>
          </a:p>
        </p:txBody>
      </p:sp>
      <p:sp>
        <p:nvSpPr>
          <p:cNvPr id="116" name="Rectangle 29"/>
          <p:cNvSpPr/>
          <p:nvPr/>
        </p:nvSpPr>
        <p:spPr>
          <a:xfrm>
            <a:off x="9508033" y="1890795"/>
            <a:ext cx="2334666" cy="786385"/>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17" name="TextBox 30"/>
          <p:cNvSpPr txBox="1"/>
          <p:nvPr/>
        </p:nvSpPr>
        <p:spPr>
          <a:xfrm>
            <a:off x="9572041" y="1914671"/>
            <a:ext cx="2206650"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Static data, computational complexity, category imbalance; higher-order relations not fully explored.</a:t>
            </a:r>
          </a:p>
        </p:txBody>
      </p:sp>
      <p:sp>
        <p:nvSpPr>
          <p:cNvPr id="118" name="Rectangle 31"/>
          <p:cNvSpPr/>
          <p:nvPr/>
        </p:nvSpPr>
        <p:spPr>
          <a:xfrm>
            <a:off x="336601" y="2677179"/>
            <a:ext cx="438913" cy="713233"/>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19" name="TextBox 32"/>
          <p:cNvSpPr txBox="1"/>
          <p:nvPr/>
        </p:nvSpPr>
        <p:spPr>
          <a:xfrm>
            <a:off x="400609" y="2931179"/>
            <a:ext cx="31089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02</a:t>
            </a:r>
          </a:p>
        </p:txBody>
      </p:sp>
      <p:sp>
        <p:nvSpPr>
          <p:cNvPr id="120" name="Rectangle 33"/>
          <p:cNvSpPr/>
          <p:nvPr/>
        </p:nvSpPr>
        <p:spPr>
          <a:xfrm>
            <a:off x="775513" y="2677179"/>
            <a:ext cx="2788921" cy="713233"/>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21" name="TextBox 34"/>
          <p:cNvSpPr txBox="1"/>
          <p:nvPr/>
        </p:nvSpPr>
        <p:spPr>
          <a:xfrm>
            <a:off x="839521" y="2753379"/>
            <a:ext cx="2660905"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OutfitAI: Shop the Outfit with a Deep Learning-based Intelligent Expert System</a:t>
            </a:r>
          </a:p>
        </p:txBody>
      </p:sp>
      <p:sp>
        <p:nvSpPr>
          <p:cNvPr id="122" name="Rectangle 35"/>
          <p:cNvSpPr/>
          <p:nvPr/>
        </p:nvSpPr>
        <p:spPr>
          <a:xfrm>
            <a:off x="3564433" y="2677179"/>
            <a:ext cx="1755649" cy="713233"/>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23" name="TextBox 36"/>
          <p:cNvSpPr txBox="1"/>
          <p:nvPr/>
        </p:nvSpPr>
        <p:spPr>
          <a:xfrm>
            <a:off x="3628441" y="2931179"/>
            <a:ext cx="1627632"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Emanuele Balloni et al.</a:t>
            </a:r>
          </a:p>
        </p:txBody>
      </p:sp>
      <p:sp>
        <p:nvSpPr>
          <p:cNvPr id="124" name="Rectangle 37"/>
          <p:cNvSpPr/>
          <p:nvPr/>
        </p:nvSpPr>
        <p:spPr>
          <a:xfrm>
            <a:off x="5320081" y="2677179"/>
            <a:ext cx="594361" cy="713233"/>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25" name="TextBox 38"/>
          <p:cNvSpPr txBox="1"/>
          <p:nvPr/>
        </p:nvSpPr>
        <p:spPr>
          <a:xfrm>
            <a:off x="5384089" y="2931179"/>
            <a:ext cx="466345"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2025</a:t>
            </a:r>
          </a:p>
        </p:txBody>
      </p:sp>
      <p:sp>
        <p:nvSpPr>
          <p:cNvPr id="126" name="Rectangle 39"/>
          <p:cNvSpPr/>
          <p:nvPr/>
        </p:nvSpPr>
        <p:spPr>
          <a:xfrm>
            <a:off x="5914441" y="2677179"/>
            <a:ext cx="987553" cy="713233"/>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27" name="TextBox 40"/>
          <p:cNvSpPr txBox="1"/>
          <p:nvPr/>
        </p:nvSpPr>
        <p:spPr>
          <a:xfrm>
            <a:off x="5978449" y="2931179"/>
            <a:ext cx="85953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Springer</a:t>
            </a:r>
          </a:p>
        </p:txBody>
      </p:sp>
      <p:sp>
        <p:nvSpPr>
          <p:cNvPr id="128" name="Rectangle 41"/>
          <p:cNvSpPr/>
          <p:nvPr/>
        </p:nvSpPr>
        <p:spPr>
          <a:xfrm>
            <a:off x="6901993" y="2677179"/>
            <a:ext cx="2606041" cy="713233"/>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29" name="TextBox 42"/>
          <p:cNvSpPr txBox="1"/>
          <p:nvPr/>
        </p:nvSpPr>
        <p:spPr>
          <a:xfrm>
            <a:off x="6966001" y="2753379"/>
            <a:ext cx="2478025"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Semantic Segmentation, CNNs, Transformers, Transfer Learning, Triplet Hard Loss</a:t>
            </a:r>
          </a:p>
        </p:txBody>
      </p:sp>
      <p:sp>
        <p:nvSpPr>
          <p:cNvPr id="130" name="Rectangle 43"/>
          <p:cNvSpPr/>
          <p:nvPr/>
        </p:nvSpPr>
        <p:spPr>
          <a:xfrm>
            <a:off x="9508033" y="2677179"/>
            <a:ext cx="2334666" cy="713233"/>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31" name="TextBox 44"/>
          <p:cNvSpPr txBox="1"/>
          <p:nvPr/>
        </p:nvSpPr>
        <p:spPr>
          <a:xfrm>
            <a:off x="9572041" y="2753379"/>
            <a:ext cx="2206650"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High computational and memory requirements; possible deployment latency.</a:t>
            </a:r>
          </a:p>
        </p:txBody>
      </p:sp>
      <p:sp>
        <p:nvSpPr>
          <p:cNvPr id="132" name="Rectangle 45"/>
          <p:cNvSpPr/>
          <p:nvPr/>
        </p:nvSpPr>
        <p:spPr>
          <a:xfrm>
            <a:off x="336601" y="3390410"/>
            <a:ext cx="438913"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33" name="TextBox 46"/>
          <p:cNvSpPr txBox="1"/>
          <p:nvPr/>
        </p:nvSpPr>
        <p:spPr>
          <a:xfrm>
            <a:off x="400609" y="3662698"/>
            <a:ext cx="31089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03</a:t>
            </a:r>
          </a:p>
        </p:txBody>
      </p:sp>
      <p:sp>
        <p:nvSpPr>
          <p:cNvPr id="134" name="Rectangle 47"/>
          <p:cNvSpPr/>
          <p:nvPr/>
        </p:nvSpPr>
        <p:spPr>
          <a:xfrm>
            <a:off x="775513" y="3390410"/>
            <a:ext cx="2788921"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35" name="TextBox 48"/>
          <p:cNvSpPr txBox="1"/>
          <p:nvPr/>
        </p:nvSpPr>
        <p:spPr>
          <a:xfrm>
            <a:off x="839521" y="3573798"/>
            <a:ext cx="2660905"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Using Large Multimodal Models to Predict Outfit Compatibility</a:t>
            </a:r>
          </a:p>
        </p:txBody>
      </p:sp>
      <p:sp>
        <p:nvSpPr>
          <p:cNvPr id="136" name="Rectangle 49"/>
          <p:cNvSpPr/>
          <p:nvPr/>
        </p:nvSpPr>
        <p:spPr>
          <a:xfrm>
            <a:off x="3564433" y="3390410"/>
            <a:ext cx="1755649"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37" name="TextBox 50"/>
          <p:cNvSpPr txBox="1"/>
          <p:nvPr/>
        </p:nvSpPr>
        <p:spPr>
          <a:xfrm>
            <a:off x="3628441" y="3484898"/>
            <a:ext cx="1627632"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Chia-Ling Chang, Yen-Liang Chen &amp; Dao-Xuan Jiang</a:t>
            </a:r>
          </a:p>
        </p:txBody>
      </p:sp>
      <p:sp>
        <p:nvSpPr>
          <p:cNvPr id="138" name="Rectangle 51"/>
          <p:cNvSpPr/>
          <p:nvPr/>
        </p:nvSpPr>
        <p:spPr>
          <a:xfrm>
            <a:off x="5320081" y="3390410"/>
            <a:ext cx="594361"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39" name="TextBox 52"/>
          <p:cNvSpPr txBox="1"/>
          <p:nvPr/>
        </p:nvSpPr>
        <p:spPr>
          <a:xfrm>
            <a:off x="5384089" y="3662698"/>
            <a:ext cx="466345"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2025</a:t>
            </a:r>
          </a:p>
        </p:txBody>
      </p:sp>
      <p:sp>
        <p:nvSpPr>
          <p:cNvPr id="140" name="Rectangle 53"/>
          <p:cNvSpPr/>
          <p:nvPr/>
        </p:nvSpPr>
        <p:spPr>
          <a:xfrm>
            <a:off x="5914441" y="3390410"/>
            <a:ext cx="987553"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41" name="TextBox 54"/>
          <p:cNvSpPr txBox="1"/>
          <p:nvPr/>
        </p:nvSpPr>
        <p:spPr>
          <a:xfrm>
            <a:off x="5978449" y="3662698"/>
            <a:ext cx="85953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Elsevier</a:t>
            </a:r>
          </a:p>
        </p:txBody>
      </p:sp>
      <p:sp>
        <p:nvSpPr>
          <p:cNvPr id="142" name="Rectangle 55"/>
          <p:cNvSpPr/>
          <p:nvPr/>
        </p:nvSpPr>
        <p:spPr>
          <a:xfrm>
            <a:off x="6901993" y="3390410"/>
            <a:ext cx="2606041"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43" name="TextBox 56"/>
          <p:cNvSpPr txBox="1"/>
          <p:nvPr/>
        </p:nvSpPr>
        <p:spPr>
          <a:xfrm>
            <a:off x="6966001" y="3573798"/>
            <a:ext cx="2478025"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Gemini VQA, keyword extraction, BEiT-3, multimodal fusion, BPR</a:t>
            </a:r>
          </a:p>
        </p:txBody>
      </p:sp>
      <p:sp>
        <p:nvSpPr>
          <p:cNvPr id="144" name="Rectangle 57"/>
          <p:cNvSpPr/>
          <p:nvPr/>
        </p:nvSpPr>
        <p:spPr>
          <a:xfrm>
            <a:off x="9508033" y="3390410"/>
            <a:ext cx="2334666"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45" name="TextBox 58"/>
          <p:cNvSpPr txBox="1"/>
          <p:nvPr/>
        </p:nvSpPr>
        <p:spPr>
          <a:xfrm>
            <a:off x="9572041" y="3484898"/>
            <a:ext cx="2206650"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Mainly top-bottom compatibility; not an integrated personal wardrobe system.</a:t>
            </a:r>
          </a:p>
        </p:txBody>
      </p:sp>
      <p:sp>
        <p:nvSpPr>
          <p:cNvPr id="146" name="Rectangle 59"/>
          <p:cNvSpPr/>
          <p:nvPr/>
        </p:nvSpPr>
        <p:spPr>
          <a:xfrm>
            <a:off x="336601" y="4140219"/>
            <a:ext cx="438913" cy="786385"/>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47" name="TextBox 60"/>
          <p:cNvSpPr txBox="1"/>
          <p:nvPr/>
        </p:nvSpPr>
        <p:spPr>
          <a:xfrm>
            <a:off x="400609" y="4430796"/>
            <a:ext cx="31089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04</a:t>
            </a:r>
          </a:p>
        </p:txBody>
      </p:sp>
      <p:sp>
        <p:nvSpPr>
          <p:cNvPr id="148" name="Rectangle 61"/>
          <p:cNvSpPr/>
          <p:nvPr/>
        </p:nvSpPr>
        <p:spPr>
          <a:xfrm>
            <a:off x="775513" y="4140219"/>
            <a:ext cx="2788921" cy="786385"/>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49" name="TextBox 62"/>
          <p:cNvSpPr txBox="1"/>
          <p:nvPr/>
        </p:nvSpPr>
        <p:spPr>
          <a:xfrm>
            <a:off x="839521" y="4164096"/>
            <a:ext cx="2660905"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Enhanced Content-Based Fashion Recommendation System through Deep Ensemble Classifier with Transfer Learning</a:t>
            </a:r>
          </a:p>
        </p:txBody>
      </p:sp>
      <p:sp>
        <p:nvSpPr>
          <p:cNvPr id="150" name="Rectangle 63"/>
          <p:cNvSpPr/>
          <p:nvPr/>
        </p:nvSpPr>
        <p:spPr>
          <a:xfrm>
            <a:off x="3564433" y="4140219"/>
            <a:ext cx="1755649" cy="786385"/>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51" name="TextBox 64"/>
          <p:cNvSpPr txBox="1"/>
          <p:nvPr/>
        </p:nvSpPr>
        <p:spPr>
          <a:xfrm>
            <a:off x="3628441" y="4341896"/>
            <a:ext cx="1627632"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Suvarna Buradagunta &amp; Sivadi Balakrishna</a:t>
            </a:r>
          </a:p>
        </p:txBody>
      </p:sp>
      <p:sp>
        <p:nvSpPr>
          <p:cNvPr id="152" name="Rectangle 65"/>
          <p:cNvSpPr/>
          <p:nvPr/>
        </p:nvSpPr>
        <p:spPr>
          <a:xfrm>
            <a:off x="5320081" y="4140219"/>
            <a:ext cx="594361" cy="786385"/>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53" name="TextBox 66"/>
          <p:cNvSpPr txBox="1"/>
          <p:nvPr/>
        </p:nvSpPr>
        <p:spPr>
          <a:xfrm>
            <a:off x="5384089" y="4430796"/>
            <a:ext cx="466345"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2024</a:t>
            </a:r>
          </a:p>
        </p:txBody>
      </p:sp>
      <p:sp>
        <p:nvSpPr>
          <p:cNvPr id="154" name="Rectangle 67"/>
          <p:cNvSpPr/>
          <p:nvPr/>
        </p:nvSpPr>
        <p:spPr>
          <a:xfrm>
            <a:off x="5914441" y="4140219"/>
            <a:ext cx="987553" cy="786385"/>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55" name="TextBox 68"/>
          <p:cNvSpPr txBox="1"/>
          <p:nvPr/>
        </p:nvSpPr>
        <p:spPr>
          <a:xfrm>
            <a:off x="5978449" y="4430796"/>
            <a:ext cx="85953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Springer</a:t>
            </a:r>
          </a:p>
        </p:txBody>
      </p:sp>
      <p:sp>
        <p:nvSpPr>
          <p:cNvPr id="156" name="Rectangle 69"/>
          <p:cNvSpPr/>
          <p:nvPr/>
        </p:nvSpPr>
        <p:spPr>
          <a:xfrm>
            <a:off x="6901993" y="4140219"/>
            <a:ext cx="2606041" cy="786385"/>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57" name="TextBox 70"/>
          <p:cNvSpPr txBox="1"/>
          <p:nvPr/>
        </p:nvSpPr>
        <p:spPr>
          <a:xfrm>
            <a:off x="6966001" y="4341896"/>
            <a:ext cx="2478025" cy="383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Transfer Learning, CNNs, Deep Ensemble, Cosine Similarity</a:t>
            </a:r>
          </a:p>
        </p:txBody>
      </p:sp>
      <p:sp>
        <p:nvSpPr>
          <p:cNvPr id="158" name="Rectangle 71"/>
          <p:cNvSpPr/>
          <p:nvPr/>
        </p:nvSpPr>
        <p:spPr>
          <a:xfrm>
            <a:off x="9508033" y="4140219"/>
            <a:ext cx="2334666" cy="786385"/>
          </a:xfrm>
          <a:prstGeom prst="rect">
            <a:avLst/>
          </a:prstGeom>
          <a:solidFill>
            <a:srgbClr val="EFF0F7"/>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59" name="TextBox 72"/>
          <p:cNvSpPr txBox="1"/>
          <p:nvPr/>
        </p:nvSpPr>
        <p:spPr>
          <a:xfrm>
            <a:off x="9572041" y="4252996"/>
            <a:ext cx="2206650"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Content-based similarity; dataset diversity and generalization can be improved.</a:t>
            </a:r>
          </a:p>
        </p:txBody>
      </p:sp>
      <p:sp>
        <p:nvSpPr>
          <p:cNvPr id="160" name="Rectangle 73"/>
          <p:cNvSpPr/>
          <p:nvPr/>
        </p:nvSpPr>
        <p:spPr>
          <a:xfrm>
            <a:off x="336601" y="4926603"/>
            <a:ext cx="438913"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61" name="TextBox 74"/>
          <p:cNvSpPr txBox="1"/>
          <p:nvPr/>
        </p:nvSpPr>
        <p:spPr>
          <a:xfrm>
            <a:off x="400609" y="5198891"/>
            <a:ext cx="31089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05</a:t>
            </a:r>
          </a:p>
        </p:txBody>
      </p:sp>
      <p:sp>
        <p:nvSpPr>
          <p:cNvPr id="162" name="Rectangle 75"/>
          <p:cNvSpPr/>
          <p:nvPr/>
        </p:nvSpPr>
        <p:spPr>
          <a:xfrm>
            <a:off x="775513" y="4926603"/>
            <a:ext cx="2788921"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63" name="TextBox 76"/>
          <p:cNvSpPr txBox="1"/>
          <p:nvPr/>
        </p:nvSpPr>
        <p:spPr>
          <a:xfrm>
            <a:off x="839521" y="5021091"/>
            <a:ext cx="2660905"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Unifying Heterogeneous and Homogeneous Relations for Personalized Compatibility Modeling</a:t>
            </a:r>
          </a:p>
        </p:txBody>
      </p:sp>
      <p:sp>
        <p:nvSpPr>
          <p:cNvPr id="164" name="Rectangle 77"/>
          <p:cNvSpPr/>
          <p:nvPr/>
        </p:nvSpPr>
        <p:spPr>
          <a:xfrm>
            <a:off x="3564433" y="4926603"/>
            <a:ext cx="1755649"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65" name="TextBox 78"/>
          <p:cNvSpPr txBox="1"/>
          <p:nvPr/>
        </p:nvSpPr>
        <p:spPr>
          <a:xfrm>
            <a:off x="3628441" y="5021091"/>
            <a:ext cx="1627632"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Jinhuan Liu, Lei Hou, Xu Yu, Xuemeng Song &amp; Zhaochun Ren</a:t>
            </a:r>
          </a:p>
        </p:txBody>
      </p:sp>
      <p:sp>
        <p:nvSpPr>
          <p:cNvPr id="166" name="Rectangle 79"/>
          <p:cNvSpPr/>
          <p:nvPr/>
        </p:nvSpPr>
        <p:spPr>
          <a:xfrm>
            <a:off x="5320081" y="4926603"/>
            <a:ext cx="594361"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67" name="TextBox 80"/>
          <p:cNvSpPr txBox="1"/>
          <p:nvPr/>
        </p:nvSpPr>
        <p:spPr>
          <a:xfrm>
            <a:off x="5384089" y="5198891"/>
            <a:ext cx="466345"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200">
                <a:solidFill>
                  <a:srgbClr val="2D2B35"/>
                </a:solidFill>
                <a:latin typeface="Aptos"/>
                <a:ea typeface="Aptos"/>
                <a:cs typeface="Aptos"/>
                <a:sym typeface="Aptos"/>
              </a:defRPr>
            </a:lvl1pPr>
          </a:lstStyle>
          <a:p>
            <a:pPr/>
            <a:r>
              <a:t>2024</a:t>
            </a:r>
          </a:p>
        </p:txBody>
      </p:sp>
      <p:sp>
        <p:nvSpPr>
          <p:cNvPr id="168" name="Rectangle 81"/>
          <p:cNvSpPr/>
          <p:nvPr/>
        </p:nvSpPr>
        <p:spPr>
          <a:xfrm>
            <a:off x="5914441" y="4926603"/>
            <a:ext cx="987553"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69" name="TextBox 82"/>
          <p:cNvSpPr txBox="1"/>
          <p:nvPr/>
        </p:nvSpPr>
        <p:spPr>
          <a:xfrm>
            <a:off x="5978449" y="5198891"/>
            <a:ext cx="859537" cy="2052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sz="1200">
                <a:solidFill>
                  <a:srgbClr val="2D2B35"/>
                </a:solidFill>
                <a:latin typeface="Aptos"/>
                <a:ea typeface="Aptos"/>
                <a:cs typeface="Aptos"/>
                <a:sym typeface="Aptos"/>
              </a:defRPr>
            </a:lvl1pPr>
          </a:lstStyle>
          <a:p>
            <a:pPr/>
            <a:r>
              <a:t>Elsevier</a:t>
            </a:r>
          </a:p>
        </p:txBody>
      </p:sp>
      <p:sp>
        <p:nvSpPr>
          <p:cNvPr id="170" name="Rectangle 83"/>
          <p:cNvSpPr/>
          <p:nvPr/>
        </p:nvSpPr>
        <p:spPr>
          <a:xfrm>
            <a:off x="6901993" y="4926603"/>
            <a:ext cx="2606041"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71" name="TextBox 84"/>
          <p:cNvSpPr txBox="1"/>
          <p:nvPr/>
        </p:nvSpPr>
        <p:spPr>
          <a:xfrm>
            <a:off x="6966001" y="5021091"/>
            <a:ext cx="2478025" cy="5608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Graph Neural Networks, relation modelling, multimodal features, adaptive neighbour sampling</a:t>
            </a:r>
          </a:p>
        </p:txBody>
      </p:sp>
      <p:sp>
        <p:nvSpPr>
          <p:cNvPr id="172" name="Rectangle 85"/>
          <p:cNvSpPr/>
          <p:nvPr/>
        </p:nvSpPr>
        <p:spPr>
          <a:xfrm>
            <a:off x="9508033" y="4926603"/>
            <a:ext cx="2338476" cy="749809"/>
          </a:xfrm>
          <a:prstGeom prst="rect">
            <a:avLst/>
          </a:prstGeom>
          <a:solidFill>
            <a:srgbClr val="FFFFFF"/>
          </a:solidFill>
          <a:ln w="8890">
            <a:solidFill>
              <a:srgbClr val="9B9BA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173" name="TextBox 86"/>
          <p:cNvSpPr txBox="1"/>
          <p:nvPr/>
        </p:nvSpPr>
        <p:spPr>
          <a:xfrm>
            <a:off x="9572041" y="4932191"/>
            <a:ext cx="2206650" cy="7386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200">
                <a:solidFill>
                  <a:srgbClr val="2D2B35"/>
                </a:solidFill>
                <a:latin typeface="Aptos"/>
                <a:ea typeface="Aptos"/>
                <a:cs typeface="Aptos"/>
                <a:sym typeface="Aptos"/>
              </a:defRPr>
            </a:lvl1pPr>
          </a:lstStyle>
          <a:p>
            <a:pPr/>
            <a:r>
              <a:t>Comprehensive relation modelling, sampling and multimodal representation remain challenging.</a:t>
            </a:r>
          </a:p>
        </p:txBody>
      </p:sp>
      <p:sp>
        <p:nvSpPr>
          <p:cNvPr id="174" name="Rounded Rectangle 87"/>
          <p:cNvSpPr/>
          <p:nvPr/>
        </p:nvSpPr>
        <p:spPr>
          <a:xfrm>
            <a:off x="488950" y="6083300"/>
            <a:ext cx="11201400" cy="694945"/>
          </a:xfrm>
          <a:prstGeom prst="roundRect">
            <a:avLst>
              <a:gd name="adj" fmla="val 16667"/>
            </a:avLst>
          </a:prstGeom>
          <a:solidFill>
            <a:srgbClr val="CCDCFA"/>
          </a:solidFill>
          <a:ln w="20320">
            <a:solidFill>
              <a:srgbClr val="4A75BE"/>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175" name="TextBox 88"/>
          <p:cNvSpPr txBox="1"/>
          <p:nvPr/>
        </p:nvSpPr>
        <p:spPr>
          <a:xfrm>
            <a:off x="523385" y="6309106"/>
            <a:ext cx="1492868" cy="2433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algn="ctr" defTabSz="457200">
              <a:defRPr b="1" sz="1400">
                <a:solidFill>
                  <a:srgbClr val="5B3E84"/>
                </a:solidFill>
                <a:latin typeface="Aptos"/>
                <a:ea typeface="Aptos"/>
                <a:cs typeface="Aptos"/>
                <a:sym typeface="Aptos"/>
              </a:defRPr>
            </a:lvl1pPr>
          </a:lstStyle>
          <a:p>
            <a:pPr/>
            <a:r>
              <a:t>RESEARCH GAP</a:t>
            </a:r>
          </a:p>
        </p:txBody>
      </p:sp>
      <p:sp>
        <p:nvSpPr>
          <p:cNvPr id="176" name="TextBox 89"/>
          <p:cNvSpPr txBox="1"/>
          <p:nvPr/>
        </p:nvSpPr>
        <p:spPr>
          <a:xfrm>
            <a:off x="2109155" y="6112256"/>
            <a:ext cx="9613067" cy="637033"/>
          </a:xfrm>
          <a:prstGeom prst="rect">
            <a:avLst/>
          </a:prstGeom>
          <a:ln w="12700">
            <a:miter lim="400000"/>
          </a:ln>
          <a:extLst>
            <a:ext uri="{C572A759-6A51-4108-AA02-DFA0A04FC94B}">
              <ma14:wrappingTextBoxFlag xmlns:ma14="http://schemas.microsoft.com/office/mac/drawingml/2011/main" val="1"/>
            </a:ext>
          </a:extLst>
        </p:spPr>
        <p:txBody>
          <a:bodyPr lIns="13716" tIns="13716" rIns="13716" bIns="13716" anchor="ctr">
            <a:spAutoFit/>
          </a:bodyPr>
          <a:lstStyle>
            <a:lvl1pPr defTabSz="457200">
              <a:defRPr sz="1300">
                <a:solidFill>
                  <a:srgbClr val="2D2B35"/>
                </a:solidFill>
                <a:latin typeface="Aptos"/>
                <a:ea typeface="Aptos"/>
                <a:cs typeface="Aptos"/>
                <a:sym typeface="Aptos"/>
              </a:defRPr>
            </a:lvl1pPr>
          </a:lstStyle>
          <a:p>
            <a:pPr/>
            <a:r>
              <a:t>“Existing research focuses mainly on clothing classification, outfit compatibility and personalized recommendation, with limitations in practical wardrobe context and integrated user-level management. Wearlytics combines AI clothing analysis, personalized outfit recommendation, laundry awareness, feedback learning, outfit planning and wardrobe analytics in a unified system.”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extBox 1"/>
          <p:cNvSpPr txBox="1"/>
          <p:nvPr/>
        </p:nvSpPr>
        <p:spPr>
          <a:xfrm>
            <a:off x="640079" y="244348"/>
            <a:ext cx="10881361"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56377D"/>
                </a:solidFill>
                <a:latin typeface="Aptos"/>
                <a:ea typeface="Aptos"/>
                <a:cs typeface="Aptos"/>
                <a:sym typeface="Aptos"/>
              </a:defRPr>
            </a:lvl1pPr>
          </a:lstStyle>
          <a:p>
            <a:pPr/>
            <a:r>
              <a:t>03 · DRAWBACKS OF THE EXISTING SYSTEM</a:t>
            </a:r>
          </a:p>
        </p:txBody>
      </p:sp>
      <p:graphicFrame>
        <p:nvGraphicFramePr>
          <p:cNvPr id="179" name="Table 4"/>
          <p:cNvGraphicFramePr/>
          <p:nvPr/>
        </p:nvGraphicFramePr>
        <p:xfrm>
          <a:off x="1014048" y="1503821"/>
          <a:ext cx="11045953" cy="416052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4070859"/>
                <a:gridCol w="6062563"/>
              </a:tblGrid>
              <a:tr h="594360">
                <a:tc>
                  <a:txBody>
                    <a:bodyPr/>
                    <a:lstStyle/>
                    <a:p>
                      <a:pPr algn="l" defTabSz="457200">
                        <a:defRPr b="0" sz="1800">
                          <a:solidFill>
                            <a:srgbClr val="000000"/>
                          </a:solidFill>
                        </a:defRPr>
                      </a:pPr>
                      <a:r>
                        <a:rPr b="1" sz="1600">
                          <a:solidFill>
                            <a:srgbClr val="FFFFFF"/>
                          </a:solidFill>
                          <a:latin typeface="Aptos"/>
                          <a:ea typeface="Aptos"/>
                          <a:cs typeface="Aptos"/>
                          <a:sym typeface="Aptos"/>
                        </a:rPr>
                        <a:t>Existing System / Approach</a:t>
                      </a:r>
                    </a:p>
                  </a:txBody>
                  <a:tcPr marL="45720" marR="45720" marT="45720" marB="45720" anchor="ctr" anchorCtr="0" horzOverflow="overflow">
                    <a:solidFill>
                      <a:srgbClr val="583D8F"/>
                    </a:solidFill>
                  </a:tcPr>
                </a:tc>
                <a:tc>
                  <a:txBody>
                    <a:bodyPr/>
                    <a:lstStyle/>
                    <a:p>
                      <a:pPr algn="l" defTabSz="457200">
                        <a:defRPr b="0" sz="1800">
                          <a:solidFill>
                            <a:srgbClr val="000000"/>
                          </a:solidFill>
                        </a:defRPr>
                      </a:pPr>
                      <a:r>
                        <a:rPr b="1" sz="1600">
                          <a:solidFill>
                            <a:srgbClr val="FFFFFF"/>
                          </a:solidFill>
                          <a:latin typeface="Aptos"/>
                          <a:ea typeface="Aptos"/>
                          <a:cs typeface="Aptos"/>
                          <a:sym typeface="Aptos"/>
                        </a:rPr>
                        <a:t>Drawback</a:t>
                      </a:r>
                    </a:p>
                  </a:txBody>
                  <a:tcPr marL="45720" marR="45720" marT="45720" marB="45720" anchor="ctr" anchorCtr="0" horzOverflow="overflow">
                    <a:solidFill>
                      <a:srgbClr val="583D8F"/>
                    </a:solidFill>
                  </a:tcPr>
                </a:tc>
              </a:tr>
              <a:tr h="594360">
                <a:tc>
                  <a:txBody>
                    <a:bodyPr/>
                    <a:lstStyle/>
                    <a:p>
                      <a:pPr algn="l" defTabSz="457200">
                        <a:defRPr sz="1800"/>
                      </a:pPr>
                      <a:r>
                        <a:rPr b="1" sz="1600">
                          <a:solidFill>
                            <a:srgbClr val="2D274A"/>
                          </a:solidFill>
                          <a:latin typeface="Aptos"/>
                          <a:ea typeface="Aptos"/>
                          <a:cs typeface="Aptos"/>
                          <a:sym typeface="Aptos"/>
                        </a:rPr>
                        <a:t>Manual wardrobe management</a:t>
                      </a:r>
                    </a:p>
                  </a:txBody>
                  <a:tcPr marL="45720" marR="45720" marT="45720" marB="45720" anchor="ctr" anchorCtr="0" horzOverflow="overflow">
                    <a:solidFill>
                      <a:srgbClr val="FFFFFF"/>
                    </a:solidFill>
                  </a:tcPr>
                </a:tc>
                <a:tc>
                  <a:txBody>
                    <a:bodyPr/>
                    <a:lstStyle/>
                    <a:p>
                      <a:pPr algn="l" defTabSz="457200">
                        <a:defRPr sz="1800"/>
                      </a:pPr>
                      <a:r>
                        <a:rPr sz="1600">
                          <a:solidFill>
                            <a:srgbClr val="2D274A"/>
                          </a:solidFill>
                          <a:latin typeface="Aptos"/>
                          <a:ea typeface="Aptos"/>
                          <a:cs typeface="Aptos"/>
                          <a:sym typeface="Aptos"/>
                        </a:rPr>
                        <a:t>Organizing and managing a large clothing collection manually requires effort.</a:t>
                      </a:r>
                    </a:p>
                  </a:txBody>
                  <a:tcPr marL="45720" marR="45720" marT="45720" marB="45720" anchor="ctr" anchorCtr="0" horzOverflow="overflow">
                    <a:solidFill>
                      <a:srgbClr val="FFFFFF"/>
                    </a:solidFill>
                  </a:tcPr>
                </a:tc>
              </a:tr>
              <a:tr h="594360">
                <a:tc>
                  <a:txBody>
                    <a:bodyPr/>
                    <a:lstStyle/>
                    <a:p>
                      <a:pPr algn="l" defTabSz="457200">
                        <a:defRPr sz="1800"/>
                      </a:pPr>
                      <a:r>
                        <a:rPr b="1" sz="1600">
                          <a:solidFill>
                            <a:srgbClr val="2D274A"/>
                          </a:solidFill>
                          <a:latin typeface="Aptos"/>
                          <a:ea typeface="Aptos"/>
                          <a:cs typeface="Aptos"/>
                          <a:sym typeface="Aptos"/>
                        </a:rPr>
                        <a:t>Manual clothing identification</a:t>
                      </a:r>
                    </a:p>
                  </a:txBody>
                  <a:tcPr marL="45720" marR="45720" marT="45720" marB="45720" anchor="ctr" anchorCtr="0" horzOverflow="overflow">
                    <a:solidFill>
                      <a:srgbClr val="F6F3FB"/>
                    </a:solidFill>
                  </a:tcPr>
                </a:tc>
                <a:tc>
                  <a:txBody>
                    <a:bodyPr/>
                    <a:lstStyle/>
                    <a:p>
                      <a:pPr algn="l" defTabSz="457200">
                        <a:defRPr sz="1800"/>
                      </a:pPr>
                      <a:r>
                        <a:rPr sz="1600">
                          <a:solidFill>
                            <a:srgbClr val="2D274A"/>
                          </a:solidFill>
                          <a:latin typeface="Aptos"/>
                          <a:ea typeface="Aptos"/>
                          <a:cs typeface="Aptos"/>
                          <a:sym typeface="Aptos"/>
                        </a:rPr>
                        <a:t>Users may need to manually enter clothing category and details.</a:t>
                      </a:r>
                    </a:p>
                  </a:txBody>
                  <a:tcPr marL="45720" marR="45720" marT="45720" marB="45720" anchor="ctr" anchorCtr="0" horzOverflow="overflow">
                    <a:solidFill>
                      <a:srgbClr val="F6F3FB"/>
                    </a:solidFill>
                  </a:tcPr>
                </a:tc>
              </a:tr>
              <a:tr h="594360">
                <a:tc>
                  <a:txBody>
                    <a:bodyPr/>
                    <a:lstStyle/>
                    <a:p>
                      <a:pPr algn="l" defTabSz="457200">
                        <a:defRPr sz="1800"/>
                      </a:pPr>
                      <a:r>
                        <a:rPr b="1" sz="1600">
                          <a:solidFill>
                            <a:srgbClr val="2D274A"/>
                          </a:solidFill>
                          <a:latin typeface="Aptos"/>
                          <a:ea typeface="Aptos"/>
                          <a:cs typeface="Aptos"/>
                          <a:sym typeface="Aptos"/>
                        </a:rPr>
                        <a:t>Manual outfit selection</a:t>
                      </a:r>
                    </a:p>
                  </a:txBody>
                  <a:tcPr marL="45720" marR="45720" marT="45720" marB="45720" anchor="ctr" anchorCtr="0" horzOverflow="overflow">
                    <a:solidFill>
                      <a:srgbClr val="FFFFFF"/>
                    </a:solidFill>
                  </a:tcPr>
                </a:tc>
                <a:tc>
                  <a:txBody>
                    <a:bodyPr/>
                    <a:lstStyle/>
                    <a:p>
                      <a:pPr algn="l" defTabSz="457200">
                        <a:defRPr sz="1800"/>
                      </a:pPr>
                      <a:r>
                        <a:rPr sz="1600">
                          <a:solidFill>
                            <a:srgbClr val="2D274A"/>
                          </a:solidFill>
                          <a:latin typeface="Aptos"/>
                          <a:ea typeface="Aptos"/>
                          <a:cs typeface="Aptos"/>
                          <a:sym typeface="Aptos"/>
                        </a:rPr>
                        <a:t>Finding suitable combinations can be time-consuming.</a:t>
                      </a:r>
                    </a:p>
                  </a:txBody>
                  <a:tcPr marL="45720" marR="45720" marT="45720" marB="45720" anchor="ctr" anchorCtr="0" horzOverflow="overflow">
                    <a:solidFill>
                      <a:srgbClr val="FFFFFF"/>
                    </a:solidFill>
                  </a:tcPr>
                </a:tc>
              </a:tr>
              <a:tr h="594360">
                <a:tc>
                  <a:txBody>
                    <a:bodyPr/>
                    <a:lstStyle/>
                    <a:p>
                      <a:pPr algn="l" defTabSz="457200">
                        <a:defRPr sz="1800"/>
                      </a:pPr>
                      <a:r>
                        <a:rPr b="1" sz="1600">
                          <a:solidFill>
                            <a:srgbClr val="2D274A"/>
                          </a:solidFill>
                          <a:latin typeface="Aptos"/>
                          <a:ea typeface="Aptos"/>
                          <a:cs typeface="Aptos"/>
                          <a:sym typeface="Aptos"/>
                        </a:rPr>
                        <a:t>Generic outfit suggestions</a:t>
                      </a:r>
                    </a:p>
                  </a:txBody>
                  <a:tcPr marL="45720" marR="45720" marT="45720" marB="45720" anchor="ctr" anchorCtr="0" horzOverflow="overflow">
                    <a:solidFill>
                      <a:srgbClr val="F6F3FB"/>
                    </a:solidFill>
                  </a:tcPr>
                </a:tc>
                <a:tc>
                  <a:txBody>
                    <a:bodyPr/>
                    <a:lstStyle/>
                    <a:p>
                      <a:pPr algn="l" defTabSz="457200">
                        <a:defRPr sz="1800"/>
                      </a:pPr>
                      <a:r>
                        <a:rPr sz="1600">
                          <a:solidFill>
                            <a:srgbClr val="2D274A"/>
                          </a:solidFill>
                          <a:latin typeface="Aptos"/>
                          <a:ea typeface="Aptos"/>
                          <a:cs typeface="Aptos"/>
                          <a:sym typeface="Aptos"/>
                        </a:rPr>
                        <a:t>User's own wardrobe and preferences may not be fully considered.</a:t>
                      </a:r>
                    </a:p>
                  </a:txBody>
                  <a:tcPr marL="45720" marR="45720" marT="45720" marB="45720" anchor="ctr" anchorCtr="0" horzOverflow="overflow">
                    <a:solidFill>
                      <a:srgbClr val="F6F3FB"/>
                    </a:solidFill>
                  </a:tcPr>
                </a:tc>
              </a:tr>
              <a:tr h="594360">
                <a:tc>
                  <a:txBody>
                    <a:bodyPr/>
                    <a:lstStyle/>
                    <a:p>
                      <a:pPr algn="l" defTabSz="457200">
                        <a:defRPr sz="1800"/>
                      </a:pPr>
                      <a:r>
                        <a:rPr b="1" sz="1600">
                          <a:solidFill>
                            <a:srgbClr val="2D274A"/>
                          </a:solidFill>
                          <a:latin typeface="Aptos"/>
                          <a:ea typeface="Aptos"/>
                          <a:cs typeface="Aptos"/>
                          <a:sym typeface="Aptos"/>
                        </a:rPr>
                        <a:t>Clothes availability not always considered</a:t>
                      </a:r>
                    </a:p>
                  </a:txBody>
                  <a:tcPr marL="45720" marR="45720" marT="45720" marB="45720" anchor="ctr" anchorCtr="0" horzOverflow="overflow">
                    <a:solidFill>
                      <a:srgbClr val="FFFFFF"/>
                    </a:solidFill>
                  </a:tcPr>
                </a:tc>
                <a:tc>
                  <a:txBody>
                    <a:bodyPr/>
                    <a:lstStyle/>
                    <a:p>
                      <a:pPr algn="l" defTabSz="457200">
                        <a:defRPr sz="1800"/>
                      </a:pPr>
                      <a:r>
                        <a:rPr sz="1600">
                          <a:solidFill>
                            <a:srgbClr val="2D274A"/>
                          </a:solidFill>
                          <a:latin typeface="Aptos"/>
                          <a:ea typeface="Aptos"/>
                          <a:cs typeface="Aptos"/>
                          <a:sym typeface="Aptos"/>
                        </a:rPr>
                        <a:t>Clothes in laundry may be included in practical outfit selection.</a:t>
                      </a:r>
                    </a:p>
                  </a:txBody>
                  <a:tcPr marL="45720" marR="45720" marT="45720" marB="45720" anchor="ctr" anchorCtr="0" horzOverflow="overflow">
                    <a:solidFill>
                      <a:srgbClr val="FFFFFF"/>
                    </a:solidFill>
                  </a:tcPr>
                </a:tc>
              </a:tr>
              <a:tr h="594360">
                <a:tc>
                  <a:txBody>
                    <a:bodyPr/>
                    <a:lstStyle/>
                    <a:p>
                      <a:pPr algn="l" defTabSz="457200">
                        <a:defRPr sz="1800"/>
                      </a:pPr>
                      <a:r>
                        <a:rPr b="1" sz="1600">
                          <a:solidFill>
                            <a:srgbClr val="2D274A"/>
                          </a:solidFill>
                          <a:latin typeface="Aptos"/>
                          <a:ea typeface="Aptos"/>
                          <a:cs typeface="Aptos"/>
                          <a:sym typeface="Aptos"/>
                        </a:rPr>
                        <a:t>Separate wardrobe activities</a:t>
                      </a:r>
                    </a:p>
                  </a:txBody>
                  <a:tcPr marL="45720" marR="45720" marT="45720" marB="45720" anchor="ctr" anchorCtr="0" horzOverflow="overflow">
                    <a:solidFill>
                      <a:srgbClr val="F6F3FB"/>
                    </a:solidFill>
                  </a:tcPr>
                </a:tc>
                <a:tc>
                  <a:txBody>
                    <a:bodyPr/>
                    <a:lstStyle/>
                    <a:p>
                      <a:pPr algn="l" defTabSz="457200">
                        <a:defRPr sz="1800"/>
                      </a:pPr>
                      <a:r>
                        <a:rPr sz="1600">
                          <a:solidFill>
                            <a:srgbClr val="2D274A"/>
                          </a:solidFill>
                          <a:latin typeface="Aptos"/>
                          <a:ea typeface="Aptos"/>
                          <a:cs typeface="Aptos"/>
                          <a:sym typeface="Aptos"/>
                        </a:rPr>
                        <a:t>Planning, wear tracking and analytics may not be integrated in one workflow.</a:t>
                      </a:r>
                    </a:p>
                  </a:txBody>
                  <a:tcPr marL="45720" marR="45720" marT="45720" marB="45720" anchor="ctr" anchorCtr="0" horzOverflow="overflow">
                    <a:solidFill>
                      <a:srgbClr val="F6F3FB"/>
                    </a:solidFill>
                  </a:tcPr>
                </a:tc>
              </a:tr>
            </a:tbl>
          </a:graphicData>
        </a:graphic>
      </p:graphicFrame>
      <p:grpSp>
        <p:nvGrpSpPr>
          <p:cNvPr id="182" name="Rounded Rectangle 5"/>
          <p:cNvGrpSpPr/>
          <p:nvPr/>
        </p:nvGrpSpPr>
        <p:grpSpPr>
          <a:xfrm>
            <a:off x="311438" y="6016210"/>
            <a:ext cx="11538643" cy="622182"/>
            <a:chOff x="0" y="0"/>
            <a:chExt cx="11538642" cy="622181"/>
          </a:xfrm>
        </p:grpSpPr>
        <p:sp>
          <p:nvSpPr>
            <p:cNvPr id="180" name="Rounded Rectangle"/>
            <p:cNvSpPr/>
            <p:nvPr/>
          </p:nvSpPr>
          <p:spPr>
            <a:xfrm>
              <a:off x="0" y="10504"/>
              <a:ext cx="11538643" cy="601174"/>
            </a:xfrm>
            <a:prstGeom prst="roundRect">
              <a:avLst>
                <a:gd name="adj" fmla="val 16667"/>
              </a:avLst>
            </a:prstGeom>
            <a:solidFill>
              <a:srgbClr val="F2EEFA"/>
            </a:solidFill>
            <a:ln w="15240" cap="flat">
              <a:solidFill>
                <a:srgbClr val="CDC3E0"/>
              </a:solidFill>
              <a:prstDash val="solid"/>
              <a:round/>
            </a:ln>
            <a:effectLst>
              <a:outerShdw sx="100000" sy="100000" kx="0" ky="0" algn="b" rotWithShape="0" blurRad="38100" dist="23000" dir="5400000">
                <a:srgbClr val="000000">
                  <a:alpha val="35000"/>
                </a:srgbClr>
              </a:outerShdw>
            </a:effectLst>
          </p:spPr>
          <p:txBody>
            <a:bodyPr wrap="square" lIns="45719" tIns="45719" rIns="45719" bIns="45719" numCol="1" anchor="ctr">
              <a:noAutofit/>
            </a:bodyPr>
            <a:lstStyle/>
            <a:p>
              <a:pPr defTabSz="457200">
                <a:defRPr sz="1100">
                  <a:solidFill>
                    <a:srgbClr val="2D274A"/>
                  </a:solidFill>
                  <a:latin typeface="Aptos"/>
                  <a:ea typeface="Aptos"/>
                  <a:cs typeface="Aptos"/>
                  <a:sym typeface="Aptos"/>
                </a:defRPr>
              </a:pPr>
            </a:p>
          </p:txBody>
        </p:sp>
        <p:sp>
          <p:nvSpPr>
            <p:cNvPr id="181" name="KEY PROBLEM…"/>
            <p:cNvSpPr txBox="1"/>
            <p:nvPr/>
          </p:nvSpPr>
          <p:spPr>
            <a:xfrm>
              <a:off x="85908" y="-1"/>
              <a:ext cx="11366826" cy="62218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p>
              <a:pPr algn="ctr" defTabSz="457200">
                <a:defRPr b="1" sz="1100">
                  <a:solidFill>
                    <a:srgbClr val="583D8F"/>
                  </a:solidFill>
                  <a:latin typeface="Aptos"/>
                  <a:ea typeface="Aptos"/>
                  <a:cs typeface="Aptos"/>
                  <a:sym typeface="Aptos"/>
                </a:defRPr>
              </a:pPr>
              <a:r>
                <a:t>KEY PROBLEM  </a:t>
              </a:r>
            </a:p>
            <a:p>
              <a:pPr defTabSz="457200">
                <a:defRPr sz="1100">
                  <a:solidFill>
                    <a:srgbClr val="2D274A"/>
                  </a:solidFill>
                  <a:latin typeface="Aptos"/>
                  <a:ea typeface="Aptos"/>
                  <a:cs typeface="Aptos"/>
                  <a:sym typeface="Aptos"/>
                </a:defRPr>
              </a:pPr>
              <a:r>
                <a:t>Existing approaches often require manual management and outfit selection, with limited integration of AI analysis, personalization, availability, planning and wardrobe usage insights.</a:t>
              </a: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extBox 1"/>
          <p:cNvSpPr txBox="1"/>
          <p:nvPr/>
        </p:nvSpPr>
        <p:spPr>
          <a:xfrm>
            <a:off x="640079" y="243839"/>
            <a:ext cx="10881361" cy="421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solidFill>
                  <a:srgbClr val="56377D"/>
                </a:solidFill>
                <a:latin typeface="Aptos"/>
                <a:ea typeface="Aptos"/>
                <a:cs typeface="Aptos"/>
                <a:sym typeface="Aptos"/>
              </a:defRPr>
            </a:lvl1pPr>
          </a:lstStyle>
          <a:p>
            <a:pPr/>
            <a:r>
              <a:t>04 · PROPOSED SYSTEM</a:t>
            </a:r>
          </a:p>
        </p:txBody>
      </p:sp>
      <p:sp>
        <p:nvSpPr>
          <p:cNvPr id="185" name="Rounded Rectangle 4"/>
          <p:cNvSpPr/>
          <p:nvPr/>
        </p:nvSpPr>
        <p:spPr>
          <a:xfrm>
            <a:off x="594359" y="892668"/>
            <a:ext cx="5532122" cy="5758895"/>
          </a:xfrm>
          <a:prstGeom prst="roundRect">
            <a:avLst>
              <a:gd name="adj" fmla="val 13637"/>
            </a:avLst>
          </a:prstGeom>
          <a:gradFill>
            <a:gsLst>
              <a:gs pos="0">
                <a:schemeClr val="accent1">
                  <a:hueOff val="400173"/>
                  <a:satOff val="47967"/>
                  <a:lumOff val="30281"/>
                </a:schemeClr>
              </a:gs>
              <a:gs pos="35000">
                <a:srgbClr val="BECEFF"/>
              </a:gs>
              <a:gs pos="100000">
                <a:schemeClr val="accent1">
                  <a:hueOff val="456700"/>
                  <a:satOff val="47967"/>
                  <a:lumOff val="43351"/>
                </a:schemeClr>
              </a:gs>
            </a:gsLst>
            <a:lin ang="16200000"/>
          </a:gradFill>
          <a:ln w="12700">
            <a:solidFill>
              <a:srgbClr val="1B1B1B"/>
            </a:solidFill>
          </a:ln>
          <a:effectLst>
            <a:outerShdw sx="100000" sy="100000" kx="0" ky="0" algn="b" rotWithShape="0" blurRad="190500" dist="12700" dir="5400000">
              <a:srgbClr val="000000"/>
            </a:outerShdw>
          </a:effectLst>
        </p:spPr>
        <p:txBody>
          <a:bodyPr lIns="45718" tIns="45718" rIns="45718" bIns="45718" anchor="ctr"/>
          <a:lstStyle/>
          <a:p>
            <a:pPr algn="ctr">
              <a:defRPr sz="1600">
                <a:solidFill>
                  <a:srgbClr val="FFFFFF"/>
                </a:solidFill>
              </a:defRPr>
            </a:pPr>
          </a:p>
        </p:txBody>
      </p:sp>
      <p:sp>
        <p:nvSpPr>
          <p:cNvPr id="186" name="TextBox 6"/>
          <p:cNvSpPr txBox="1"/>
          <p:nvPr/>
        </p:nvSpPr>
        <p:spPr>
          <a:xfrm>
            <a:off x="1012788" y="1087119"/>
            <a:ext cx="4206240"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56377D"/>
                </a:solidFill>
                <a:latin typeface="Aptos"/>
                <a:ea typeface="Aptos"/>
                <a:cs typeface="Aptos"/>
                <a:sym typeface="Aptos"/>
              </a:defRPr>
            </a:lvl1pPr>
          </a:lstStyle>
          <a:p>
            <a:pPr/>
            <a:r>
              <a:t>Overview</a:t>
            </a:r>
          </a:p>
        </p:txBody>
      </p:sp>
      <p:sp>
        <p:nvSpPr>
          <p:cNvPr id="187" name="TextBox 7"/>
          <p:cNvSpPr txBox="1"/>
          <p:nvPr/>
        </p:nvSpPr>
        <p:spPr>
          <a:xfrm>
            <a:off x="960120" y="1526153"/>
            <a:ext cx="4800601" cy="2263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302A3A"/>
                </a:solidFill>
                <a:latin typeface="Aptos"/>
                <a:ea typeface="Aptos"/>
                <a:cs typeface="Aptos"/>
                <a:sym typeface="Aptos"/>
              </a:defRPr>
            </a:lvl1pPr>
          </a:lstStyle>
          <a:p>
            <a:pPr/>
            <a:r>
              <a:t>Wearlytics allows users to build a digital wardrobe by uploading clothing images. AI assists with clothing classification and dominant-color detection. A weighted recommendation engine generates suitable outfit combinations using color, category, occasion, season, preferences, novelty and favorites. Users can also manage laundry status, save outfits, plan weekly looks, track clothing usage and view wardrobe analytics.</a:t>
            </a:r>
          </a:p>
        </p:txBody>
      </p:sp>
      <p:sp>
        <p:nvSpPr>
          <p:cNvPr id="188" name="TextBox 8"/>
          <p:cNvSpPr txBox="1"/>
          <p:nvPr/>
        </p:nvSpPr>
        <p:spPr>
          <a:xfrm>
            <a:off x="1028700" y="3952757"/>
            <a:ext cx="4663440"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56377D"/>
                </a:solidFill>
                <a:latin typeface="Aptos"/>
                <a:ea typeface="Aptos"/>
                <a:cs typeface="Aptos"/>
                <a:sym typeface="Aptos"/>
              </a:defRPr>
            </a:lvl1pPr>
          </a:lstStyle>
          <a:p>
            <a:pPr/>
            <a:r>
              <a:t>How it addresses existing limitations:</a:t>
            </a:r>
          </a:p>
        </p:txBody>
      </p:sp>
      <p:sp>
        <p:nvSpPr>
          <p:cNvPr id="189" name="TextBox 9"/>
          <p:cNvSpPr txBox="1"/>
          <p:nvPr/>
        </p:nvSpPr>
        <p:spPr>
          <a:xfrm>
            <a:off x="858987" y="4499761"/>
            <a:ext cx="522478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665E70"/>
                </a:solidFill>
                <a:latin typeface="Aptos"/>
                <a:ea typeface="Aptos"/>
                <a:cs typeface="Aptos"/>
                <a:sym typeface="Aptos"/>
              </a:defRPr>
            </a:lvl1pPr>
          </a:lstStyle>
          <a:p>
            <a:pPr/>
            <a:r>
              <a:t>→ AI analysis reduces manual clothing categorization</a:t>
            </a:r>
          </a:p>
        </p:txBody>
      </p:sp>
      <p:sp>
        <p:nvSpPr>
          <p:cNvPr id="190" name="TextBox 10"/>
          <p:cNvSpPr txBox="1"/>
          <p:nvPr/>
        </p:nvSpPr>
        <p:spPr>
          <a:xfrm>
            <a:off x="889110" y="4889753"/>
            <a:ext cx="5164534"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665E70"/>
                </a:solidFill>
                <a:latin typeface="Aptos"/>
                <a:ea typeface="Aptos"/>
                <a:cs typeface="Aptos"/>
                <a:sym typeface="Aptos"/>
              </a:defRPr>
            </a:lvl1pPr>
          </a:lstStyle>
          <a:p>
            <a:pPr/>
            <a:r>
              <a:t>→ Personalized scoring improves outfit selection</a:t>
            </a:r>
          </a:p>
        </p:txBody>
      </p:sp>
      <p:sp>
        <p:nvSpPr>
          <p:cNvPr id="191" name="TextBox 11"/>
          <p:cNvSpPr txBox="1"/>
          <p:nvPr/>
        </p:nvSpPr>
        <p:spPr>
          <a:xfrm>
            <a:off x="898644" y="5357331"/>
            <a:ext cx="5347732"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665E70"/>
                </a:solidFill>
                <a:latin typeface="Aptos"/>
                <a:ea typeface="Aptos"/>
                <a:cs typeface="Aptos"/>
                <a:sym typeface="Aptos"/>
              </a:defRPr>
            </a:lvl1pPr>
          </a:lstStyle>
          <a:p>
            <a:pPr/>
            <a:r>
              <a:t>→ Laundry-aware recommendations avoid unavailable items</a:t>
            </a:r>
          </a:p>
        </p:txBody>
      </p:sp>
      <p:sp>
        <p:nvSpPr>
          <p:cNvPr id="192" name="TextBox 12"/>
          <p:cNvSpPr txBox="1"/>
          <p:nvPr/>
        </p:nvSpPr>
        <p:spPr>
          <a:xfrm>
            <a:off x="937259" y="5932870"/>
            <a:ext cx="5068235"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665E70"/>
                </a:solidFill>
                <a:latin typeface="Aptos"/>
                <a:ea typeface="Aptos"/>
                <a:cs typeface="Aptos"/>
                <a:sym typeface="Aptos"/>
              </a:defRPr>
            </a:lvl1pPr>
          </a:lstStyle>
          <a:p>
            <a:pPr/>
            <a:r>
              <a:t>→ Planning, wear tracking and analytics are integrated</a:t>
            </a:r>
          </a:p>
        </p:txBody>
      </p:sp>
      <p:sp>
        <p:nvSpPr>
          <p:cNvPr id="193" name="Rounded Rectangle 13"/>
          <p:cNvSpPr/>
          <p:nvPr/>
        </p:nvSpPr>
        <p:spPr>
          <a:xfrm>
            <a:off x="6469379" y="889375"/>
            <a:ext cx="5212081" cy="5758896"/>
          </a:xfrm>
          <a:prstGeom prst="roundRect">
            <a:avLst>
              <a:gd name="adj" fmla="val 14474"/>
            </a:avLst>
          </a:prstGeom>
          <a:gradFill>
            <a:gsLst>
              <a:gs pos="0">
                <a:schemeClr val="accent1">
                  <a:hueOff val="400173"/>
                  <a:satOff val="47967"/>
                  <a:lumOff val="30281"/>
                </a:schemeClr>
              </a:gs>
              <a:gs pos="35000">
                <a:srgbClr val="BECEFF"/>
              </a:gs>
              <a:gs pos="100000">
                <a:schemeClr val="accent1">
                  <a:hueOff val="456700"/>
                  <a:satOff val="47967"/>
                  <a:lumOff val="43351"/>
                </a:schemeClr>
              </a:gs>
            </a:gsLst>
            <a:lin ang="16200000"/>
          </a:gradFill>
          <a:ln w="12700">
            <a:solidFill>
              <a:srgbClr val="1B1B1B"/>
            </a:solidFill>
          </a:ln>
          <a:effectLst>
            <a:outerShdw sx="100000" sy="100000" kx="0" ky="0" algn="b" rotWithShape="0" blurRad="190500" dist="12700" dir="5400000">
              <a:srgbClr val="000000"/>
            </a:outerShdw>
          </a:effectLst>
        </p:spPr>
        <p:txBody>
          <a:bodyPr lIns="45718" tIns="45718" rIns="45718" bIns="45718" anchor="ctr"/>
          <a:lstStyle/>
          <a:p>
            <a:pPr algn="ctr">
              <a:defRPr sz="1600">
                <a:solidFill>
                  <a:srgbClr val="FFFFFF"/>
                </a:solidFill>
              </a:defRPr>
            </a:pPr>
          </a:p>
        </p:txBody>
      </p:sp>
      <p:sp>
        <p:nvSpPr>
          <p:cNvPr id="194" name="TextBox 15"/>
          <p:cNvSpPr txBox="1"/>
          <p:nvPr/>
        </p:nvSpPr>
        <p:spPr>
          <a:xfrm>
            <a:off x="6819572" y="1087119"/>
            <a:ext cx="4511693"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56377D"/>
                </a:solidFill>
                <a:latin typeface="Aptos"/>
                <a:ea typeface="Aptos"/>
                <a:cs typeface="Aptos"/>
                <a:sym typeface="Aptos"/>
              </a:defRPr>
            </a:lvl1pPr>
          </a:lstStyle>
          <a:p>
            <a:pPr/>
            <a:r>
              <a:t>Advantages of the Proposed System</a:t>
            </a:r>
          </a:p>
        </p:txBody>
      </p:sp>
      <p:sp>
        <p:nvSpPr>
          <p:cNvPr id="195" name="TextBox 16"/>
          <p:cNvSpPr txBox="1"/>
          <p:nvPr/>
        </p:nvSpPr>
        <p:spPr>
          <a:xfrm>
            <a:off x="6702551" y="1874520"/>
            <a:ext cx="10972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78539E"/>
                </a:solidFill>
                <a:latin typeface="Aptos"/>
                <a:ea typeface="Aptos"/>
                <a:cs typeface="Aptos"/>
                <a:sym typeface="Aptos"/>
              </a:defRPr>
            </a:lvl1pPr>
          </a:lstStyle>
          <a:p>
            <a:pPr/>
            <a:r>
              <a:t>•</a:t>
            </a:r>
          </a:p>
        </p:txBody>
      </p:sp>
      <p:sp>
        <p:nvSpPr>
          <p:cNvPr id="196" name="TextBox 17"/>
          <p:cNvSpPr txBox="1"/>
          <p:nvPr/>
        </p:nvSpPr>
        <p:spPr>
          <a:xfrm>
            <a:off x="6949439" y="1874520"/>
            <a:ext cx="4251961"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302A3A"/>
                </a:solidFill>
                <a:latin typeface="Aptos"/>
                <a:ea typeface="Aptos"/>
                <a:cs typeface="Aptos"/>
                <a:sym typeface="Aptos"/>
              </a:defRPr>
            </a:lvl1pPr>
          </a:lstStyle>
          <a:p>
            <a:pPr/>
            <a:r>
              <a:t>AI-assisted clothing classification</a:t>
            </a:r>
          </a:p>
        </p:txBody>
      </p:sp>
      <p:sp>
        <p:nvSpPr>
          <p:cNvPr id="197" name="TextBox 18"/>
          <p:cNvSpPr txBox="1"/>
          <p:nvPr/>
        </p:nvSpPr>
        <p:spPr>
          <a:xfrm>
            <a:off x="6702551" y="2491353"/>
            <a:ext cx="10972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78539E"/>
                </a:solidFill>
                <a:latin typeface="Aptos"/>
                <a:ea typeface="Aptos"/>
                <a:cs typeface="Aptos"/>
                <a:sym typeface="Aptos"/>
              </a:defRPr>
            </a:lvl1pPr>
          </a:lstStyle>
          <a:p>
            <a:pPr/>
            <a:r>
              <a:t>•</a:t>
            </a:r>
          </a:p>
        </p:txBody>
      </p:sp>
      <p:sp>
        <p:nvSpPr>
          <p:cNvPr id="198" name="TextBox 19"/>
          <p:cNvSpPr txBox="1"/>
          <p:nvPr/>
        </p:nvSpPr>
        <p:spPr>
          <a:xfrm>
            <a:off x="6949439" y="2475483"/>
            <a:ext cx="4251961"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302A3A"/>
                </a:solidFill>
                <a:latin typeface="Aptos"/>
                <a:ea typeface="Aptos"/>
                <a:cs typeface="Aptos"/>
                <a:sym typeface="Aptos"/>
              </a:defRPr>
            </a:lvl1pPr>
          </a:lstStyle>
          <a:p>
            <a:pPr/>
            <a:r>
              <a:t>Color-aware outfit matching</a:t>
            </a:r>
          </a:p>
        </p:txBody>
      </p:sp>
      <p:sp>
        <p:nvSpPr>
          <p:cNvPr id="199" name="TextBox 20"/>
          <p:cNvSpPr txBox="1"/>
          <p:nvPr/>
        </p:nvSpPr>
        <p:spPr>
          <a:xfrm>
            <a:off x="6702551" y="2954512"/>
            <a:ext cx="10972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78539E"/>
                </a:solidFill>
                <a:latin typeface="Aptos"/>
                <a:ea typeface="Aptos"/>
                <a:cs typeface="Aptos"/>
                <a:sym typeface="Aptos"/>
              </a:defRPr>
            </a:lvl1pPr>
          </a:lstStyle>
          <a:p>
            <a:pPr/>
            <a:r>
              <a:t>•</a:t>
            </a:r>
          </a:p>
        </p:txBody>
      </p:sp>
      <p:sp>
        <p:nvSpPr>
          <p:cNvPr id="200" name="TextBox 21"/>
          <p:cNvSpPr txBox="1"/>
          <p:nvPr/>
        </p:nvSpPr>
        <p:spPr>
          <a:xfrm>
            <a:off x="6949439" y="2965450"/>
            <a:ext cx="4251961" cy="5740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302A3A"/>
                </a:solidFill>
                <a:latin typeface="Aptos"/>
                <a:ea typeface="Aptos"/>
                <a:cs typeface="Aptos"/>
                <a:sym typeface="Aptos"/>
              </a:defRPr>
            </a:lvl1pPr>
          </a:lstStyle>
          <a:p>
            <a:pPr/>
            <a:r>
              <a:t>Personalized recommendations using feedback and favorites</a:t>
            </a:r>
          </a:p>
        </p:txBody>
      </p:sp>
      <p:sp>
        <p:nvSpPr>
          <p:cNvPr id="201" name="TextBox 22"/>
          <p:cNvSpPr txBox="1"/>
          <p:nvPr/>
        </p:nvSpPr>
        <p:spPr>
          <a:xfrm>
            <a:off x="6702551" y="3701765"/>
            <a:ext cx="10972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78539E"/>
                </a:solidFill>
                <a:latin typeface="Aptos"/>
                <a:ea typeface="Aptos"/>
                <a:cs typeface="Aptos"/>
                <a:sym typeface="Aptos"/>
              </a:defRPr>
            </a:lvl1pPr>
          </a:lstStyle>
          <a:p>
            <a:pPr/>
            <a:r>
              <a:t>•</a:t>
            </a:r>
          </a:p>
        </p:txBody>
      </p:sp>
      <p:sp>
        <p:nvSpPr>
          <p:cNvPr id="202" name="TextBox 23"/>
          <p:cNvSpPr txBox="1"/>
          <p:nvPr/>
        </p:nvSpPr>
        <p:spPr>
          <a:xfrm>
            <a:off x="6949439" y="3701765"/>
            <a:ext cx="4251961"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302A3A"/>
                </a:solidFill>
                <a:latin typeface="Aptos"/>
                <a:ea typeface="Aptos"/>
                <a:cs typeface="Aptos"/>
                <a:sym typeface="Aptos"/>
              </a:defRPr>
            </a:lvl1pPr>
          </a:lstStyle>
          <a:p>
            <a:pPr/>
            <a:r>
              <a:t>Laundry-aware outfit selection</a:t>
            </a:r>
          </a:p>
        </p:txBody>
      </p:sp>
      <p:sp>
        <p:nvSpPr>
          <p:cNvPr id="203" name="TextBox 24"/>
          <p:cNvSpPr txBox="1"/>
          <p:nvPr/>
        </p:nvSpPr>
        <p:spPr>
          <a:xfrm>
            <a:off x="6702551" y="4232026"/>
            <a:ext cx="10972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78539E"/>
                </a:solidFill>
                <a:latin typeface="Aptos"/>
                <a:ea typeface="Aptos"/>
                <a:cs typeface="Aptos"/>
                <a:sym typeface="Aptos"/>
              </a:defRPr>
            </a:lvl1pPr>
          </a:lstStyle>
          <a:p>
            <a:pPr/>
            <a:r>
              <a:t>•</a:t>
            </a:r>
          </a:p>
        </p:txBody>
      </p:sp>
      <p:sp>
        <p:nvSpPr>
          <p:cNvPr id="204" name="TextBox 25"/>
          <p:cNvSpPr txBox="1"/>
          <p:nvPr/>
        </p:nvSpPr>
        <p:spPr>
          <a:xfrm>
            <a:off x="6949439" y="4197969"/>
            <a:ext cx="4251961"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302A3A"/>
                </a:solidFill>
                <a:latin typeface="Aptos"/>
                <a:ea typeface="Aptos"/>
                <a:cs typeface="Aptos"/>
                <a:sym typeface="Aptos"/>
              </a:defRPr>
            </a:lvl1pPr>
          </a:lstStyle>
          <a:p>
            <a:pPr/>
            <a:r>
              <a:t>Seven-day weekly outfit planning</a:t>
            </a:r>
          </a:p>
        </p:txBody>
      </p:sp>
      <p:sp>
        <p:nvSpPr>
          <p:cNvPr id="205" name="TextBox 26"/>
          <p:cNvSpPr txBox="1"/>
          <p:nvPr/>
        </p:nvSpPr>
        <p:spPr>
          <a:xfrm>
            <a:off x="6702551" y="4782311"/>
            <a:ext cx="10972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78539E"/>
                </a:solidFill>
                <a:latin typeface="Aptos"/>
                <a:ea typeface="Aptos"/>
                <a:cs typeface="Aptos"/>
                <a:sym typeface="Aptos"/>
              </a:defRPr>
            </a:lvl1pPr>
          </a:lstStyle>
          <a:p>
            <a:pPr/>
            <a:r>
              <a:t>•</a:t>
            </a:r>
          </a:p>
        </p:txBody>
      </p:sp>
      <p:sp>
        <p:nvSpPr>
          <p:cNvPr id="206" name="TextBox 27"/>
          <p:cNvSpPr txBox="1"/>
          <p:nvPr/>
        </p:nvSpPr>
        <p:spPr>
          <a:xfrm>
            <a:off x="6949439" y="4694173"/>
            <a:ext cx="4251961"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sz="1600">
                <a:latin typeface="Aptos"/>
                <a:ea typeface="Aptos"/>
                <a:cs typeface="Aptos"/>
                <a:sym typeface="Aptos"/>
              </a:defRPr>
            </a:lvl1pPr>
          </a:lstStyle>
          <a:p>
            <a:pPr/>
            <a:r>
              <a:t>Wear tracking and wardrobe utilization insights</a:t>
            </a:r>
          </a:p>
        </p:txBody>
      </p:sp>
      <p:sp>
        <p:nvSpPr>
          <p:cNvPr id="207" name="TextBox 28"/>
          <p:cNvSpPr txBox="1"/>
          <p:nvPr/>
        </p:nvSpPr>
        <p:spPr>
          <a:xfrm>
            <a:off x="6702551" y="5332597"/>
            <a:ext cx="10972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600">
                <a:solidFill>
                  <a:srgbClr val="78539E"/>
                </a:solidFill>
                <a:latin typeface="Aptos"/>
                <a:ea typeface="Aptos"/>
                <a:cs typeface="Aptos"/>
                <a:sym typeface="Aptos"/>
              </a:defRPr>
            </a:lvl1pPr>
          </a:lstStyle>
          <a:p>
            <a:pPr/>
            <a:r>
              <a:t>•</a:t>
            </a:r>
          </a:p>
        </p:txBody>
      </p:sp>
      <p:sp>
        <p:nvSpPr>
          <p:cNvPr id="208" name="TextBox 29"/>
          <p:cNvSpPr txBox="1"/>
          <p:nvPr/>
        </p:nvSpPr>
        <p:spPr>
          <a:xfrm>
            <a:off x="6949439" y="5357331"/>
            <a:ext cx="4251961"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302A3A"/>
                </a:solidFill>
                <a:latin typeface="Aptos"/>
                <a:ea typeface="Aptos"/>
                <a:cs typeface="Aptos"/>
                <a:sym typeface="Aptos"/>
              </a:defRPr>
            </a:lvl1pPr>
          </a:lstStyle>
          <a:p>
            <a:pPr/>
            <a:r>
              <a:t>Integrated wardrobe, recommendation and analytics workflow</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9FD"/>
        </a:solidFill>
      </p:bgPr>
    </p:bg>
    <p:spTree>
      <p:nvGrpSpPr>
        <p:cNvPr id="1" name=""/>
        <p:cNvGrpSpPr/>
        <p:nvPr/>
      </p:nvGrpSpPr>
      <p:grpSpPr>
        <a:xfrm>
          <a:off x="0" y="0"/>
          <a:ext cx="0" cy="0"/>
          <a:chOff x="0" y="0"/>
          <a:chExt cx="0" cy="0"/>
        </a:xfrm>
      </p:grpSpPr>
      <p:sp>
        <p:nvSpPr>
          <p:cNvPr id="210" name="TextBox 1"/>
          <p:cNvSpPr txBox="1"/>
          <p:nvPr/>
        </p:nvSpPr>
        <p:spPr>
          <a:xfrm>
            <a:off x="640079" y="320040"/>
            <a:ext cx="3076500"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a:solidFill>
                  <a:srgbClr val="583D8F"/>
                </a:solidFill>
                <a:latin typeface="Aptos"/>
                <a:ea typeface="Aptos"/>
                <a:cs typeface="Aptos"/>
                <a:sym typeface="Aptos"/>
              </a:defRPr>
            </a:lvl1pPr>
          </a:lstStyle>
          <a:p>
            <a:pPr/>
            <a:r>
              <a:t>05 · TECHNOLOGIES USED</a:t>
            </a:r>
          </a:p>
        </p:txBody>
      </p:sp>
      <p:sp>
        <p:nvSpPr>
          <p:cNvPr id="211" name="TextBox 2"/>
          <p:cNvSpPr txBox="1"/>
          <p:nvPr/>
        </p:nvSpPr>
        <p:spPr>
          <a:xfrm>
            <a:off x="668975" y="816229"/>
            <a:ext cx="1935812" cy="345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700">
                <a:solidFill>
                  <a:srgbClr val="583D8F"/>
                </a:solidFill>
                <a:latin typeface="Aptos"/>
                <a:ea typeface="Aptos"/>
                <a:cs typeface="Aptos"/>
                <a:sym typeface="Aptos"/>
              </a:defRPr>
            </a:lvl1pPr>
          </a:lstStyle>
          <a:p>
            <a:pPr/>
            <a:r>
              <a:t>Technology Stack</a:t>
            </a:r>
          </a:p>
        </p:txBody>
      </p:sp>
      <p:sp>
        <p:nvSpPr>
          <p:cNvPr id="212" name="TextBox 3"/>
          <p:cNvSpPr txBox="1"/>
          <p:nvPr/>
        </p:nvSpPr>
        <p:spPr>
          <a:xfrm>
            <a:off x="667511" y="1225296"/>
            <a:ext cx="5259163" cy="294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300">
                <a:solidFill>
                  <a:srgbClr val="69617B"/>
                </a:solidFill>
                <a:latin typeface="Aptos"/>
                <a:ea typeface="Aptos"/>
                <a:cs typeface="Aptos"/>
                <a:sym typeface="Aptos"/>
              </a:defRPr>
            </a:lvl1pPr>
          </a:lstStyle>
          <a:p>
            <a:pPr/>
            <a:r>
              <a:t>Technologies and tools used to develop the Wearlytics web application</a:t>
            </a:r>
          </a:p>
        </p:txBody>
      </p:sp>
      <p:sp>
        <p:nvSpPr>
          <p:cNvPr id="213" name="Rounded Rectangle 4"/>
          <p:cNvSpPr/>
          <p:nvPr/>
        </p:nvSpPr>
        <p:spPr>
          <a:xfrm>
            <a:off x="594359" y="1691639"/>
            <a:ext cx="5486401" cy="1234441"/>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14" name="Rectangle 5"/>
          <p:cNvSpPr/>
          <p:nvPr/>
        </p:nvSpPr>
        <p:spPr>
          <a:xfrm>
            <a:off x="704087" y="1801367"/>
            <a:ext cx="2971801" cy="329185"/>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15" name="TextBox 6"/>
          <p:cNvSpPr txBox="1"/>
          <p:nvPr/>
        </p:nvSpPr>
        <p:spPr>
          <a:xfrm>
            <a:off x="804671" y="1824227"/>
            <a:ext cx="1067252" cy="294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300">
                <a:solidFill>
                  <a:srgbClr val="583D8F"/>
                </a:solidFill>
                <a:latin typeface="Aptos"/>
                <a:ea typeface="Aptos"/>
                <a:cs typeface="Aptos"/>
                <a:sym typeface="Aptos"/>
              </a:defRPr>
            </a:lvl1pPr>
          </a:lstStyle>
          <a:p>
            <a:pPr/>
            <a:r>
              <a:t>FRONT-END</a:t>
            </a:r>
          </a:p>
        </p:txBody>
      </p:sp>
      <p:sp>
        <p:nvSpPr>
          <p:cNvPr id="216" name="TextBox 7"/>
          <p:cNvSpPr txBox="1"/>
          <p:nvPr/>
        </p:nvSpPr>
        <p:spPr>
          <a:xfrm>
            <a:off x="818926" y="2155951"/>
            <a:ext cx="3332620"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1300">
                <a:solidFill>
                  <a:srgbClr val="583D8F"/>
                </a:solidFill>
                <a:latin typeface="Aptos"/>
                <a:ea typeface="Aptos"/>
                <a:cs typeface="Aptos"/>
                <a:sym typeface="Aptos"/>
              </a:defRPr>
            </a:pPr>
            <a:r>
              <a:t>HTML5  •  Jinja2  •  CSS3  •  Bootstrap 5.3</a:t>
            </a:r>
            <a:br/>
            <a:r>
              <a:t>JavaScript  •  Google Fonts &amp; Icons</a:t>
            </a:r>
          </a:p>
        </p:txBody>
      </p:sp>
      <p:sp>
        <p:nvSpPr>
          <p:cNvPr id="217" name="TextBox 8"/>
          <p:cNvSpPr txBox="1"/>
          <p:nvPr/>
        </p:nvSpPr>
        <p:spPr>
          <a:xfrm>
            <a:off x="841247" y="2679192"/>
            <a:ext cx="3388729" cy="256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100">
                <a:solidFill>
                  <a:srgbClr val="69617B"/>
                </a:solidFill>
                <a:latin typeface="Aptos"/>
                <a:ea typeface="Aptos"/>
                <a:cs typeface="Aptos"/>
                <a:sym typeface="Aptos"/>
              </a:defRPr>
            </a:lvl1pPr>
          </a:lstStyle>
          <a:p>
            <a:pPr/>
            <a:r>
              <a:t>Responsive UI, templates and client-side interactions</a:t>
            </a:r>
          </a:p>
        </p:txBody>
      </p:sp>
      <p:sp>
        <p:nvSpPr>
          <p:cNvPr id="218" name="Rounded Rectangle 9"/>
          <p:cNvSpPr/>
          <p:nvPr/>
        </p:nvSpPr>
        <p:spPr>
          <a:xfrm>
            <a:off x="6263640" y="1691639"/>
            <a:ext cx="5349241" cy="1234441"/>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19" name="Rectangle 10"/>
          <p:cNvSpPr/>
          <p:nvPr/>
        </p:nvSpPr>
        <p:spPr>
          <a:xfrm>
            <a:off x="6373367" y="1801367"/>
            <a:ext cx="2971801" cy="329185"/>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20" name="TextBox 11"/>
          <p:cNvSpPr txBox="1"/>
          <p:nvPr/>
        </p:nvSpPr>
        <p:spPr>
          <a:xfrm>
            <a:off x="6473950" y="1824227"/>
            <a:ext cx="984621" cy="294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300">
                <a:solidFill>
                  <a:srgbClr val="583D8F"/>
                </a:solidFill>
                <a:latin typeface="Aptos"/>
                <a:ea typeface="Aptos"/>
                <a:cs typeface="Aptos"/>
                <a:sym typeface="Aptos"/>
              </a:defRPr>
            </a:lvl1pPr>
          </a:lstStyle>
          <a:p>
            <a:pPr/>
            <a:r>
              <a:t>BACK-END</a:t>
            </a:r>
          </a:p>
        </p:txBody>
      </p:sp>
      <p:sp>
        <p:nvSpPr>
          <p:cNvPr id="221" name="TextBox 12"/>
          <p:cNvSpPr txBox="1"/>
          <p:nvPr/>
        </p:nvSpPr>
        <p:spPr>
          <a:xfrm>
            <a:off x="6510526" y="2155951"/>
            <a:ext cx="3073120"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1300">
                <a:solidFill>
                  <a:srgbClr val="583D8F"/>
                </a:solidFill>
                <a:latin typeface="Aptos"/>
                <a:ea typeface="Aptos"/>
                <a:cs typeface="Aptos"/>
                <a:sym typeface="Aptos"/>
              </a:defRPr>
            </a:pPr>
            <a:r>
              <a:t>Python  •  Flask  •  Flask-SQLAlchemy</a:t>
            </a:r>
            <a:br/>
            <a:r>
              <a:t>Flask-Login  •  Werkzeug</a:t>
            </a:r>
          </a:p>
        </p:txBody>
      </p:sp>
      <p:sp>
        <p:nvSpPr>
          <p:cNvPr id="222" name="TextBox 13"/>
          <p:cNvSpPr txBox="1"/>
          <p:nvPr/>
        </p:nvSpPr>
        <p:spPr>
          <a:xfrm>
            <a:off x="6510526" y="2679192"/>
            <a:ext cx="3575700" cy="256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100">
                <a:solidFill>
                  <a:srgbClr val="69617B"/>
                </a:solidFill>
                <a:latin typeface="Aptos"/>
                <a:ea typeface="Aptos"/>
                <a:cs typeface="Aptos"/>
                <a:sym typeface="Aptos"/>
              </a:defRPr>
            </a:lvl1pPr>
          </a:lstStyle>
          <a:p>
            <a:pPr/>
            <a:r>
              <a:t>Application logic, authentication and secure file handling</a:t>
            </a:r>
          </a:p>
        </p:txBody>
      </p:sp>
      <p:sp>
        <p:nvSpPr>
          <p:cNvPr id="223" name="Rounded Rectangle 14"/>
          <p:cNvSpPr/>
          <p:nvPr/>
        </p:nvSpPr>
        <p:spPr>
          <a:xfrm>
            <a:off x="594359" y="3063239"/>
            <a:ext cx="5486401" cy="1234441"/>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24" name="Rectangle 15"/>
          <p:cNvSpPr/>
          <p:nvPr/>
        </p:nvSpPr>
        <p:spPr>
          <a:xfrm>
            <a:off x="704087" y="3172967"/>
            <a:ext cx="2971801" cy="329185"/>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25" name="TextBox 16"/>
          <p:cNvSpPr txBox="1"/>
          <p:nvPr/>
        </p:nvSpPr>
        <p:spPr>
          <a:xfrm>
            <a:off x="804671" y="3195827"/>
            <a:ext cx="997036" cy="294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300">
                <a:solidFill>
                  <a:srgbClr val="583D8F"/>
                </a:solidFill>
                <a:latin typeface="Aptos"/>
                <a:ea typeface="Aptos"/>
                <a:cs typeface="Aptos"/>
                <a:sym typeface="Aptos"/>
              </a:defRPr>
            </a:lvl1pPr>
          </a:lstStyle>
          <a:p>
            <a:pPr/>
            <a:r>
              <a:t>DATABASE</a:t>
            </a:r>
          </a:p>
        </p:txBody>
      </p:sp>
      <p:sp>
        <p:nvSpPr>
          <p:cNvPr id="226" name="TextBox 17"/>
          <p:cNvSpPr txBox="1"/>
          <p:nvPr/>
        </p:nvSpPr>
        <p:spPr>
          <a:xfrm>
            <a:off x="826800" y="3525520"/>
            <a:ext cx="5715281"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defRPr b="1" sz="1300">
                <a:solidFill>
                  <a:srgbClr val="583D8F"/>
                </a:solidFill>
                <a:latin typeface="Aptos"/>
                <a:ea typeface="Aptos"/>
                <a:cs typeface="Aptos"/>
                <a:sym typeface="Aptos"/>
              </a:defRPr>
            </a:pPr>
            <a:r>
              <a:t>MySQL  •  SQLite (development)  •  SQLAlchemy</a:t>
            </a:r>
            <a:br/>
            <a:r>
              <a:t>PyMySQL</a:t>
            </a:r>
          </a:p>
        </p:txBody>
      </p:sp>
      <p:sp>
        <p:nvSpPr>
          <p:cNvPr id="227" name="TextBox 18"/>
          <p:cNvSpPr txBox="1"/>
          <p:nvPr/>
        </p:nvSpPr>
        <p:spPr>
          <a:xfrm>
            <a:off x="841247" y="4050791"/>
            <a:ext cx="3567515" cy="256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100">
                <a:solidFill>
                  <a:srgbClr val="69617B"/>
                </a:solidFill>
                <a:latin typeface="Aptos"/>
                <a:ea typeface="Aptos"/>
                <a:cs typeface="Aptos"/>
                <a:sym typeface="Aptos"/>
              </a:defRPr>
            </a:lvl1pPr>
          </a:lstStyle>
          <a:p>
            <a:pPr/>
            <a:r>
              <a:t>Relational storage for users, wardrobe, outfits and plans</a:t>
            </a:r>
          </a:p>
        </p:txBody>
      </p:sp>
      <p:sp>
        <p:nvSpPr>
          <p:cNvPr id="228" name="Rounded Rectangle 19"/>
          <p:cNvSpPr/>
          <p:nvPr/>
        </p:nvSpPr>
        <p:spPr>
          <a:xfrm>
            <a:off x="6263640" y="3063239"/>
            <a:ext cx="5349241" cy="1234441"/>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29" name="Rectangle 20"/>
          <p:cNvSpPr/>
          <p:nvPr/>
        </p:nvSpPr>
        <p:spPr>
          <a:xfrm>
            <a:off x="6373367" y="3172967"/>
            <a:ext cx="2971801" cy="329185"/>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30" name="TextBox 21"/>
          <p:cNvSpPr txBox="1"/>
          <p:nvPr/>
        </p:nvSpPr>
        <p:spPr>
          <a:xfrm>
            <a:off x="6473950" y="3195827"/>
            <a:ext cx="2718252" cy="294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300">
                <a:solidFill>
                  <a:srgbClr val="583D8F"/>
                </a:solidFill>
                <a:latin typeface="Aptos"/>
                <a:ea typeface="Aptos"/>
                <a:cs typeface="Aptos"/>
                <a:sym typeface="Aptos"/>
              </a:defRPr>
            </a:lvl1pPr>
          </a:lstStyle>
          <a:p>
            <a:pPr/>
            <a:r>
              <a:t>DEVELOPMENT / FRAMEWORKS</a:t>
            </a:r>
          </a:p>
        </p:txBody>
      </p:sp>
      <p:sp>
        <p:nvSpPr>
          <p:cNvPr id="231" name="TextBox 22"/>
          <p:cNvSpPr txBox="1"/>
          <p:nvPr/>
        </p:nvSpPr>
        <p:spPr>
          <a:xfrm>
            <a:off x="6510526" y="3519677"/>
            <a:ext cx="4186658"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1300">
                <a:solidFill>
                  <a:srgbClr val="583D8F"/>
                </a:solidFill>
                <a:latin typeface="Aptos"/>
                <a:ea typeface="Aptos"/>
                <a:cs typeface="Aptos"/>
                <a:sym typeface="Aptos"/>
              </a:defRPr>
            </a:pPr>
            <a:r>
              <a:t>Flask Application Factory  •  Flask-Migrate / Alembic</a:t>
            </a:r>
            <a:br/>
            <a:r>
              <a:t>python-dotenv  •  Git / GitHub  •  Pytest</a:t>
            </a:r>
          </a:p>
        </p:txBody>
      </p:sp>
      <p:sp>
        <p:nvSpPr>
          <p:cNvPr id="232" name="TextBox 23"/>
          <p:cNvSpPr txBox="1"/>
          <p:nvPr/>
        </p:nvSpPr>
        <p:spPr>
          <a:xfrm>
            <a:off x="6510526" y="4050791"/>
            <a:ext cx="3668265" cy="256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100">
                <a:solidFill>
                  <a:srgbClr val="69617B"/>
                </a:solidFill>
                <a:latin typeface="Aptos"/>
                <a:ea typeface="Aptos"/>
                <a:cs typeface="Aptos"/>
                <a:sym typeface="Aptos"/>
              </a:defRPr>
            </a:lvl1pPr>
          </a:lstStyle>
          <a:p>
            <a:pPr/>
            <a:r>
              <a:t>Modular architecture, migrations, environment and testing</a:t>
            </a:r>
          </a:p>
        </p:txBody>
      </p:sp>
      <p:sp>
        <p:nvSpPr>
          <p:cNvPr id="233" name="Rounded Rectangle 24"/>
          <p:cNvSpPr/>
          <p:nvPr/>
        </p:nvSpPr>
        <p:spPr>
          <a:xfrm>
            <a:off x="594359" y="4434840"/>
            <a:ext cx="5486401" cy="1234441"/>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34" name="Rectangle 25"/>
          <p:cNvSpPr/>
          <p:nvPr/>
        </p:nvSpPr>
        <p:spPr>
          <a:xfrm>
            <a:off x="704087" y="4544567"/>
            <a:ext cx="2971801" cy="329185"/>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35" name="TextBox 26"/>
          <p:cNvSpPr txBox="1"/>
          <p:nvPr/>
        </p:nvSpPr>
        <p:spPr>
          <a:xfrm>
            <a:off x="804671" y="4567427"/>
            <a:ext cx="2085341" cy="294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300">
                <a:solidFill>
                  <a:srgbClr val="583D8F"/>
                </a:solidFill>
                <a:latin typeface="Aptos"/>
                <a:ea typeface="Aptos"/>
                <a:cs typeface="Aptos"/>
                <a:sym typeface="Aptos"/>
              </a:defRPr>
            </a:lvl1pPr>
          </a:lstStyle>
          <a:p>
            <a:pPr/>
            <a:r>
              <a:t>AI / MACHINE LEARNING</a:t>
            </a:r>
          </a:p>
        </p:txBody>
      </p:sp>
      <p:sp>
        <p:nvSpPr>
          <p:cNvPr id="236" name="TextBox 27"/>
          <p:cNvSpPr txBox="1"/>
          <p:nvPr/>
        </p:nvSpPr>
        <p:spPr>
          <a:xfrm>
            <a:off x="910546" y="4899151"/>
            <a:ext cx="3149381"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1300">
                <a:solidFill>
                  <a:srgbClr val="583D8F"/>
                </a:solidFill>
                <a:latin typeface="Aptos"/>
                <a:ea typeface="Aptos"/>
                <a:cs typeface="Aptos"/>
                <a:sym typeface="Aptos"/>
              </a:defRPr>
            </a:pPr>
            <a:r>
              <a:t>PyTorch  •  Torchvision  •  MobileNetV2</a:t>
            </a:r>
            <a:br/>
            <a:r>
              <a:t>Scikit-learn  •  NumPy  •  Pillow</a:t>
            </a:r>
          </a:p>
        </p:txBody>
      </p:sp>
      <p:sp>
        <p:nvSpPr>
          <p:cNvPr id="237" name="TextBox 28"/>
          <p:cNvSpPr txBox="1"/>
          <p:nvPr/>
        </p:nvSpPr>
        <p:spPr>
          <a:xfrm>
            <a:off x="841247" y="5422391"/>
            <a:ext cx="3287978" cy="256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100">
                <a:solidFill>
                  <a:srgbClr val="69617B"/>
                </a:solidFill>
                <a:latin typeface="Aptos"/>
                <a:ea typeface="Aptos"/>
                <a:cs typeface="Aptos"/>
                <a:sym typeface="Aptos"/>
              </a:defRPr>
            </a:lvl1pPr>
          </a:lstStyle>
          <a:p>
            <a:pPr/>
            <a:r>
              <a:t>Clothing classification and dominant-color detection</a:t>
            </a:r>
          </a:p>
        </p:txBody>
      </p:sp>
      <p:sp>
        <p:nvSpPr>
          <p:cNvPr id="238" name="Rounded Rectangle 29"/>
          <p:cNvSpPr/>
          <p:nvPr/>
        </p:nvSpPr>
        <p:spPr>
          <a:xfrm>
            <a:off x="6263640" y="4434840"/>
            <a:ext cx="5349241" cy="1234441"/>
          </a:xfrm>
          <a:prstGeom prst="roundRect">
            <a:avLst>
              <a:gd name="adj" fmla="val 16667"/>
            </a:avLst>
          </a:prstGeom>
          <a:solidFill>
            <a:srgbClr val="FFFFFF"/>
          </a:solidFill>
          <a:ln w="13970">
            <a:solidFill>
              <a:srgbClr val="D2C9E5"/>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39" name="Rectangle 30"/>
          <p:cNvSpPr/>
          <p:nvPr/>
        </p:nvSpPr>
        <p:spPr>
          <a:xfrm>
            <a:off x="6373367" y="4544567"/>
            <a:ext cx="2971801" cy="329185"/>
          </a:xfrm>
          <a:prstGeom prst="rect">
            <a:avLst/>
          </a:prstGeom>
          <a:solidFill>
            <a:srgbClr val="F6F3FB"/>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240" name="TextBox 31"/>
          <p:cNvSpPr txBox="1"/>
          <p:nvPr/>
        </p:nvSpPr>
        <p:spPr>
          <a:xfrm>
            <a:off x="6473950" y="4567427"/>
            <a:ext cx="1654372" cy="294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300">
                <a:solidFill>
                  <a:srgbClr val="583D8F"/>
                </a:solidFill>
                <a:latin typeface="Aptos"/>
                <a:ea typeface="Aptos"/>
                <a:cs typeface="Aptos"/>
                <a:sym typeface="Aptos"/>
              </a:defRPr>
            </a:lvl1pPr>
          </a:lstStyle>
          <a:p>
            <a:pPr/>
            <a:r>
              <a:t>COMPUTER VISION</a:t>
            </a:r>
          </a:p>
        </p:txBody>
      </p:sp>
      <p:sp>
        <p:nvSpPr>
          <p:cNvPr id="241" name="TextBox 32"/>
          <p:cNvSpPr txBox="1"/>
          <p:nvPr/>
        </p:nvSpPr>
        <p:spPr>
          <a:xfrm>
            <a:off x="6539421" y="4899151"/>
            <a:ext cx="3867905"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b="1" sz="1300">
                <a:solidFill>
                  <a:srgbClr val="583D8F"/>
                </a:solidFill>
                <a:latin typeface="Aptos"/>
                <a:ea typeface="Aptos"/>
                <a:cs typeface="Aptos"/>
                <a:sym typeface="Aptos"/>
              </a:defRPr>
            </a:pPr>
            <a:r>
              <a:t>OpenCV  •  Image preprocessing</a:t>
            </a:r>
            <a:br/>
            <a:r>
              <a:t>K-Means clustering  •  Dominant-color detection</a:t>
            </a:r>
          </a:p>
        </p:txBody>
      </p:sp>
      <p:sp>
        <p:nvSpPr>
          <p:cNvPr id="242" name="TextBox 33"/>
          <p:cNvSpPr txBox="1"/>
          <p:nvPr/>
        </p:nvSpPr>
        <p:spPr>
          <a:xfrm>
            <a:off x="6510526" y="5422391"/>
            <a:ext cx="2363830" cy="256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100">
                <a:solidFill>
                  <a:srgbClr val="69617B"/>
                </a:solidFill>
                <a:latin typeface="Aptos"/>
                <a:ea typeface="Aptos"/>
                <a:cs typeface="Aptos"/>
                <a:sym typeface="Aptos"/>
              </a:defRPr>
            </a:lvl1pPr>
          </a:lstStyle>
          <a:p>
            <a:pPr/>
            <a:r>
              <a:t>Image processing and color analysis</a:t>
            </a:r>
          </a:p>
        </p:txBody>
      </p:sp>
      <p:sp>
        <p:nvSpPr>
          <p:cNvPr id="243" name="TextBox 34"/>
          <p:cNvSpPr txBox="1"/>
          <p:nvPr/>
        </p:nvSpPr>
        <p:spPr>
          <a:xfrm>
            <a:off x="2351070" y="6005067"/>
            <a:ext cx="7477160" cy="269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200">
                <a:solidFill>
                  <a:srgbClr val="583D8F"/>
                </a:solidFill>
                <a:latin typeface="Aptos"/>
                <a:ea typeface="Aptos"/>
                <a:cs typeface="Aptos"/>
                <a:sym typeface="Aptos"/>
              </a:defRPr>
            </a:lvl1pPr>
          </a:lstStyle>
          <a:p>
            <a:pPr/>
            <a:r>
              <a:t>Core stack: Python + Flask + SQLAlchemy  |  AI: MobileNetV2 + K-Means  |  Database: MySQL / SQLite</a:t>
            </a:r>
          </a:p>
        </p:txBody>
      </p:sp>
      <p:sp>
        <p:nvSpPr>
          <p:cNvPr id="244" name="TextBox 35"/>
          <p:cNvSpPr txBox="1"/>
          <p:nvPr/>
        </p:nvSpPr>
        <p:spPr>
          <a:xfrm>
            <a:off x="640079" y="6547104"/>
            <a:ext cx="1564542" cy="218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800">
                <a:solidFill>
                  <a:srgbClr val="69617B"/>
                </a:solidFill>
                <a:latin typeface="Aptos"/>
                <a:ea typeface="Aptos"/>
                <a:cs typeface="Aptos"/>
                <a:sym typeface="Aptos"/>
              </a:defRPr>
            </a:lvl1pPr>
          </a:lstStyle>
          <a:p>
            <a:pPr/>
            <a:r>
              <a:t>Wearlytics  —  MCA Mini Project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TextBox 1"/>
          <p:cNvSpPr txBox="1"/>
          <p:nvPr/>
        </p:nvSpPr>
        <p:spPr>
          <a:xfrm>
            <a:off x="640079" y="344390"/>
            <a:ext cx="4365618" cy="362780"/>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defRPr b="1" spc="322" sz="2100">
                <a:solidFill>
                  <a:srgbClr val="6C4FE0"/>
                </a:solidFill>
                <a:latin typeface="+mn-lt"/>
                <a:ea typeface="+mn-ea"/>
                <a:cs typeface="+mn-cs"/>
                <a:sym typeface="Calibri"/>
              </a:defRPr>
            </a:lvl1pPr>
          </a:lstStyle>
          <a:p>
            <a:pPr/>
            <a:r>
              <a:t>07  ·  SYSTEM ARCHITECTURE</a:t>
            </a:r>
          </a:p>
        </p:txBody>
      </p:sp>
      <p:pic>
        <p:nvPicPr>
          <p:cNvPr id="247" name="Image" descr="Image"/>
          <p:cNvPicPr>
            <a:picLocks noChangeAspect="1"/>
          </p:cNvPicPr>
          <p:nvPr/>
        </p:nvPicPr>
        <p:blipFill>
          <a:blip r:embed="rId2">
            <a:extLst/>
          </a:blip>
          <a:srcRect l="0" t="13662" r="0" b="0"/>
          <a:stretch>
            <a:fillRect/>
          </a:stretch>
        </p:blipFill>
        <p:spPr>
          <a:xfrm>
            <a:off x="845017" y="893604"/>
            <a:ext cx="10287001" cy="592105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TextBox 1"/>
          <p:cNvSpPr txBox="1"/>
          <p:nvPr/>
        </p:nvSpPr>
        <p:spPr>
          <a:xfrm>
            <a:off x="640080" y="320040"/>
            <a:ext cx="10881360" cy="787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rgbClr val="5A4291"/>
                </a:solidFill>
              </a:defRPr>
            </a:pPr>
            <a:r>
              <a:t>06 · SYSTEM DESIGN — DFD LEVEL 0 </a:t>
            </a:r>
          </a:p>
          <a:p>
            <a:pPr>
              <a:defRPr b="1" sz="1600">
                <a:solidFill>
                  <a:srgbClr val="5A4291"/>
                </a:solidFill>
              </a:defRPr>
            </a:pPr>
            <a:r>
              <a:t>(User → Wearlytics System → User)</a:t>
            </a:r>
          </a:p>
        </p:txBody>
      </p:sp>
      <p:sp>
        <p:nvSpPr>
          <p:cNvPr id="250" name="TextBox 2"/>
          <p:cNvSpPr txBox="1"/>
          <p:nvPr/>
        </p:nvSpPr>
        <p:spPr>
          <a:xfrm>
            <a:off x="640080" y="1040890"/>
            <a:ext cx="1088136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685F79"/>
                </a:solidFill>
                <a:latin typeface="Arial"/>
                <a:ea typeface="Arial"/>
                <a:cs typeface="Arial"/>
                <a:sym typeface="Arial"/>
              </a:defRPr>
            </a:lvl1pPr>
          </a:lstStyle>
          <a:p>
            <a:pPr/>
            <a:r>
              <a:t>Highest-level view: boundary interactions between actors and the Wearlytics system</a:t>
            </a:r>
          </a:p>
        </p:txBody>
      </p:sp>
      <p:grpSp>
        <p:nvGrpSpPr>
          <p:cNvPr id="253" name="Rectangle 3"/>
          <p:cNvGrpSpPr/>
          <p:nvPr/>
        </p:nvGrpSpPr>
        <p:grpSpPr>
          <a:xfrm>
            <a:off x="822959" y="2331719"/>
            <a:ext cx="2435413" cy="1656081"/>
            <a:chOff x="0" y="0"/>
            <a:chExt cx="2435411" cy="1656079"/>
          </a:xfrm>
        </p:grpSpPr>
        <p:sp>
          <p:nvSpPr>
            <p:cNvPr id="251" name="Rectangle"/>
            <p:cNvSpPr/>
            <p:nvPr/>
          </p:nvSpPr>
          <p:spPr>
            <a:xfrm>
              <a:off x="0" y="-1"/>
              <a:ext cx="2435412" cy="1656081"/>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252" name="USER / ADMIN…"/>
            <p:cNvSpPr txBox="1"/>
            <p:nvPr/>
          </p:nvSpPr>
          <p:spPr>
            <a:xfrm>
              <a:off x="35516" y="327427"/>
              <a:ext cx="2364380" cy="10012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p>
              <a:pPr algn="ctr">
                <a:defRPr b="1" sz="1200">
                  <a:solidFill>
                    <a:srgbClr val="5A4291"/>
                  </a:solidFill>
                </a:defRPr>
              </a:pPr>
              <a:r>
                <a:t>USER / ADMIN</a:t>
              </a:r>
              <a:endParaRPr sz="1300">
                <a:solidFill>
                  <a:srgbClr val="FFFFFF"/>
                </a:solidFill>
              </a:endParaRPr>
            </a:p>
            <a:p>
              <a:pPr algn="ctr">
                <a:defRPr b="1" sz="1200">
                  <a:solidFill>
                    <a:srgbClr val="5A4291"/>
                  </a:solidFill>
                </a:defRPr>
              </a:pPr>
              <a:endParaRPr>
                <a:solidFill>
                  <a:srgbClr val="FFFFFF"/>
                </a:solidFill>
              </a:endParaRPr>
            </a:p>
            <a:p>
              <a:pPr algn="ctr">
                <a:defRPr b="1" sz="1200">
                  <a:solidFill>
                    <a:srgbClr val="5A4291"/>
                  </a:solidFill>
                </a:defRPr>
              </a:pPr>
              <a:r>
                <a:t>Wardrobe Owner</a:t>
              </a:r>
              <a:endParaRPr>
                <a:solidFill>
                  <a:srgbClr val="FFFFFF"/>
                </a:solidFill>
              </a:endParaRPr>
            </a:p>
            <a:p>
              <a:pPr algn="ctr">
                <a:defRPr b="1" sz="1200">
                  <a:solidFill>
                    <a:srgbClr val="5A4291"/>
                  </a:solidFill>
                </a:defRPr>
              </a:pPr>
              <a:r>
                <a:t>Fashion Client</a:t>
              </a:r>
              <a:endParaRPr>
                <a:solidFill>
                  <a:srgbClr val="FFFFFF"/>
                </a:solidFill>
              </a:endParaRPr>
            </a:p>
            <a:p>
              <a:pPr algn="ctr">
                <a:defRPr b="1" sz="1200">
                  <a:solidFill>
                    <a:srgbClr val="5A4291"/>
                  </a:solidFill>
                </a:defRPr>
              </a:pPr>
              <a:r>
                <a:t>System Admin</a:t>
              </a:r>
            </a:p>
          </p:txBody>
        </p:sp>
      </p:grpSp>
      <p:grpSp>
        <p:nvGrpSpPr>
          <p:cNvPr id="256" name="Oval 4"/>
          <p:cNvGrpSpPr/>
          <p:nvPr/>
        </p:nvGrpSpPr>
        <p:grpSpPr>
          <a:xfrm>
            <a:off x="4937759" y="1920239"/>
            <a:ext cx="2286001" cy="2377441"/>
            <a:chOff x="0" y="0"/>
            <a:chExt cx="2286000" cy="2377439"/>
          </a:xfrm>
        </p:grpSpPr>
        <p:sp>
          <p:nvSpPr>
            <p:cNvPr id="254" name="Oval"/>
            <p:cNvSpPr/>
            <p:nvPr/>
          </p:nvSpPr>
          <p:spPr>
            <a:xfrm>
              <a:off x="0" y="0"/>
              <a:ext cx="2286000" cy="2377440"/>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255" name="0.0…"/>
            <p:cNvSpPr txBox="1"/>
            <p:nvPr/>
          </p:nvSpPr>
          <p:spPr>
            <a:xfrm>
              <a:off x="369701" y="820419"/>
              <a:ext cx="1546598" cy="736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500">
                  <a:solidFill>
                    <a:srgbClr val="5A4291"/>
                  </a:solidFill>
                </a:defRPr>
              </a:pPr>
              <a:r>
                <a:t>0.0</a:t>
              </a:r>
              <a:endParaRPr>
                <a:solidFill>
                  <a:srgbClr val="FFFFFF"/>
                </a:solidFill>
              </a:endParaRPr>
            </a:p>
            <a:p>
              <a:pPr algn="ctr">
                <a:defRPr b="1" sz="1500">
                  <a:solidFill>
                    <a:srgbClr val="5A4291"/>
                  </a:solidFill>
                </a:defRPr>
              </a:pPr>
              <a:r>
                <a:t>WEARLYTICS</a:t>
              </a:r>
              <a:endParaRPr>
                <a:solidFill>
                  <a:srgbClr val="FFFFFF"/>
                </a:solidFill>
              </a:endParaRPr>
            </a:p>
            <a:p>
              <a:pPr algn="ctr">
                <a:defRPr b="1" sz="1500">
                  <a:solidFill>
                    <a:srgbClr val="5A4291"/>
                  </a:solidFill>
                </a:defRPr>
              </a:pPr>
              <a:r>
                <a:t>SYSTEM</a:t>
              </a:r>
            </a:p>
          </p:txBody>
        </p:sp>
      </p:grpSp>
      <p:grpSp>
        <p:nvGrpSpPr>
          <p:cNvPr id="259" name="Rectangle 5"/>
          <p:cNvGrpSpPr/>
          <p:nvPr/>
        </p:nvGrpSpPr>
        <p:grpSpPr>
          <a:xfrm>
            <a:off x="9052559" y="2331720"/>
            <a:ext cx="2435413" cy="1656080"/>
            <a:chOff x="0" y="0"/>
            <a:chExt cx="2435411" cy="1656079"/>
          </a:xfrm>
        </p:grpSpPr>
        <p:sp>
          <p:nvSpPr>
            <p:cNvPr id="257" name="Rectangle"/>
            <p:cNvSpPr/>
            <p:nvPr/>
          </p:nvSpPr>
          <p:spPr>
            <a:xfrm>
              <a:off x="0" y="-1"/>
              <a:ext cx="2435412" cy="1656081"/>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258" name="USER / ADMIN…"/>
            <p:cNvSpPr txBox="1"/>
            <p:nvPr/>
          </p:nvSpPr>
          <p:spPr>
            <a:xfrm>
              <a:off x="35516" y="259777"/>
              <a:ext cx="2364380" cy="113652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p>
              <a:pPr algn="ctr">
                <a:defRPr b="1" sz="1300">
                  <a:solidFill>
                    <a:srgbClr val="5A4291"/>
                  </a:solidFill>
                </a:defRPr>
              </a:pPr>
              <a:r>
                <a:t>USER / ADMIN</a:t>
              </a:r>
              <a:endParaRPr>
                <a:solidFill>
                  <a:srgbClr val="FFFFFF"/>
                </a:solidFill>
              </a:endParaRPr>
            </a:p>
            <a:p>
              <a:pPr algn="ctr">
                <a:defRPr b="1" sz="1300">
                  <a:solidFill>
                    <a:srgbClr val="5A4291"/>
                  </a:solidFill>
                </a:defRPr>
              </a:pPr>
              <a:endParaRPr>
                <a:solidFill>
                  <a:srgbClr val="FFFFFF"/>
                </a:solidFill>
              </a:endParaRPr>
            </a:p>
            <a:p>
              <a:pPr algn="ctr">
                <a:defRPr b="1" sz="1300">
                  <a:solidFill>
                    <a:srgbClr val="5A4291"/>
                  </a:solidFill>
                </a:defRPr>
              </a:pPr>
              <a:r>
                <a:t>Wardrobe Owner</a:t>
              </a:r>
              <a:endParaRPr>
                <a:solidFill>
                  <a:srgbClr val="FFFFFF"/>
                </a:solidFill>
              </a:endParaRPr>
            </a:p>
            <a:p>
              <a:pPr algn="ctr">
                <a:defRPr b="1" sz="1300">
                  <a:solidFill>
                    <a:srgbClr val="5A4291"/>
                  </a:solidFill>
                </a:defRPr>
              </a:pPr>
              <a:r>
                <a:t>Fashion Client</a:t>
              </a:r>
              <a:endParaRPr>
                <a:solidFill>
                  <a:srgbClr val="FFFFFF"/>
                </a:solidFill>
              </a:endParaRPr>
            </a:p>
            <a:p>
              <a:pPr algn="ctr">
                <a:defRPr b="1" sz="1300">
                  <a:solidFill>
                    <a:srgbClr val="5A4291"/>
                  </a:solidFill>
                </a:defRPr>
              </a:pPr>
              <a:r>
                <a:t>System Admin</a:t>
              </a:r>
            </a:p>
          </p:txBody>
        </p:sp>
      </p:grpSp>
      <p:sp>
        <p:nvSpPr>
          <p:cNvPr id="260" name="Connector 6"/>
          <p:cNvSpPr/>
          <p:nvPr/>
        </p:nvSpPr>
        <p:spPr>
          <a:xfrm>
            <a:off x="3108960" y="2880360"/>
            <a:ext cx="1783079"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261" name="TextBox 7"/>
          <p:cNvSpPr txBox="1"/>
          <p:nvPr/>
        </p:nvSpPr>
        <p:spPr>
          <a:xfrm>
            <a:off x="3268979" y="2596895"/>
            <a:ext cx="1463041" cy="19738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400">
                <a:solidFill>
                  <a:srgbClr val="5A4291"/>
                </a:solidFill>
                <a:latin typeface="Arial"/>
                <a:ea typeface="Arial"/>
                <a:cs typeface="Arial"/>
                <a:sym typeface="Arial"/>
              </a:defRPr>
            </a:lvl1pPr>
          </a:lstStyle>
          <a:p>
            <a:pPr/>
            <a:r>
              <a:t>request</a:t>
            </a:r>
          </a:p>
        </p:txBody>
      </p:sp>
      <p:sp>
        <p:nvSpPr>
          <p:cNvPr id="262" name="TextBox 8"/>
          <p:cNvSpPr txBox="1"/>
          <p:nvPr/>
        </p:nvSpPr>
        <p:spPr>
          <a:xfrm>
            <a:off x="3235511" y="3127151"/>
            <a:ext cx="1725109" cy="6050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100">
                <a:solidFill>
                  <a:srgbClr val="685F79"/>
                </a:solidFill>
                <a:latin typeface="Arial"/>
                <a:ea typeface="Arial"/>
                <a:cs typeface="Arial"/>
                <a:sym typeface="Arial"/>
              </a:defRPr>
            </a:pPr>
            <a:r>
              <a:t>Credentials · Garment details ·</a:t>
            </a:r>
          </a:p>
          <a:p>
            <a:pPr algn="ctr">
              <a:defRPr sz="1100">
                <a:solidFill>
                  <a:srgbClr val="685F79"/>
                </a:solidFill>
                <a:latin typeface="Arial"/>
                <a:ea typeface="Arial"/>
                <a:cs typeface="Arial"/>
                <a:sym typeface="Arial"/>
              </a:defRPr>
            </a:pPr>
            <a:r>
              <a:t>Styling filters · Schedule · Feedback</a:t>
            </a:r>
          </a:p>
        </p:txBody>
      </p:sp>
      <p:sp>
        <p:nvSpPr>
          <p:cNvPr id="263" name="Connector 9"/>
          <p:cNvSpPr/>
          <p:nvPr/>
        </p:nvSpPr>
        <p:spPr>
          <a:xfrm>
            <a:off x="7223759" y="2880360"/>
            <a:ext cx="1783080"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264" name="TextBox 10"/>
          <p:cNvSpPr txBox="1"/>
          <p:nvPr/>
        </p:nvSpPr>
        <p:spPr>
          <a:xfrm>
            <a:off x="7383780" y="2596895"/>
            <a:ext cx="1463041" cy="19738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400">
                <a:solidFill>
                  <a:srgbClr val="5A4291"/>
                </a:solidFill>
                <a:latin typeface="Arial"/>
                <a:ea typeface="Arial"/>
                <a:cs typeface="Arial"/>
                <a:sym typeface="Arial"/>
              </a:defRPr>
            </a:lvl1pPr>
          </a:lstStyle>
          <a:p>
            <a:pPr/>
            <a:r>
              <a:t>response</a:t>
            </a:r>
          </a:p>
        </p:txBody>
      </p:sp>
      <p:sp>
        <p:nvSpPr>
          <p:cNvPr id="265" name="TextBox 11"/>
          <p:cNvSpPr txBox="1"/>
          <p:nvPr/>
        </p:nvSpPr>
        <p:spPr>
          <a:xfrm>
            <a:off x="7155180" y="3026664"/>
            <a:ext cx="1920241" cy="6050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100">
                <a:solidFill>
                  <a:srgbClr val="685F79"/>
                </a:solidFill>
                <a:latin typeface="Arial"/>
                <a:ea typeface="Arial"/>
                <a:cs typeface="Arial"/>
                <a:sym typeface="Arial"/>
              </a:defRPr>
            </a:pPr>
            <a:r>
              <a:t>Auth status · Wardrobe catalog ·</a:t>
            </a:r>
          </a:p>
          <a:p>
            <a:pPr algn="ctr">
              <a:defRPr sz="1100">
                <a:solidFill>
                  <a:srgbClr val="685F79"/>
                </a:solidFill>
                <a:latin typeface="Arial"/>
                <a:ea typeface="Arial"/>
                <a:cs typeface="Arial"/>
                <a:sym typeface="Arial"/>
              </a:defRPr>
            </a:pPr>
            <a:r>
              <a:t>AI outfits · Weekly plan · Analytics</a:t>
            </a:r>
          </a:p>
        </p:txBody>
      </p:sp>
      <p:sp>
        <p:nvSpPr>
          <p:cNvPr id="266" name="TextBox 12"/>
          <p:cNvSpPr txBox="1"/>
          <p:nvPr/>
        </p:nvSpPr>
        <p:spPr>
          <a:xfrm>
            <a:off x="822960" y="5029200"/>
            <a:ext cx="2743201" cy="165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5A4291"/>
                </a:solidFill>
              </a:defRPr>
            </a:lvl1pPr>
          </a:lstStyle>
          <a:p>
            <a:pPr/>
            <a:r>
              <a:t>NOTATION KEY</a:t>
            </a:r>
          </a:p>
        </p:txBody>
      </p:sp>
      <p:sp>
        <p:nvSpPr>
          <p:cNvPr id="267" name="Rectangle 13"/>
          <p:cNvSpPr/>
          <p:nvPr/>
        </p:nvSpPr>
        <p:spPr>
          <a:xfrm>
            <a:off x="822960" y="5349240"/>
            <a:ext cx="457201" cy="292609"/>
          </a:xfrm>
          <a:prstGeom prst="rect">
            <a:avLst/>
          </a:prstGeom>
          <a:solidFill>
            <a:srgbClr val="FFFFFF"/>
          </a:solidFill>
          <a:ln w="15875">
            <a:solidFill>
              <a:srgbClr val="5A4291"/>
            </a:solidFill>
            <a:miter/>
          </a:ln>
        </p:spPr>
        <p:txBody>
          <a:bodyPr lIns="0" tIns="0" rIns="0" bIns="0" anchor="ctr"/>
          <a:lstStyle/>
          <a:p>
            <a:pPr algn="ctr">
              <a:defRPr>
                <a:solidFill>
                  <a:srgbClr val="FFFFFF"/>
                </a:solidFill>
                <a:latin typeface="Arial"/>
                <a:ea typeface="Arial"/>
                <a:cs typeface="Arial"/>
                <a:sym typeface="Arial"/>
              </a:defRPr>
            </a:pPr>
          </a:p>
        </p:txBody>
      </p:sp>
      <p:sp>
        <p:nvSpPr>
          <p:cNvPr id="268" name="TextBox 14"/>
          <p:cNvSpPr txBox="1"/>
          <p:nvPr/>
        </p:nvSpPr>
        <p:spPr>
          <a:xfrm>
            <a:off x="1371600" y="5367528"/>
            <a:ext cx="237744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External Entity</a:t>
            </a:r>
          </a:p>
        </p:txBody>
      </p:sp>
      <p:sp>
        <p:nvSpPr>
          <p:cNvPr id="269" name="Oval 15"/>
          <p:cNvSpPr/>
          <p:nvPr/>
        </p:nvSpPr>
        <p:spPr>
          <a:xfrm>
            <a:off x="822960" y="5742432"/>
            <a:ext cx="457201" cy="292609"/>
          </a:xfrm>
          <a:prstGeom prst="ellipse">
            <a:avLst/>
          </a:prstGeom>
          <a:solidFill>
            <a:srgbClr val="FFFFFF"/>
          </a:solidFill>
          <a:ln w="19050">
            <a:solidFill>
              <a:srgbClr val="5A4291"/>
            </a:solidFill>
            <a:miter/>
          </a:ln>
        </p:spPr>
        <p:txBody>
          <a:bodyPr lIns="0" tIns="0" rIns="0" bIns="0" anchor="ctr"/>
          <a:lstStyle/>
          <a:p>
            <a:pPr algn="ctr">
              <a:defRPr>
                <a:solidFill>
                  <a:srgbClr val="FFFFFF"/>
                </a:solidFill>
                <a:latin typeface="Arial"/>
                <a:ea typeface="Arial"/>
                <a:cs typeface="Arial"/>
                <a:sym typeface="Arial"/>
              </a:defRPr>
            </a:pPr>
          </a:p>
        </p:txBody>
      </p:sp>
      <p:sp>
        <p:nvSpPr>
          <p:cNvPr id="270" name="TextBox 16"/>
          <p:cNvSpPr txBox="1"/>
          <p:nvPr/>
        </p:nvSpPr>
        <p:spPr>
          <a:xfrm>
            <a:off x="1371600" y="5760720"/>
            <a:ext cx="237744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Process</a:t>
            </a:r>
          </a:p>
        </p:txBody>
      </p:sp>
      <p:sp>
        <p:nvSpPr>
          <p:cNvPr id="271" name="Rectangle 17"/>
          <p:cNvSpPr/>
          <p:nvPr/>
        </p:nvSpPr>
        <p:spPr>
          <a:xfrm>
            <a:off x="822960" y="6135623"/>
            <a:ext cx="457201" cy="292609"/>
          </a:xfrm>
          <a:prstGeom prst="rect">
            <a:avLst/>
          </a:prstGeom>
          <a:solidFill>
            <a:srgbClr val="FFFFFF"/>
          </a:solidFill>
          <a:ln w="15875">
            <a:solidFill>
              <a:srgbClr val="5A4291"/>
            </a:solidFill>
            <a:miter/>
          </a:ln>
        </p:spPr>
        <p:txBody>
          <a:bodyPr lIns="0" tIns="0" rIns="0" bIns="0" anchor="ctr"/>
          <a:lstStyle/>
          <a:p>
            <a:pPr algn="ctr">
              <a:defRPr>
                <a:solidFill>
                  <a:srgbClr val="FFFFFF"/>
                </a:solidFill>
                <a:latin typeface="Arial"/>
                <a:ea typeface="Arial"/>
                <a:cs typeface="Arial"/>
                <a:sym typeface="Arial"/>
              </a:defRPr>
            </a:pPr>
          </a:p>
        </p:txBody>
      </p:sp>
      <p:sp>
        <p:nvSpPr>
          <p:cNvPr id="272" name="Connector 18"/>
          <p:cNvSpPr/>
          <p:nvPr/>
        </p:nvSpPr>
        <p:spPr>
          <a:xfrm>
            <a:off x="969264" y="6135623"/>
            <a:ext cx="1" cy="292609"/>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273" name="TextBox 19"/>
          <p:cNvSpPr txBox="1"/>
          <p:nvPr/>
        </p:nvSpPr>
        <p:spPr>
          <a:xfrm>
            <a:off x="1371600" y="6153911"/>
            <a:ext cx="2377440" cy="1355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Data Store</a:t>
            </a:r>
          </a:p>
        </p:txBody>
      </p:sp>
      <p:sp>
        <p:nvSpPr>
          <p:cNvPr id="274" name="Connector 20"/>
          <p:cNvSpPr/>
          <p:nvPr/>
        </p:nvSpPr>
        <p:spPr>
          <a:xfrm>
            <a:off x="822960" y="6675119"/>
            <a:ext cx="45720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275" name="TextBox 21"/>
          <p:cNvSpPr txBox="1"/>
          <p:nvPr/>
        </p:nvSpPr>
        <p:spPr>
          <a:xfrm>
            <a:off x="1371600" y="6547104"/>
            <a:ext cx="2377440"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312A43"/>
                </a:solidFill>
                <a:latin typeface="Arial"/>
                <a:ea typeface="Arial"/>
                <a:cs typeface="Arial"/>
                <a:sym typeface="Arial"/>
              </a:defRPr>
            </a:lvl1pPr>
          </a:lstStyle>
          <a:p>
            <a:pPr/>
            <a:r>
              <a:t>Labeled Data Flow</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TextBox 1"/>
          <p:cNvSpPr txBox="1"/>
          <p:nvPr/>
        </p:nvSpPr>
        <p:spPr>
          <a:xfrm>
            <a:off x="640080" y="320040"/>
            <a:ext cx="108813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5A4291"/>
                </a:solidFill>
              </a:defRPr>
            </a:lvl1pPr>
          </a:lstStyle>
          <a:p>
            <a:pPr/>
            <a:r>
              <a:t>06 · SYSTEM DESIGN — DFD LEVEL 1</a:t>
            </a:r>
          </a:p>
        </p:txBody>
      </p:sp>
      <p:sp>
        <p:nvSpPr>
          <p:cNvPr id="278" name="TextBox 2"/>
          <p:cNvSpPr txBox="1"/>
          <p:nvPr/>
        </p:nvSpPr>
        <p:spPr>
          <a:xfrm>
            <a:off x="640080" y="731519"/>
            <a:ext cx="10881360"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685F79"/>
                </a:solidFill>
                <a:latin typeface="Arial"/>
                <a:ea typeface="Arial"/>
                <a:cs typeface="Arial"/>
                <a:sym typeface="Arial"/>
              </a:defRPr>
            </a:lvl1pPr>
          </a:lstStyle>
          <a:p>
            <a:pPr/>
            <a:r>
              <a:t>Decomposition of end-user functional flows in Wearlytics</a:t>
            </a:r>
          </a:p>
        </p:txBody>
      </p:sp>
      <p:grpSp>
        <p:nvGrpSpPr>
          <p:cNvPr id="281" name="Rectangle 3"/>
          <p:cNvGrpSpPr/>
          <p:nvPr/>
        </p:nvGrpSpPr>
        <p:grpSpPr>
          <a:xfrm>
            <a:off x="457199" y="3520440"/>
            <a:ext cx="1234442" cy="731521"/>
            <a:chOff x="0" y="0"/>
            <a:chExt cx="1234440" cy="731520"/>
          </a:xfrm>
        </p:grpSpPr>
        <p:sp>
          <p:nvSpPr>
            <p:cNvPr id="279" name="Rectangle"/>
            <p:cNvSpPr/>
            <p:nvPr/>
          </p:nvSpPr>
          <p:spPr>
            <a:xfrm>
              <a:off x="-1" y="-1"/>
              <a:ext cx="1234442" cy="731522"/>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280" name="USER"/>
            <p:cNvSpPr txBox="1"/>
            <p:nvPr/>
          </p:nvSpPr>
          <p:spPr>
            <a:xfrm>
              <a:off x="33337" y="238759"/>
              <a:ext cx="1167766"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defRPr>
              </a:lvl1pPr>
            </a:lstStyle>
            <a:p>
              <a:pPr/>
              <a:r>
                <a:t>USER</a:t>
              </a:r>
            </a:p>
          </p:txBody>
        </p:sp>
      </p:grpSp>
      <p:grpSp>
        <p:nvGrpSpPr>
          <p:cNvPr id="284" name="Oval 4"/>
          <p:cNvGrpSpPr/>
          <p:nvPr/>
        </p:nvGrpSpPr>
        <p:grpSpPr>
          <a:xfrm>
            <a:off x="2331720" y="3291840"/>
            <a:ext cx="1371601" cy="1188721"/>
            <a:chOff x="0" y="0"/>
            <a:chExt cx="1371600" cy="1188719"/>
          </a:xfrm>
        </p:grpSpPr>
        <p:sp>
          <p:nvSpPr>
            <p:cNvPr id="282" name="Oval"/>
            <p:cNvSpPr/>
            <p:nvPr/>
          </p:nvSpPr>
          <p:spPr>
            <a:xfrm>
              <a:off x="0" y="0"/>
              <a:ext cx="1371600" cy="1188720"/>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283" name="Login"/>
            <p:cNvSpPr txBox="1"/>
            <p:nvPr/>
          </p:nvSpPr>
          <p:spPr>
            <a:xfrm>
              <a:off x="235790" y="467359"/>
              <a:ext cx="900020"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defRPr>
              </a:lvl1pPr>
            </a:lstStyle>
            <a:p>
              <a:pPr/>
              <a:r>
                <a:t>Login</a:t>
              </a:r>
            </a:p>
          </p:txBody>
        </p:sp>
      </p:grpSp>
      <p:sp>
        <p:nvSpPr>
          <p:cNvPr id="285" name="Connector 5"/>
          <p:cNvSpPr/>
          <p:nvPr/>
        </p:nvSpPr>
        <p:spPr>
          <a:xfrm>
            <a:off x="1691639" y="3886200"/>
            <a:ext cx="640081" cy="0"/>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286" name="TextBox 6"/>
          <p:cNvSpPr txBox="1"/>
          <p:nvPr/>
        </p:nvSpPr>
        <p:spPr>
          <a:xfrm>
            <a:off x="1280160" y="3621023"/>
            <a:ext cx="1463041" cy="1270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685F79"/>
                </a:solidFill>
                <a:latin typeface="Arial"/>
                <a:ea typeface="Arial"/>
                <a:cs typeface="Arial"/>
                <a:sym typeface="Arial"/>
              </a:defRPr>
            </a:lvl1pPr>
          </a:lstStyle>
          <a:p>
            <a:pPr/>
            <a:r>
              <a:t>credentials</a:t>
            </a:r>
          </a:p>
        </p:txBody>
      </p:sp>
      <p:grpSp>
        <p:nvGrpSpPr>
          <p:cNvPr id="289" name="Rectangle 7"/>
          <p:cNvGrpSpPr/>
          <p:nvPr/>
        </p:nvGrpSpPr>
        <p:grpSpPr>
          <a:xfrm>
            <a:off x="1965959" y="5989320"/>
            <a:ext cx="2103122" cy="457201"/>
            <a:chOff x="0" y="0"/>
            <a:chExt cx="2103120" cy="457200"/>
          </a:xfrm>
        </p:grpSpPr>
        <p:sp>
          <p:nvSpPr>
            <p:cNvPr id="287" name="Rectangle"/>
            <p:cNvSpPr/>
            <p:nvPr/>
          </p:nvSpPr>
          <p:spPr>
            <a:xfrm>
              <a:off x="-1" y="0"/>
              <a:ext cx="2103122" cy="4572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288" name="users"/>
            <p:cNvSpPr txBox="1"/>
            <p:nvPr/>
          </p:nvSpPr>
          <p:spPr>
            <a:xfrm>
              <a:off x="128841" y="126999"/>
              <a:ext cx="194094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000">
                  <a:solidFill>
                    <a:srgbClr val="5A4291"/>
                  </a:solidFill>
                </a:defRPr>
              </a:lvl1pPr>
            </a:lstStyle>
            <a:p>
              <a:pPr/>
              <a:r>
                <a:t>users</a:t>
              </a:r>
            </a:p>
          </p:txBody>
        </p:sp>
      </p:grpSp>
      <p:sp>
        <p:nvSpPr>
          <p:cNvPr id="290" name="Connector 8"/>
          <p:cNvSpPr/>
          <p:nvPr/>
        </p:nvSpPr>
        <p:spPr>
          <a:xfrm>
            <a:off x="2112264" y="5989320"/>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291" name="Connector 9"/>
          <p:cNvSpPr/>
          <p:nvPr/>
        </p:nvSpPr>
        <p:spPr>
          <a:xfrm flipH="1">
            <a:off x="2702052" y="4480559"/>
            <a:ext cx="109728" cy="150876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292" name="TextBox 10"/>
          <p:cNvSpPr txBox="1"/>
          <p:nvPr/>
        </p:nvSpPr>
        <p:spPr>
          <a:xfrm>
            <a:off x="1828800" y="5294376"/>
            <a:ext cx="1005839" cy="1270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685F79"/>
                </a:solidFill>
                <a:latin typeface="Arial"/>
                <a:ea typeface="Arial"/>
                <a:cs typeface="Arial"/>
                <a:sym typeface="Arial"/>
              </a:defRPr>
            </a:lvl1pPr>
          </a:lstStyle>
          <a:p>
            <a:pPr/>
            <a:r>
              <a:t>username</a:t>
            </a:r>
          </a:p>
        </p:txBody>
      </p:sp>
      <p:sp>
        <p:nvSpPr>
          <p:cNvPr id="293" name="Connector 11"/>
          <p:cNvSpPr/>
          <p:nvPr/>
        </p:nvSpPr>
        <p:spPr>
          <a:xfrm flipH="1" flipV="1">
            <a:off x="3223260" y="4480559"/>
            <a:ext cx="109729" cy="150876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294" name="TextBox 12"/>
          <p:cNvSpPr txBox="1"/>
          <p:nvPr/>
        </p:nvSpPr>
        <p:spPr>
          <a:xfrm>
            <a:off x="2743200" y="5294376"/>
            <a:ext cx="1005839" cy="12700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solidFill>
                  <a:srgbClr val="685F79"/>
                </a:solidFill>
                <a:latin typeface="Arial"/>
                <a:ea typeface="Arial"/>
                <a:cs typeface="Arial"/>
                <a:sym typeface="Arial"/>
              </a:defRPr>
            </a:lvl1pPr>
          </a:lstStyle>
          <a:p>
            <a:pPr/>
            <a:r>
              <a:t>password</a:t>
            </a:r>
          </a:p>
        </p:txBody>
      </p:sp>
      <p:grpSp>
        <p:nvGrpSpPr>
          <p:cNvPr id="297" name="Oval 13"/>
          <p:cNvGrpSpPr/>
          <p:nvPr/>
        </p:nvGrpSpPr>
        <p:grpSpPr>
          <a:xfrm>
            <a:off x="5852159" y="1376172"/>
            <a:ext cx="1737361" cy="777241"/>
            <a:chOff x="0" y="0"/>
            <a:chExt cx="1737360" cy="777240"/>
          </a:xfrm>
        </p:grpSpPr>
        <p:sp>
          <p:nvSpPr>
            <p:cNvPr id="295"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296" name="Manage…"/>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p>
              <a:pPr algn="ctr">
                <a:defRPr b="1" sz="1000">
                  <a:solidFill>
                    <a:srgbClr val="5A4291"/>
                  </a:solidFill>
                </a:defRPr>
              </a:pPr>
              <a:r>
                <a:t>Manage</a:t>
              </a:r>
              <a:endParaRPr>
                <a:solidFill>
                  <a:srgbClr val="FFFFFF"/>
                </a:solidFill>
              </a:endParaRPr>
            </a:p>
            <a:p>
              <a:pPr algn="ctr">
                <a:defRPr b="1" sz="1000">
                  <a:solidFill>
                    <a:srgbClr val="5A4291"/>
                  </a:solidFill>
                </a:defRPr>
              </a:pPr>
              <a:r>
                <a:t>Wardrobe</a:t>
              </a:r>
            </a:p>
          </p:txBody>
        </p:sp>
      </p:grpSp>
      <p:sp>
        <p:nvSpPr>
          <p:cNvPr id="298" name="Connector 14"/>
          <p:cNvSpPr/>
          <p:nvPr/>
        </p:nvSpPr>
        <p:spPr>
          <a:xfrm flipV="1">
            <a:off x="3703319" y="1764792"/>
            <a:ext cx="2148841" cy="2121408"/>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299" name="TextBox 15"/>
          <p:cNvSpPr txBox="1"/>
          <p:nvPr/>
        </p:nvSpPr>
        <p:spPr>
          <a:xfrm>
            <a:off x="3657598" y="2570987"/>
            <a:ext cx="91440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02" name="Rectangle 16"/>
          <p:cNvGrpSpPr/>
          <p:nvPr/>
        </p:nvGrpSpPr>
        <p:grpSpPr>
          <a:xfrm>
            <a:off x="9281159" y="1536191"/>
            <a:ext cx="2526031" cy="495301"/>
            <a:chOff x="0" y="0"/>
            <a:chExt cx="2526030" cy="495300"/>
          </a:xfrm>
        </p:grpSpPr>
        <p:sp>
          <p:nvSpPr>
            <p:cNvPr id="300" name="Rectangle"/>
            <p:cNvSpPr/>
            <p:nvPr/>
          </p:nvSpPr>
          <p:spPr>
            <a:xfrm>
              <a:off x="-1" y="0"/>
              <a:ext cx="2526032" cy="4953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01" name="clothing_items"/>
            <p:cNvSpPr txBox="1"/>
            <p:nvPr/>
          </p:nvSpPr>
          <p:spPr>
            <a:xfrm>
              <a:off x="139578" y="137583"/>
              <a:ext cx="2350337" cy="2201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clothing_items</a:t>
              </a:r>
            </a:p>
          </p:txBody>
        </p:sp>
      </p:grpSp>
      <p:sp>
        <p:nvSpPr>
          <p:cNvPr id="303" name="Connector 17"/>
          <p:cNvSpPr/>
          <p:nvPr/>
        </p:nvSpPr>
        <p:spPr>
          <a:xfrm>
            <a:off x="9427464" y="1536192"/>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304" name="Connector 18"/>
          <p:cNvSpPr/>
          <p:nvPr/>
        </p:nvSpPr>
        <p:spPr>
          <a:xfrm>
            <a:off x="7589519" y="1636776"/>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05" name="TextBox 19"/>
          <p:cNvSpPr txBox="1"/>
          <p:nvPr/>
        </p:nvSpPr>
        <p:spPr>
          <a:xfrm>
            <a:off x="7703819" y="1371600"/>
            <a:ext cx="1463041"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add/wear details</a:t>
            </a:r>
          </a:p>
        </p:txBody>
      </p:sp>
      <p:sp>
        <p:nvSpPr>
          <p:cNvPr id="306" name="Connector 20"/>
          <p:cNvSpPr/>
          <p:nvPr/>
        </p:nvSpPr>
        <p:spPr>
          <a:xfrm flipH="1" flipV="1">
            <a:off x="7589519" y="1892807"/>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07" name="TextBox 21"/>
          <p:cNvSpPr txBox="1"/>
          <p:nvPr/>
        </p:nvSpPr>
        <p:spPr>
          <a:xfrm>
            <a:off x="7703819" y="1956816"/>
            <a:ext cx="1463041"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clothes details</a:t>
            </a:r>
          </a:p>
        </p:txBody>
      </p:sp>
      <p:grpSp>
        <p:nvGrpSpPr>
          <p:cNvPr id="310" name="Oval 22"/>
          <p:cNvGrpSpPr/>
          <p:nvPr/>
        </p:nvGrpSpPr>
        <p:grpSpPr>
          <a:xfrm>
            <a:off x="5852159" y="2436876"/>
            <a:ext cx="1737361" cy="777241"/>
            <a:chOff x="0" y="0"/>
            <a:chExt cx="1737360" cy="777240"/>
          </a:xfrm>
        </p:grpSpPr>
        <p:sp>
          <p:nvSpPr>
            <p:cNvPr id="308"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09" name="AI Outfit…"/>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AI Outfit</a:t>
              </a:r>
              <a:endParaRPr>
                <a:solidFill>
                  <a:srgbClr val="FFFFFF"/>
                </a:solidFill>
              </a:endParaRPr>
            </a:p>
            <a:p>
              <a:pPr algn="ctr">
                <a:defRPr b="1" sz="1000">
                  <a:solidFill>
                    <a:srgbClr val="5A4291"/>
                  </a:solidFill>
                </a:defRPr>
              </a:pPr>
              <a:r>
                <a:t>Generator</a:t>
              </a:r>
            </a:p>
          </p:txBody>
        </p:sp>
      </p:grpSp>
      <p:sp>
        <p:nvSpPr>
          <p:cNvPr id="311" name="Connector 23"/>
          <p:cNvSpPr/>
          <p:nvPr/>
        </p:nvSpPr>
        <p:spPr>
          <a:xfrm flipV="1">
            <a:off x="3703319" y="2825495"/>
            <a:ext cx="2148841" cy="1060705"/>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12" name="TextBox 24"/>
          <p:cNvSpPr txBox="1"/>
          <p:nvPr/>
        </p:nvSpPr>
        <p:spPr>
          <a:xfrm>
            <a:off x="3794759" y="3101339"/>
            <a:ext cx="64008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15" name="Rectangle 25"/>
          <p:cNvGrpSpPr/>
          <p:nvPr/>
        </p:nvGrpSpPr>
        <p:grpSpPr>
          <a:xfrm>
            <a:off x="9281159" y="2596895"/>
            <a:ext cx="2590801" cy="508001"/>
            <a:chOff x="0" y="0"/>
            <a:chExt cx="2590800" cy="508000"/>
          </a:xfrm>
        </p:grpSpPr>
        <p:sp>
          <p:nvSpPr>
            <p:cNvPr id="313"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14" name="outfits"/>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outfits</a:t>
              </a:r>
            </a:p>
          </p:txBody>
        </p:sp>
      </p:grpSp>
      <p:sp>
        <p:nvSpPr>
          <p:cNvPr id="316" name="Connector 26"/>
          <p:cNvSpPr/>
          <p:nvPr/>
        </p:nvSpPr>
        <p:spPr>
          <a:xfrm>
            <a:off x="9427464" y="2596895"/>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317" name="Connector 27"/>
          <p:cNvSpPr/>
          <p:nvPr/>
        </p:nvSpPr>
        <p:spPr>
          <a:xfrm>
            <a:off x="7589519" y="2697479"/>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18" name="TextBox 28"/>
          <p:cNvSpPr txBox="1"/>
          <p:nvPr/>
        </p:nvSpPr>
        <p:spPr>
          <a:xfrm>
            <a:off x="7703819" y="2432304"/>
            <a:ext cx="1463041"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generate outfit</a:t>
            </a:r>
          </a:p>
        </p:txBody>
      </p:sp>
      <p:sp>
        <p:nvSpPr>
          <p:cNvPr id="319" name="Connector 29"/>
          <p:cNvSpPr/>
          <p:nvPr/>
        </p:nvSpPr>
        <p:spPr>
          <a:xfrm flipH="1" flipV="1">
            <a:off x="7589519" y="2953511"/>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20" name="TextBox 30"/>
          <p:cNvSpPr txBox="1"/>
          <p:nvPr/>
        </p:nvSpPr>
        <p:spPr>
          <a:xfrm>
            <a:off x="7703819" y="3017520"/>
            <a:ext cx="1463041"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outfit catalog</a:t>
            </a:r>
          </a:p>
        </p:txBody>
      </p:sp>
      <p:grpSp>
        <p:nvGrpSpPr>
          <p:cNvPr id="323" name="Oval 31"/>
          <p:cNvGrpSpPr/>
          <p:nvPr/>
        </p:nvGrpSpPr>
        <p:grpSpPr>
          <a:xfrm>
            <a:off x="5852159" y="3497579"/>
            <a:ext cx="1737361" cy="777241"/>
            <a:chOff x="0" y="0"/>
            <a:chExt cx="1737360" cy="777240"/>
          </a:xfrm>
        </p:grpSpPr>
        <p:sp>
          <p:nvSpPr>
            <p:cNvPr id="321"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22" name="Weekly…"/>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Weekly</a:t>
              </a:r>
              <a:endParaRPr>
                <a:solidFill>
                  <a:srgbClr val="FFFFFF"/>
                </a:solidFill>
              </a:endParaRPr>
            </a:p>
            <a:p>
              <a:pPr algn="ctr">
                <a:defRPr b="1" sz="1000">
                  <a:solidFill>
                    <a:srgbClr val="5A4291"/>
                  </a:solidFill>
                </a:defRPr>
              </a:pPr>
              <a:r>
                <a:t>Planner</a:t>
              </a:r>
            </a:p>
          </p:txBody>
        </p:sp>
      </p:grpSp>
      <p:sp>
        <p:nvSpPr>
          <p:cNvPr id="324" name="Connector 32"/>
          <p:cNvSpPr/>
          <p:nvPr/>
        </p:nvSpPr>
        <p:spPr>
          <a:xfrm>
            <a:off x="3703320" y="3886200"/>
            <a:ext cx="2148841" cy="0"/>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25" name="TextBox 33"/>
          <p:cNvSpPr txBox="1"/>
          <p:nvPr/>
        </p:nvSpPr>
        <p:spPr>
          <a:xfrm>
            <a:off x="3657598" y="3641755"/>
            <a:ext cx="91440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28" name="Rectangle 34"/>
          <p:cNvGrpSpPr/>
          <p:nvPr/>
        </p:nvGrpSpPr>
        <p:grpSpPr>
          <a:xfrm>
            <a:off x="9281159" y="3657600"/>
            <a:ext cx="2590801" cy="508000"/>
            <a:chOff x="0" y="0"/>
            <a:chExt cx="2590800" cy="508000"/>
          </a:xfrm>
        </p:grpSpPr>
        <p:sp>
          <p:nvSpPr>
            <p:cNvPr id="326"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27" name="weekly_plans"/>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weekly_plans</a:t>
              </a:r>
            </a:p>
          </p:txBody>
        </p:sp>
      </p:grpSp>
      <p:sp>
        <p:nvSpPr>
          <p:cNvPr id="329" name="Connector 35"/>
          <p:cNvSpPr/>
          <p:nvPr/>
        </p:nvSpPr>
        <p:spPr>
          <a:xfrm>
            <a:off x="9427464" y="3657600"/>
            <a:ext cx="1" cy="457200"/>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330" name="Connector 36"/>
          <p:cNvSpPr/>
          <p:nvPr/>
        </p:nvSpPr>
        <p:spPr>
          <a:xfrm>
            <a:off x="7589519" y="3758184"/>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31" name="TextBox 37"/>
          <p:cNvSpPr txBox="1"/>
          <p:nvPr/>
        </p:nvSpPr>
        <p:spPr>
          <a:xfrm>
            <a:off x="7703819" y="3493008"/>
            <a:ext cx="1463041"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assign schedule</a:t>
            </a:r>
          </a:p>
        </p:txBody>
      </p:sp>
      <p:sp>
        <p:nvSpPr>
          <p:cNvPr id="332" name="Connector 38"/>
          <p:cNvSpPr/>
          <p:nvPr/>
        </p:nvSpPr>
        <p:spPr>
          <a:xfrm flipH="1">
            <a:off x="7589519" y="4014215"/>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33" name="TextBox 39"/>
          <p:cNvSpPr txBox="1"/>
          <p:nvPr/>
        </p:nvSpPr>
        <p:spPr>
          <a:xfrm>
            <a:off x="7703819" y="4078223"/>
            <a:ext cx="1463041" cy="18510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weekly plan</a:t>
            </a:r>
          </a:p>
        </p:txBody>
      </p:sp>
      <p:grpSp>
        <p:nvGrpSpPr>
          <p:cNvPr id="336" name="Oval 40"/>
          <p:cNvGrpSpPr/>
          <p:nvPr/>
        </p:nvGrpSpPr>
        <p:grpSpPr>
          <a:xfrm>
            <a:off x="5852159" y="4558284"/>
            <a:ext cx="1737361" cy="777241"/>
            <a:chOff x="0" y="0"/>
            <a:chExt cx="1737360" cy="777240"/>
          </a:xfrm>
        </p:grpSpPr>
        <p:sp>
          <p:nvSpPr>
            <p:cNvPr id="334"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35" name="Wardrobe…"/>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Wardrobe</a:t>
              </a:r>
              <a:endParaRPr>
                <a:solidFill>
                  <a:srgbClr val="FFFFFF"/>
                </a:solidFill>
              </a:endParaRPr>
            </a:p>
            <a:p>
              <a:pPr algn="ctr">
                <a:defRPr b="1" sz="1000">
                  <a:solidFill>
                    <a:srgbClr val="5A4291"/>
                  </a:solidFill>
                </a:defRPr>
              </a:pPr>
              <a:r>
                <a:t>Analytics</a:t>
              </a:r>
            </a:p>
          </p:txBody>
        </p:sp>
      </p:grpSp>
      <p:sp>
        <p:nvSpPr>
          <p:cNvPr id="337" name="Connector 41"/>
          <p:cNvSpPr/>
          <p:nvPr/>
        </p:nvSpPr>
        <p:spPr>
          <a:xfrm>
            <a:off x="3703319" y="3886200"/>
            <a:ext cx="2148841" cy="1060705"/>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38" name="TextBox 42"/>
          <p:cNvSpPr txBox="1"/>
          <p:nvPr/>
        </p:nvSpPr>
        <p:spPr>
          <a:xfrm>
            <a:off x="3657598" y="4182171"/>
            <a:ext cx="91440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41" name="Rectangle 43"/>
          <p:cNvGrpSpPr/>
          <p:nvPr/>
        </p:nvGrpSpPr>
        <p:grpSpPr>
          <a:xfrm>
            <a:off x="9281159" y="4718303"/>
            <a:ext cx="2590801" cy="508001"/>
            <a:chOff x="0" y="0"/>
            <a:chExt cx="2590800" cy="508000"/>
          </a:xfrm>
        </p:grpSpPr>
        <p:sp>
          <p:nvSpPr>
            <p:cNvPr id="339"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40" name="clothing_items"/>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clothing_items</a:t>
              </a:r>
            </a:p>
          </p:txBody>
        </p:sp>
      </p:grpSp>
      <p:sp>
        <p:nvSpPr>
          <p:cNvPr id="342" name="Connector 44"/>
          <p:cNvSpPr/>
          <p:nvPr/>
        </p:nvSpPr>
        <p:spPr>
          <a:xfrm>
            <a:off x="9427464" y="4718303"/>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343" name="Connector 45"/>
          <p:cNvSpPr/>
          <p:nvPr/>
        </p:nvSpPr>
        <p:spPr>
          <a:xfrm>
            <a:off x="7589519" y="4818888"/>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44" name="TextBox 46"/>
          <p:cNvSpPr txBox="1"/>
          <p:nvPr/>
        </p:nvSpPr>
        <p:spPr>
          <a:xfrm>
            <a:off x="7703819" y="4553711"/>
            <a:ext cx="1463041" cy="18510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log wear count</a:t>
            </a:r>
          </a:p>
        </p:txBody>
      </p:sp>
      <p:sp>
        <p:nvSpPr>
          <p:cNvPr id="345" name="Connector 47"/>
          <p:cNvSpPr/>
          <p:nvPr/>
        </p:nvSpPr>
        <p:spPr>
          <a:xfrm flipH="1">
            <a:off x="7589519" y="5074920"/>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46" name="TextBox 48"/>
          <p:cNvSpPr txBox="1"/>
          <p:nvPr/>
        </p:nvSpPr>
        <p:spPr>
          <a:xfrm>
            <a:off x="7703819" y="5138928"/>
            <a:ext cx="1463041"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utilization stats</a:t>
            </a:r>
          </a:p>
        </p:txBody>
      </p:sp>
      <p:grpSp>
        <p:nvGrpSpPr>
          <p:cNvPr id="349" name="Oval 49"/>
          <p:cNvGrpSpPr/>
          <p:nvPr/>
        </p:nvGrpSpPr>
        <p:grpSpPr>
          <a:xfrm>
            <a:off x="5852159" y="5618988"/>
            <a:ext cx="1737361" cy="777241"/>
            <a:chOff x="0" y="0"/>
            <a:chExt cx="1737360" cy="777240"/>
          </a:xfrm>
        </p:grpSpPr>
        <p:sp>
          <p:nvSpPr>
            <p:cNvPr id="347"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48" name="Outfit…"/>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Outfit</a:t>
              </a:r>
              <a:endParaRPr>
                <a:solidFill>
                  <a:srgbClr val="FFFFFF"/>
                </a:solidFill>
              </a:endParaRPr>
            </a:p>
            <a:p>
              <a:pPr algn="ctr">
                <a:defRPr b="1" sz="1000">
                  <a:solidFill>
                    <a:srgbClr val="5A4291"/>
                  </a:solidFill>
                </a:defRPr>
              </a:pPr>
              <a:r>
                <a:t>Feedback</a:t>
              </a:r>
            </a:p>
          </p:txBody>
        </p:sp>
      </p:grpSp>
      <p:sp>
        <p:nvSpPr>
          <p:cNvPr id="350" name="Connector 50"/>
          <p:cNvSpPr/>
          <p:nvPr/>
        </p:nvSpPr>
        <p:spPr>
          <a:xfrm>
            <a:off x="3833347" y="3889024"/>
            <a:ext cx="2148842" cy="2121409"/>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51" name="TextBox 51"/>
          <p:cNvSpPr txBox="1"/>
          <p:nvPr/>
        </p:nvSpPr>
        <p:spPr>
          <a:xfrm>
            <a:off x="3657598" y="4712523"/>
            <a:ext cx="91440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54" name="Rectangle 52"/>
          <p:cNvGrpSpPr/>
          <p:nvPr/>
        </p:nvGrpSpPr>
        <p:grpSpPr>
          <a:xfrm>
            <a:off x="9281159" y="5779008"/>
            <a:ext cx="2590801" cy="508001"/>
            <a:chOff x="0" y="0"/>
            <a:chExt cx="2590800" cy="508000"/>
          </a:xfrm>
        </p:grpSpPr>
        <p:sp>
          <p:nvSpPr>
            <p:cNvPr id="352"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53" name="outfit_feedback"/>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outfit_feedback</a:t>
              </a:r>
            </a:p>
          </p:txBody>
        </p:sp>
      </p:grpSp>
      <p:sp>
        <p:nvSpPr>
          <p:cNvPr id="355" name="Connector 53"/>
          <p:cNvSpPr/>
          <p:nvPr/>
        </p:nvSpPr>
        <p:spPr>
          <a:xfrm>
            <a:off x="9427464" y="5779008"/>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356" name="Connector 54"/>
          <p:cNvSpPr/>
          <p:nvPr/>
        </p:nvSpPr>
        <p:spPr>
          <a:xfrm>
            <a:off x="7589519" y="5879591"/>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57" name="TextBox 55"/>
          <p:cNvSpPr txBox="1"/>
          <p:nvPr/>
        </p:nvSpPr>
        <p:spPr>
          <a:xfrm>
            <a:off x="7703819" y="5614415"/>
            <a:ext cx="1463041" cy="18510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submit rating</a:t>
            </a:r>
          </a:p>
        </p:txBody>
      </p:sp>
      <p:sp>
        <p:nvSpPr>
          <p:cNvPr id="358" name="Connector 56"/>
          <p:cNvSpPr/>
          <p:nvPr/>
        </p:nvSpPr>
        <p:spPr>
          <a:xfrm flipH="1">
            <a:off x="7589519" y="6135623"/>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59" name="TextBox 57"/>
          <p:cNvSpPr txBox="1"/>
          <p:nvPr/>
        </p:nvSpPr>
        <p:spPr>
          <a:xfrm>
            <a:off x="7703819" y="6199632"/>
            <a:ext cx="1463041" cy="185099"/>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300">
                <a:solidFill>
                  <a:srgbClr val="685F79"/>
                </a:solidFill>
                <a:latin typeface="Arial"/>
                <a:ea typeface="Arial"/>
                <a:cs typeface="Arial"/>
                <a:sym typeface="Arial"/>
              </a:defRPr>
            </a:lvl1pPr>
          </a:lstStyle>
          <a:p>
            <a:pPr/>
            <a:r>
              <a:t>get feedback data</a:t>
            </a:r>
          </a:p>
        </p:txBody>
      </p:sp>
      <p:pic>
        <p:nvPicPr>
          <p:cNvPr id="360" name="pasted-movie.png" descr="pasted-movie.png"/>
          <p:cNvPicPr>
            <a:picLocks noChangeAspect="1"/>
          </p:cNvPicPr>
          <p:nvPr/>
        </p:nvPicPr>
        <p:blipFill>
          <a:blip r:embed="rId2">
            <a:extLst/>
          </a:blip>
          <a:srcRect l="0" t="43221" r="69356" b="8064"/>
          <a:stretch>
            <a:fillRect/>
          </a:stretch>
        </p:blipFill>
        <p:spPr>
          <a:xfrm>
            <a:off x="287692" y="3121913"/>
            <a:ext cx="3448118" cy="3428505"/>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TextBox 1"/>
          <p:cNvSpPr txBox="1"/>
          <p:nvPr/>
        </p:nvSpPr>
        <p:spPr>
          <a:xfrm>
            <a:off x="640080" y="320040"/>
            <a:ext cx="1088136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5A4291"/>
                </a:solidFill>
              </a:defRPr>
            </a:lvl1pPr>
          </a:lstStyle>
          <a:p>
            <a:pPr/>
            <a:r>
              <a:t>06 · SYSTEM DESIGN — DFD LEVEL 1</a:t>
            </a:r>
          </a:p>
        </p:txBody>
      </p:sp>
      <p:sp>
        <p:nvSpPr>
          <p:cNvPr id="363" name="TextBox 2"/>
          <p:cNvSpPr txBox="1"/>
          <p:nvPr/>
        </p:nvSpPr>
        <p:spPr>
          <a:xfrm>
            <a:off x="640080" y="731519"/>
            <a:ext cx="10881360" cy="2960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685F79"/>
                </a:solidFill>
                <a:latin typeface="Arial"/>
                <a:ea typeface="Arial"/>
                <a:cs typeface="Arial"/>
                <a:sym typeface="Arial"/>
              </a:defRPr>
            </a:lvl1pPr>
          </a:lstStyle>
          <a:p>
            <a:pPr/>
            <a:r>
              <a:t>Decomposition of administrator functional flows in Wearlytics</a:t>
            </a:r>
          </a:p>
        </p:txBody>
      </p:sp>
      <p:grpSp>
        <p:nvGrpSpPr>
          <p:cNvPr id="366" name="Rectangle 3"/>
          <p:cNvGrpSpPr/>
          <p:nvPr/>
        </p:nvGrpSpPr>
        <p:grpSpPr>
          <a:xfrm>
            <a:off x="457199" y="3520440"/>
            <a:ext cx="1234442" cy="731521"/>
            <a:chOff x="0" y="0"/>
            <a:chExt cx="1234440" cy="731520"/>
          </a:xfrm>
        </p:grpSpPr>
        <p:sp>
          <p:nvSpPr>
            <p:cNvPr id="364" name="Rectangle"/>
            <p:cNvSpPr/>
            <p:nvPr/>
          </p:nvSpPr>
          <p:spPr>
            <a:xfrm>
              <a:off x="-1" y="-1"/>
              <a:ext cx="1234442" cy="731522"/>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65" name="ADMIN"/>
            <p:cNvSpPr txBox="1"/>
            <p:nvPr/>
          </p:nvSpPr>
          <p:spPr>
            <a:xfrm>
              <a:off x="33337" y="238759"/>
              <a:ext cx="1167766"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defRPr>
              </a:lvl1pPr>
            </a:lstStyle>
            <a:p>
              <a:pPr/>
              <a:r>
                <a:t>ADMIN</a:t>
              </a:r>
            </a:p>
          </p:txBody>
        </p:sp>
      </p:grpSp>
      <p:grpSp>
        <p:nvGrpSpPr>
          <p:cNvPr id="369" name="Oval 4"/>
          <p:cNvGrpSpPr/>
          <p:nvPr/>
        </p:nvGrpSpPr>
        <p:grpSpPr>
          <a:xfrm>
            <a:off x="2331720" y="3291840"/>
            <a:ext cx="1371601" cy="1188721"/>
            <a:chOff x="0" y="0"/>
            <a:chExt cx="1371600" cy="1188719"/>
          </a:xfrm>
        </p:grpSpPr>
        <p:sp>
          <p:nvSpPr>
            <p:cNvPr id="367" name="Oval"/>
            <p:cNvSpPr/>
            <p:nvPr/>
          </p:nvSpPr>
          <p:spPr>
            <a:xfrm>
              <a:off x="0" y="0"/>
              <a:ext cx="1371600" cy="1188720"/>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68" name="Login"/>
            <p:cNvSpPr txBox="1"/>
            <p:nvPr/>
          </p:nvSpPr>
          <p:spPr>
            <a:xfrm>
              <a:off x="235790" y="467359"/>
              <a:ext cx="900020"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solidFill>
                    <a:srgbClr val="5A4291"/>
                  </a:solidFill>
                </a:defRPr>
              </a:lvl1pPr>
            </a:lstStyle>
            <a:p>
              <a:pPr/>
              <a:r>
                <a:t>Login</a:t>
              </a:r>
            </a:p>
          </p:txBody>
        </p:sp>
      </p:grpSp>
      <p:sp>
        <p:nvSpPr>
          <p:cNvPr id="370" name="Connector 5"/>
          <p:cNvSpPr/>
          <p:nvPr/>
        </p:nvSpPr>
        <p:spPr>
          <a:xfrm>
            <a:off x="1691639" y="3886200"/>
            <a:ext cx="640081" cy="0"/>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71" name="TextBox 6"/>
          <p:cNvSpPr txBox="1"/>
          <p:nvPr/>
        </p:nvSpPr>
        <p:spPr>
          <a:xfrm>
            <a:off x="1280160" y="3621023"/>
            <a:ext cx="1463041" cy="172816"/>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85F79"/>
                </a:solidFill>
                <a:latin typeface="Arial"/>
                <a:ea typeface="Arial"/>
                <a:cs typeface="Arial"/>
                <a:sym typeface="Arial"/>
              </a:defRPr>
            </a:lvl1pPr>
          </a:lstStyle>
          <a:p>
            <a:pPr/>
            <a:r>
              <a:t>credentials</a:t>
            </a:r>
          </a:p>
        </p:txBody>
      </p:sp>
      <p:grpSp>
        <p:nvGrpSpPr>
          <p:cNvPr id="374" name="Rectangle 7"/>
          <p:cNvGrpSpPr/>
          <p:nvPr/>
        </p:nvGrpSpPr>
        <p:grpSpPr>
          <a:xfrm>
            <a:off x="1965959" y="5989320"/>
            <a:ext cx="2336801" cy="508001"/>
            <a:chOff x="0" y="0"/>
            <a:chExt cx="2336800" cy="508000"/>
          </a:xfrm>
        </p:grpSpPr>
        <p:sp>
          <p:nvSpPr>
            <p:cNvPr id="372" name="Rectangle"/>
            <p:cNvSpPr/>
            <p:nvPr/>
          </p:nvSpPr>
          <p:spPr>
            <a:xfrm>
              <a:off x="-1" y="0"/>
              <a:ext cx="2336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73" name="login"/>
            <p:cNvSpPr txBox="1"/>
            <p:nvPr/>
          </p:nvSpPr>
          <p:spPr>
            <a:xfrm>
              <a:off x="143157" y="141111"/>
              <a:ext cx="2156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login</a:t>
              </a:r>
            </a:p>
          </p:txBody>
        </p:sp>
      </p:grpSp>
      <p:sp>
        <p:nvSpPr>
          <p:cNvPr id="375" name="Connector 8"/>
          <p:cNvSpPr/>
          <p:nvPr/>
        </p:nvSpPr>
        <p:spPr>
          <a:xfrm>
            <a:off x="2112264" y="5989320"/>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376" name="Connector 9"/>
          <p:cNvSpPr/>
          <p:nvPr/>
        </p:nvSpPr>
        <p:spPr>
          <a:xfrm flipH="1">
            <a:off x="2702052" y="4480559"/>
            <a:ext cx="109728" cy="150876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77" name="TextBox 10"/>
          <p:cNvSpPr txBox="1"/>
          <p:nvPr/>
        </p:nvSpPr>
        <p:spPr>
          <a:xfrm>
            <a:off x="1828800" y="5294376"/>
            <a:ext cx="1005839" cy="17281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85F79"/>
                </a:solidFill>
                <a:latin typeface="Arial"/>
                <a:ea typeface="Arial"/>
                <a:cs typeface="Arial"/>
                <a:sym typeface="Arial"/>
              </a:defRPr>
            </a:lvl1pPr>
          </a:lstStyle>
          <a:p>
            <a:pPr/>
            <a:r>
              <a:t>username</a:t>
            </a:r>
          </a:p>
        </p:txBody>
      </p:sp>
      <p:sp>
        <p:nvSpPr>
          <p:cNvPr id="378" name="Connector 11"/>
          <p:cNvSpPr/>
          <p:nvPr/>
        </p:nvSpPr>
        <p:spPr>
          <a:xfrm flipH="1" flipV="1">
            <a:off x="3223260" y="4480559"/>
            <a:ext cx="109729" cy="150876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79" name="TextBox 12"/>
          <p:cNvSpPr txBox="1"/>
          <p:nvPr/>
        </p:nvSpPr>
        <p:spPr>
          <a:xfrm>
            <a:off x="2743200" y="5294376"/>
            <a:ext cx="1005839" cy="172815"/>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85F79"/>
                </a:solidFill>
                <a:latin typeface="Arial"/>
                <a:ea typeface="Arial"/>
                <a:cs typeface="Arial"/>
                <a:sym typeface="Arial"/>
              </a:defRPr>
            </a:lvl1pPr>
          </a:lstStyle>
          <a:p>
            <a:pPr/>
            <a:r>
              <a:t>password</a:t>
            </a:r>
          </a:p>
        </p:txBody>
      </p:sp>
      <p:grpSp>
        <p:nvGrpSpPr>
          <p:cNvPr id="382" name="Oval 13"/>
          <p:cNvGrpSpPr/>
          <p:nvPr/>
        </p:nvGrpSpPr>
        <p:grpSpPr>
          <a:xfrm>
            <a:off x="5852159" y="1508760"/>
            <a:ext cx="1737361" cy="777241"/>
            <a:chOff x="0" y="0"/>
            <a:chExt cx="1737360" cy="777240"/>
          </a:xfrm>
        </p:grpSpPr>
        <p:sp>
          <p:nvSpPr>
            <p:cNvPr id="380"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81" name="Manage…"/>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Manage</a:t>
              </a:r>
              <a:endParaRPr>
                <a:solidFill>
                  <a:srgbClr val="FFFFFF"/>
                </a:solidFill>
              </a:endParaRPr>
            </a:p>
            <a:p>
              <a:pPr algn="ctr">
                <a:defRPr b="1" sz="1000">
                  <a:solidFill>
                    <a:srgbClr val="5A4291"/>
                  </a:solidFill>
                </a:defRPr>
              </a:pPr>
              <a:r>
                <a:t>Users</a:t>
              </a:r>
            </a:p>
          </p:txBody>
        </p:sp>
      </p:grpSp>
      <p:sp>
        <p:nvSpPr>
          <p:cNvPr id="383" name="Connector 14"/>
          <p:cNvSpPr/>
          <p:nvPr/>
        </p:nvSpPr>
        <p:spPr>
          <a:xfrm flipV="1">
            <a:off x="3703320" y="1897379"/>
            <a:ext cx="2148841" cy="198882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84" name="TextBox 15"/>
          <p:cNvSpPr txBox="1"/>
          <p:nvPr/>
        </p:nvSpPr>
        <p:spPr>
          <a:xfrm>
            <a:off x="3520438" y="2644901"/>
            <a:ext cx="914401"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387" name="Rectangle 16"/>
          <p:cNvGrpSpPr/>
          <p:nvPr/>
        </p:nvGrpSpPr>
        <p:grpSpPr>
          <a:xfrm>
            <a:off x="9281159" y="1668779"/>
            <a:ext cx="2590801" cy="508001"/>
            <a:chOff x="0" y="0"/>
            <a:chExt cx="2590800" cy="508000"/>
          </a:xfrm>
        </p:grpSpPr>
        <p:sp>
          <p:nvSpPr>
            <p:cNvPr id="385"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86" name="users"/>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users</a:t>
              </a:r>
            </a:p>
          </p:txBody>
        </p:sp>
      </p:grpSp>
      <p:sp>
        <p:nvSpPr>
          <p:cNvPr id="388" name="Connector 17"/>
          <p:cNvSpPr/>
          <p:nvPr/>
        </p:nvSpPr>
        <p:spPr>
          <a:xfrm>
            <a:off x="9427464" y="1668779"/>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389" name="Connector 18"/>
          <p:cNvSpPr/>
          <p:nvPr/>
        </p:nvSpPr>
        <p:spPr>
          <a:xfrm>
            <a:off x="7589519" y="1769364"/>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90" name="TextBox 19"/>
          <p:cNvSpPr txBox="1"/>
          <p:nvPr/>
        </p:nvSpPr>
        <p:spPr>
          <a:xfrm>
            <a:off x="7703819" y="1494999"/>
            <a:ext cx="1463041"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add / update user</a:t>
            </a:r>
          </a:p>
        </p:txBody>
      </p:sp>
      <p:sp>
        <p:nvSpPr>
          <p:cNvPr id="391" name="Connector 20"/>
          <p:cNvSpPr/>
          <p:nvPr/>
        </p:nvSpPr>
        <p:spPr>
          <a:xfrm flipH="1" flipV="1">
            <a:off x="7589519" y="2025395"/>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92" name="TextBox 21"/>
          <p:cNvSpPr txBox="1"/>
          <p:nvPr/>
        </p:nvSpPr>
        <p:spPr>
          <a:xfrm>
            <a:off x="7703819" y="2089404"/>
            <a:ext cx="146304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user details</a:t>
            </a:r>
          </a:p>
        </p:txBody>
      </p:sp>
      <p:grpSp>
        <p:nvGrpSpPr>
          <p:cNvPr id="395" name="Oval 22"/>
          <p:cNvGrpSpPr/>
          <p:nvPr/>
        </p:nvGrpSpPr>
        <p:grpSpPr>
          <a:xfrm>
            <a:off x="5852159" y="2834639"/>
            <a:ext cx="1737361" cy="777241"/>
            <a:chOff x="0" y="0"/>
            <a:chExt cx="1737360" cy="777240"/>
          </a:xfrm>
        </p:grpSpPr>
        <p:sp>
          <p:nvSpPr>
            <p:cNvPr id="393"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94" name="Manage Clothes…"/>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Manage Clothes</a:t>
              </a:r>
              <a:endParaRPr>
                <a:solidFill>
                  <a:srgbClr val="FFFFFF"/>
                </a:solidFill>
              </a:endParaRPr>
            </a:p>
            <a:p>
              <a:pPr algn="ctr">
                <a:defRPr b="1" sz="1000">
                  <a:solidFill>
                    <a:srgbClr val="5A4291"/>
                  </a:solidFill>
                </a:defRPr>
              </a:pPr>
              <a:r>
                <a:t>&amp; Presets</a:t>
              </a:r>
            </a:p>
          </p:txBody>
        </p:sp>
      </p:grpSp>
      <p:sp>
        <p:nvSpPr>
          <p:cNvPr id="396" name="Connector 23"/>
          <p:cNvSpPr/>
          <p:nvPr/>
        </p:nvSpPr>
        <p:spPr>
          <a:xfrm flipV="1">
            <a:off x="3703320" y="3223259"/>
            <a:ext cx="2148841" cy="66294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397" name="TextBox 24"/>
          <p:cNvSpPr txBox="1"/>
          <p:nvPr/>
        </p:nvSpPr>
        <p:spPr>
          <a:xfrm>
            <a:off x="3520438" y="3307841"/>
            <a:ext cx="914401"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400" name="Rectangle 25"/>
          <p:cNvGrpSpPr/>
          <p:nvPr/>
        </p:nvGrpSpPr>
        <p:grpSpPr>
          <a:xfrm>
            <a:off x="9281159" y="2994660"/>
            <a:ext cx="2590801" cy="508001"/>
            <a:chOff x="0" y="0"/>
            <a:chExt cx="2590800" cy="508000"/>
          </a:xfrm>
        </p:grpSpPr>
        <p:sp>
          <p:nvSpPr>
            <p:cNvPr id="398"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399" name="clothing_items"/>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clothing_items</a:t>
              </a:r>
            </a:p>
          </p:txBody>
        </p:sp>
      </p:grpSp>
      <p:sp>
        <p:nvSpPr>
          <p:cNvPr id="401" name="Connector 26"/>
          <p:cNvSpPr/>
          <p:nvPr/>
        </p:nvSpPr>
        <p:spPr>
          <a:xfrm>
            <a:off x="9427464" y="2994660"/>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402" name="Connector 27"/>
          <p:cNvSpPr/>
          <p:nvPr/>
        </p:nvSpPr>
        <p:spPr>
          <a:xfrm>
            <a:off x="7589519" y="3095244"/>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03" name="TextBox 28"/>
          <p:cNvSpPr txBox="1"/>
          <p:nvPr/>
        </p:nvSpPr>
        <p:spPr>
          <a:xfrm>
            <a:off x="7703819" y="2830067"/>
            <a:ext cx="1463041"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add preset items</a:t>
            </a:r>
          </a:p>
        </p:txBody>
      </p:sp>
      <p:sp>
        <p:nvSpPr>
          <p:cNvPr id="404" name="Connector 29"/>
          <p:cNvSpPr/>
          <p:nvPr/>
        </p:nvSpPr>
        <p:spPr>
          <a:xfrm flipH="1">
            <a:off x="7589519" y="3351276"/>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05" name="TextBox 30"/>
          <p:cNvSpPr txBox="1"/>
          <p:nvPr/>
        </p:nvSpPr>
        <p:spPr>
          <a:xfrm>
            <a:off x="7703819" y="3415284"/>
            <a:ext cx="146304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clothing data</a:t>
            </a:r>
          </a:p>
        </p:txBody>
      </p:sp>
      <p:grpSp>
        <p:nvGrpSpPr>
          <p:cNvPr id="408" name="Oval 31"/>
          <p:cNvGrpSpPr/>
          <p:nvPr/>
        </p:nvGrpSpPr>
        <p:grpSpPr>
          <a:xfrm>
            <a:off x="5852159" y="4160520"/>
            <a:ext cx="1737361" cy="777241"/>
            <a:chOff x="0" y="0"/>
            <a:chExt cx="1737360" cy="777240"/>
          </a:xfrm>
        </p:grpSpPr>
        <p:sp>
          <p:nvSpPr>
            <p:cNvPr id="406"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407" name="Manage AI…"/>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Manage AI</a:t>
              </a:r>
              <a:endParaRPr>
                <a:solidFill>
                  <a:srgbClr val="FFFFFF"/>
                </a:solidFill>
              </a:endParaRPr>
            </a:p>
            <a:p>
              <a:pPr algn="ctr">
                <a:defRPr b="1" sz="1000">
                  <a:solidFill>
                    <a:srgbClr val="5A4291"/>
                  </a:solidFill>
                </a:defRPr>
              </a:pPr>
              <a:r>
                <a:t>Models &amp; Rules</a:t>
              </a:r>
            </a:p>
          </p:txBody>
        </p:sp>
      </p:grpSp>
      <p:sp>
        <p:nvSpPr>
          <p:cNvPr id="409" name="Connector 32"/>
          <p:cNvSpPr/>
          <p:nvPr/>
        </p:nvSpPr>
        <p:spPr>
          <a:xfrm>
            <a:off x="3703319" y="3886200"/>
            <a:ext cx="2148842" cy="662940"/>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10" name="TextBox 33"/>
          <p:cNvSpPr txBox="1"/>
          <p:nvPr/>
        </p:nvSpPr>
        <p:spPr>
          <a:xfrm>
            <a:off x="3520438" y="3970782"/>
            <a:ext cx="91440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413" name="Rectangle 34"/>
          <p:cNvGrpSpPr/>
          <p:nvPr/>
        </p:nvGrpSpPr>
        <p:grpSpPr>
          <a:xfrm>
            <a:off x="9281159" y="4320540"/>
            <a:ext cx="2590801" cy="508001"/>
            <a:chOff x="0" y="0"/>
            <a:chExt cx="2590800" cy="508000"/>
          </a:xfrm>
        </p:grpSpPr>
        <p:sp>
          <p:nvSpPr>
            <p:cNvPr id="411"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412" name="outfits"/>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outfits</a:t>
              </a:r>
            </a:p>
          </p:txBody>
        </p:sp>
      </p:grpSp>
      <p:sp>
        <p:nvSpPr>
          <p:cNvPr id="414" name="Connector 35"/>
          <p:cNvSpPr/>
          <p:nvPr/>
        </p:nvSpPr>
        <p:spPr>
          <a:xfrm>
            <a:off x="9427464" y="4320540"/>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415" name="Connector 36"/>
          <p:cNvSpPr/>
          <p:nvPr/>
        </p:nvSpPr>
        <p:spPr>
          <a:xfrm>
            <a:off x="7589519" y="4421123"/>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16" name="TextBox 37"/>
          <p:cNvSpPr txBox="1"/>
          <p:nvPr/>
        </p:nvSpPr>
        <p:spPr>
          <a:xfrm>
            <a:off x="7703819" y="4155947"/>
            <a:ext cx="1463041"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configure rules</a:t>
            </a:r>
          </a:p>
        </p:txBody>
      </p:sp>
      <p:sp>
        <p:nvSpPr>
          <p:cNvPr id="417" name="Connector 38"/>
          <p:cNvSpPr/>
          <p:nvPr/>
        </p:nvSpPr>
        <p:spPr>
          <a:xfrm flipH="1">
            <a:off x="7589519" y="4677155"/>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18" name="TextBox 39"/>
          <p:cNvSpPr txBox="1"/>
          <p:nvPr/>
        </p:nvSpPr>
        <p:spPr>
          <a:xfrm>
            <a:off x="7703819" y="4741164"/>
            <a:ext cx="146304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outfit metrics</a:t>
            </a:r>
          </a:p>
        </p:txBody>
      </p:sp>
      <p:grpSp>
        <p:nvGrpSpPr>
          <p:cNvPr id="421" name="Oval 40"/>
          <p:cNvGrpSpPr/>
          <p:nvPr/>
        </p:nvGrpSpPr>
        <p:grpSpPr>
          <a:xfrm>
            <a:off x="5852159" y="5486399"/>
            <a:ext cx="1737361" cy="777242"/>
            <a:chOff x="0" y="0"/>
            <a:chExt cx="1737360" cy="777240"/>
          </a:xfrm>
        </p:grpSpPr>
        <p:sp>
          <p:nvSpPr>
            <p:cNvPr id="419" name="Oval"/>
            <p:cNvSpPr/>
            <p:nvPr/>
          </p:nvSpPr>
          <p:spPr>
            <a:xfrm>
              <a:off x="-1" y="-1"/>
              <a:ext cx="1737362" cy="777242"/>
            </a:xfrm>
            <a:prstGeom prst="ellipse">
              <a:avLst/>
            </a:prstGeom>
            <a:solidFill>
              <a:srgbClr val="FFFFFF"/>
            </a:solidFill>
            <a:ln w="19050"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420" name="Feedback &amp;…"/>
            <p:cNvSpPr txBox="1"/>
            <p:nvPr/>
          </p:nvSpPr>
          <p:spPr>
            <a:xfrm>
              <a:off x="289354" y="210820"/>
              <a:ext cx="1158652"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000">
                  <a:solidFill>
                    <a:srgbClr val="5A4291"/>
                  </a:solidFill>
                </a:defRPr>
              </a:pPr>
              <a:r>
                <a:t>Feedback &amp;</a:t>
              </a:r>
              <a:endParaRPr>
                <a:solidFill>
                  <a:srgbClr val="FFFFFF"/>
                </a:solidFill>
              </a:endParaRPr>
            </a:p>
            <a:p>
              <a:pPr algn="ctr">
                <a:defRPr b="1" sz="1000">
                  <a:solidFill>
                    <a:srgbClr val="5A4291"/>
                  </a:solidFill>
                </a:defRPr>
              </a:pPr>
              <a:r>
                <a:t>Analytics Log</a:t>
              </a:r>
            </a:p>
          </p:txBody>
        </p:sp>
      </p:grpSp>
      <p:sp>
        <p:nvSpPr>
          <p:cNvPr id="422" name="Connector 41"/>
          <p:cNvSpPr/>
          <p:nvPr/>
        </p:nvSpPr>
        <p:spPr>
          <a:xfrm>
            <a:off x="3703320" y="3886199"/>
            <a:ext cx="2148841" cy="198882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23" name="TextBox 42"/>
          <p:cNvSpPr txBox="1"/>
          <p:nvPr/>
        </p:nvSpPr>
        <p:spPr>
          <a:xfrm>
            <a:off x="3520438" y="4633721"/>
            <a:ext cx="914401" cy="14783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valid user</a:t>
            </a:r>
          </a:p>
        </p:txBody>
      </p:sp>
      <p:grpSp>
        <p:nvGrpSpPr>
          <p:cNvPr id="426" name="Rectangle 43"/>
          <p:cNvGrpSpPr/>
          <p:nvPr/>
        </p:nvGrpSpPr>
        <p:grpSpPr>
          <a:xfrm>
            <a:off x="9281159" y="5646420"/>
            <a:ext cx="2590801" cy="508001"/>
            <a:chOff x="0" y="0"/>
            <a:chExt cx="2590800" cy="508000"/>
          </a:xfrm>
        </p:grpSpPr>
        <p:sp>
          <p:nvSpPr>
            <p:cNvPr id="424" name="Rectangle"/>
            <p:cNvSpPr/>
            <p:nvPr/>
          </p:nvSpPr>
          <p:spPr>
            <a:xfrm>
              <a:off x="-1" y="0"/>
              <a:ext cx="2590801" cy="508000"/>
            </a:xfrm>
            <a:prstGeom prst="rect">
              <a:avLst/>
            </a:prstGeom>
            <a:solidFill>
              <a:srgbClr val="FFFFFF"/>
            </a:solidFill>
            <a:ln w="15875" cap="flat">
              <a:solidFill>
                <a:srgbClr val="5A4291"/>
              </a:solidFill>
              <a:prstDash val="solid"/>
              <a:miter lim="800000"/>
            </a:ln>
            <a:effectLst/>
          </p:spPr>
          <p:txBody>
            <a:bodyPr wrap="square" lIns="0" tIns="0" rIns="0" bIns="0" numCol="1" anchor="ctr">
              <a:noAutofit/>
            </a:bodyPr>
            <a:lstStyle/>
            <a:p>
              <a:pPr algn="ctr">
                <a:defRPr>
                  <a:solidFill>
                    <a:srgbClr val="FFFFFF"/>
                  </a:solidFill>
                  <a:latin typeface="Arial"/>
                  <a:ea typeface="Arial"/>
                  <a:cs typeface="Arial"/>
                  <a:sym typeface="Arial"/>
                </a:defRPr>
              </a:pPr>
            </a:p>
          </p:txBody>
        </p:sp>
        <p:sp>
          <p:nvSpPr>
            <p:cNvPr id="425" name="outfit_feedback"/>
            <p:cNvSpPr txBox="1"/>
            <p:nvPr/>
          </p:nvSpPr>
          <p:spPr>
            <a:xfrm>
              <a:off x="143157" y="141111"/>
              <a:ext cx="2410602" cy="225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noAutofit/>
            </a:bodyPr>
            <a:lstStyle>
              <a:lvl1pPr algn="ctr">
                <a:defRPr b="1" sz="1000">
                  <a:solidFill>
                    <a:srgbClr val="5A4291"/>
                  </a:solidFill>
                </a:defRPr>
              </a:lvl1pPr>
            </a:lstStyle>
            <a:p>
              <a:pPr/>
              <a:r>
                <a:t>outfit_feedback</a:t>
              </a:r>
            </a:p>
          </p:txBody>
        </p:sp>
      </p:grpSp>
      <p:sp>
        <p:nvSpPr>
          <p:cNvPr id="427" name="Connector 44"/>
          <p:cNvSpPr/>
          <p:nvPr/>
        </p:nvSpPr>
        <p:spPr>
          <a:xfrm>
            <a:off x="9427464" y="5646420"/>
            <a:ext cx="1" cy="457201"/>
          </a:xfrm>
          <a:prstGeom prst="line">
            <a:avLst/>
          </a:prstGeom>
          <a:ln w="15875">
            <a:solidFill>
              <a:srgbClr val="5A4291"/>
            </a:solidFill>
            <a:miter/>
          </a:ln>
        </p:spPr>
        <p:txBody>
          <a:bodyPr lIns="0" tIns="0" rIns="0" bIns="0"/>
          <a:lstStyle/>
          <a:p>
            <a:pPr>
              <a:defRPr>
                <a:latin typeface="Arial"/>
                <a:ea typeface="Arial"/>
                <a:cs typeface="Arial"/>
                <a:sym typeface="Arial"/>
              </a:defRPr>
            </a:pPr>
          </a:p>
        </p:txBody>
      </p:sp>
      <p:sp>
        <p:nvSpPr>
          <p:cNvPr id="428" name="Connector 45"/>
          <p:cNvSpPr/>
          <p:nvPr/>
        </p:nvSpPr>
        <p:spPr>
          <a:xfrm>
            <a:off x="7589519" y="5747003"/>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29" name="TextBox 46"/>
          <p:cNvSpPr txBox="1"/>
          <p:nvPr/>
        </p:nvSpPr>
        <p:spPr>
          <a:xfrm>
            <a:off x="7703819" y="5481828"/>
            <a:ext cx="146304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log audit action</a:t>
            </a:r>
          </a:p>
        </p:txBody>
      </p:sp>
      <p:sp>
        <p:nvSpPr>
          <p:cNvPr id="430" name="Connector 47"/>
          <p:cNvSpPr/>
          <p:nvPr/>
        </p:nvSpPr>
        <p:spPr>
          <a:xfrm flipH="1">
            <a:off x="7589519" y="6003035"/>
            <a:ext cx="1691641" cy="1"/>
          </a:xfrm>
          <a:prstGeom prst="line">
            <a:avLst/>
          </a:prstGeom>
          <a:ln w="15875">
            <a:solidFill>
              <a:srgbClr val="5A4291"/>
            </a:solidFill>
            <a:miter/>
            <a:tailEnd type="triangle"/>
          </a:ln>
        </p:spPr>
        <p:txBody>
          <a:bodyPr lIns="0" tIns="0" rIns="0" bIns="0"/>
          <a:lstStyle/>
          <a:p>
            <a:pPr>
              <a:defRPr>
                <a:latin typeface="Arial"/>
                <a:ea typeface="Arial"/>
                <a:cs typeface="Arial"/>
                <a:sym typeface="Arial"/>
              </a:defRPr>
            </a:pPr>
          </a:p>
        </p:txBody>
      </p:sp>
      <p:sp>
        <p:nvSpPr>
          <p:cNvPr id="431" name="TextBox 48"/>
          <p:cNvSpPr txBox="1"/>
          <p:nvPr/>
        </p:nvSpPr>
        <p:spPr>
          <a:xfrm>
            <a:off x="7703819" y="6067044"/>
            <a:ext cx="1463041" cy="147830"/>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85F79"/>
                </a:solidFill>
                <a:latin typeface="Arial"/>
                <a:ea typeface="Arial"/>
                <a:cs typeface="Arial"/>
                <a:sym typeface="Arial"/>
              </a:defRPr>
            </a:lvl1pPr>
          </a:lstStyle>
          <a:p>
            <a:pPr/>
            <a:r>
              <a:t>get feedback stats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AFF"/>
        </a:solidFill>
      </p:bgPr>
    </p:bg>
    <p:spTree>
      <p:nvGrpSpPr>
        <p:cNvPr id="1" name=""/>
        <p:cNvGrpSpPr/>
        <p:nvPr/>
      </p:nvGrpSpPr>
      <p:grpSpPr>
        <a:xfrm>
          <a:off x="0" y="0"/>
          <a:ext cx="0" cy="0"/>
          <a:chOff x="0" y="0"/>
          <a:chExt cx="0" cy="0"/>
        </a:xfrm>
      </p:grpSpPr>
      <p:sp>
        <p:nvSpPr>
          <p:cNvPr id="433" name="TextBox 1"/>
          <p:cNvSpPr txBox="1"/>
          <p:nvPr/>
        </p:nvSpPr>
        <p:spPr>
          <a:xfrm>
            <a:off x="640080" y="347472"/>
            <a:ext cx="3774521"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2100">
                <a:solidFill>
                  <a:srgbClr val="5B46A0"/>
                </a:solidFill>
                <a:latin typeface="Aptos"/>
                <a:ea typeface="Aptos"/>
                <a:cs typeface="Aptos"/>
                <a:sym typeface="Aptos"/>
              </a:defRPr>
            </a:lvl1pPr>
          </a:lstStyle>
          <a:p>
            <a:pPr/>
            <a:r>
              <a:t>07  ·  DATASET &amp; DATABASE</a:t>
            </a:r>
          </a:p>
        </p:txBody>
      </p:sp>
      <p:sp>
        <p:nvSpPr>
          <p:cNvPr id="434" name="Rounded Rectangle 3"/>
          <p:cNvSpPr/>
          <p:nvPr/>
        </p:nvSpPr>
        <p:spPr>
          <a:xfrm>
            <a:off x="323806" y="826614"/>
            <a:ext cx="5817122" cy="5102355"/>
          </a:xfrm>
          <a:prstGeom prst="roundRect">
            <a:avLst>
              <a:gd name="adj" fmla="val 15681"/>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35" name="TextBox 4"/>
          <p:cNvSpPr txBox="1"/>
          <p:nvPr/>
        </p:nvSpPr>
        <p:spPr>
          <a:xfrm>
            <a:off x="719820" y="1351076"/>
            <a:ext cx="1826231"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5B46A0"/>
                </a:solidFill>
                <a:latin typeface="Aptos"/>
                <a:ea typeface="Aptos"/>
                <a:cs typeface="Aptos"/>
                <a:sym typeface="Aptos"/>
              </a:defRPr>
            </a:lvl1pPr>
          </a:lstStyle>
          <a:p>
            <a:pPr/>
            <a:r>
              <a:t>TRAINING DATASET</a:t>
            </a:r>
          </a:p>
        </p:txBody>
      </p:sp>
      <p:sp>
        <p:nvSpPr>
          <p:cNvPr id="436" name="TextBox 5"/>
          <p:cNvSpPr txBox="1"/>
          <p:nvPr/>
        </p:nvSpPr>
        <p:spPr>
          <a:xfrm>
            <a:off x="901415" y="1750160"/>
            <a:ext cx="3604839"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Clothing Dataset (Full)  ·  Alexey Grigorev</a:t>
            </a:r>
          </a:p>
        </p:txBody>
      </p:sp>
      <p:sp>
        <p:nvSpPr>
          <p:cNvPr id="437" name="TextBox 6"/>
          <p:cNvSpPr txBox="1"/>
          <p:nvPr/>
        </p:nvSpPr>
        <p:spPr>
          <a:xfrm>
            <a:off x="901415" y="2253080"/>
            <a:ext cx="8036816"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65607A"/>
                </a:solidFill>
                <a:latin typeface="Aptos"/>
                <a:ea typeface="Aptos"/>
                <a:cs typeface="Aptos"/>
                <a:sym typeface="Aptos"/>
              </a:defRPr>
            </a:lvl1pPr>
          </a:lstStyle>
          <a:p>
            <a:pPr/>
            <a:r>
              <a:t>Purpose: Train and evaluate MobileNetV2 for automatic clothing-category classification in Wearlytics.</a:t>
            </a:r>
          </a:p>
        </p:txBody>
      </p:sp>
      <p:sp>
        <p:nvSpPr>
          <p:cNvPr id="438" name="Rounded Rectangle 7"/>
          <p:cNvSpPr/>
          <p:nvPr/>
        </p:nvSpPr>
        <p:spPr>
          <a:xfrm>
            <a:off x="855695" y="2893160"/>
            <a:ext cx="1554481" cy="749809"/>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39" name="TextBox 8"/>
          <p:cNvSpPr txBox="1"/>
          <p:nvPr/>
        </p:nvSpPr>
        <p:spPr>
          <a:xfrm>
            <a:off x="1358398" y="2993744"/>
            <a:ext cx="549075"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defTabSz="457200">
              <a:defRPr b="1" sz="1400">
                <a:solidFill>
                  <a:srgbClr val="5B46A0"/>
                </a:solidFill>
                <a:latin typeface="Aptos"/>
                <a:ea typeface="Aptos"/>
                <a:cs typeface="Aptos"/>
                <a:sym typeface="Aptos"/>
              </a:defRPr>
            </a:lvl1pPr>
          </a:lstStyle>
          <a:p>
            <a:pPr/>
            <a:r>
              <a:t>5,403</a:t>
            </a:r>
          </a:p>
        </p:txBody>
      </p:sp>
      <p:sp>
        <p:nvSpPr>
          <p:cNvPr id="440" name="TextBox 9"/>
          <p:cNvSpPr txBox="1"/>
          <p:nvPr/>
        </p:nvSpPr>
        <p:spPr>
          <a:xfrm>
            <a:off x="854385" y="3286352"/>
            <a:ext cx="1557101"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defTabSz="457200">
              <a:defRPr sz="1400">
                <a:solidFill>
                  <a:srgbClr val="65607A"/>
                </a:solidFill>
                <a:latin typeface="Aptos"/>
                <a:ea typeface="Aptos"/>
                <a:cs typeface="Aptos"/>
                <a:sym typeface="Aptos"/>
              </a:defRPr>
            </a:lvl1pPr>
          </a:lstStyle>
          <a:p>
            <a:pPr/>
            <a:r>
              <a:t>Annotated records</a:t>
            </a:r>
          </a:p>
        </p:txBody>
      </p:sp>
      <p:sp>
        <p:nvSpPr>
          <p:cNvPr id="441" name="Rounded Rectangle 10"/>
          <p:cNvSpPr/>
          <p:nvPr/>
        </p:nvSpPr>
        <p:spPr>
          <a:xfrm>
            <a:off x="2611343" y="2893160"/>
            <a:ext cx="1554481" cy="749809"/>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42" name="TextBox 11"/>
          <p:cNvSpPr txBox="1"/>
          <p:nvPr/>
        </p:nvSpPr>
        <p:spPr>
          <a:xfrm>
            <a:off x="3114046" y="2993744"/>
            <a:ext cx="549075"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defTabSz="457200">
              <a:defRPr b="1" sz="1400">
                <a:solidFill>
                  <a:srgbClr val="5B46A0"/>
                </a:solidFill>
                <a:latin typeface="Aptos"/>
                <a:ea typeface="Aptos"/>
                <a:cs typeface="Aptos"/>
                <a:sym typeface="Aptos"/>
              </a:defRPr>
            </a:lvl1pPr>
          </a:lstStyle>
          <a:p>
            <a:pPr/>
            <a:r>
              <a:t>5,096</a:t>
            </a:r>
          </a:p>
        </p:txBody>
      </p:sp>
      <p:sp>
        <p:nvSpPr>
          <p:cNvPr id="443" name="TextBox 12"/>
          <p:cNvSpPr txBox="1"/>
          <p:nvPr/>
        </p:nvSpPr>
        <p:spPr>
          <a:xfrm>
            <a:off x="2738652" y="3286352"/>
            <a:ext cx="1299863"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defTabSz="457200">
              <a:defRPr sz="1400">
                <a:solidFill>
                  <a:srgbClr val="65607A"/>
                </a:solidFill>
                <a:latin typeface="Aptos"/>
                <a:ea typeface="Aptos"/>
                <a:cs typeface="Aptos"/>
                <a:sym typeface="Aptos"/>
              </a:defRPr>
            </a:lvl1pPr>
          </a:lstStyle>
          <a:p>
            <a:pPr/>
            <a:r>
              <a:t>Usable records</a:t>
            </a:r>
          </a:p>
        </p:txBody>
      </p:sp>
      <p:sp>
        <p:nvSpPr>
          <p:cNvPr id="444" name="Rounded Rectangle 13"/>
          <p:cNvSpPr/>
          <p:nvPr/>
        </p:nvSpPr>
        <p:spPr>
          <a:xfrm>
            <a:off x="4366991" y="2893160"/>
            <a:ext cx="1554481" cy="749809"/>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45" name="TextBox 14"/>
          <p:cNvSpPr txBox="1"/>
          <p:nvPr/>
        </p:nvSpPr>
        <p:spPr>
          <a:xfrm>
            <a:off x="5042719" y="2993744"/>
            <a:ext cx="203025"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defTabSz="457200">
              <a:defRPr b="1" sz="1400">
                <a:solidFill>
                  <a:srgbClr val="5B46A0"/>
                </a:solidFill>
                <a:latin typeface="Aptos"/>
                <a:ea typeface="Aptos"/>
                <a:cs typeface="Aptos"/>
                <a:sym typeface="Aptos"/>
              </a:defRPr>
            </a:lvl1pPr>
          </a:lstStyle>
          <a:p>
            <a:pPr/>
            <a:r>
              <a:t>6</a:t>
            </a:r>
          </a:p>
        </p:txBody>
      </p:sp>
      <p:sp>
        <p:nvSpPr>
          <p:cNvPr id="446" name="TextBox 15"/>
          <p:cNvSpPr txBox="1"/>
          <p:nvPr/>
        </p:nvSpPr>
        <p:spPr>
          <a:xfrm>
            <a:off x="4464609" y="3286352"/>
            <a:ext cx="1359246"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defTabSz="457200">
              <a:defRPr sz="1400">
                <a:solidFill>
                  <a:srgbClr val="65607A"/>
                </a:solidFill>
                <a:latin typeface="Aptos"/>
                <a:ea typeface="Aptos"/>
                <a:cs typeface="Aptos"/>
                <a:sym typeface="Aptos"/>
              </a:defRPr>
            </a:lvl1pPr>
          </a:lstStyle>
          <a:p>
            <a:pPr/>
            <a:r>
              <a:t>Final categories</a:t>
            </a:r>
          </a:p>
        </p:txBody>
      </p:sp>
      <p:sp>
        <p:nvSpPr>
          <p:cNvPr id="447" name="TextBox 16"/>
          <p:cNvSpPr txBox="1"/>
          <p:nvPr/>
        </p:nvSpPr>
        <p:spPr>
          <a:xfrm>
            <a:off x="756939" y="3857852"/>
            <a:ext cx="706908"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5B46A0"/>
                </a:solidFill>
                <a:latin typeface="Aptos"/>
                <a:ea typeface="Aptos"/>
                <a:cs typeface="Aptos"/>
                <a:sym typeface="Aptos"/>
              </a:defRPr>
            </a:lvl1pPr>
          </a:lstStyle>
          <a:p>
            <a:pPr/>
            <a:r>
              <a:t>Source</a:t>
            </a:r>
          </a:p>
        </p:txBody>
      </p:sp>
      <p:sp>
        <p:nvSpPr>
          <p:cNvPr id="448" name="TextBox 17"/>
          <p:cNvSpPr txBox="1"/>
          <p:nvPr/>
        </p:nvSpPr>
        <p:spPr>
          <a:xfrm>
            <a:off x="943179" y="4132172"/>
            <a:ext cx="2821581"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Kaggle — “Clothing Dataset (Full)”</a:t>
            </a:r>
          </a:p>
        </p:txBody>
      </p:sp>
      <p:sp>
        <p:nvSpPr>
          <p:cNvPr id="449" name="TextBox 18"/>
          <p:cNvSpPr txBox="1"/>
          <p:nvPr/>
        </p:nvSpPr>
        <p:spPr>
          <a:xfrm>
            <a:off x="713458" y="4443449"/>
            <a:ext cx="2202146"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5B46A0"/>
                </a:solidFill>
                <a:latin typeface="Aptos"/>
                <a:ea typeface="Aptos"/>
                <a:cs typeface="Aptos"/>
                <a:sym typeface="Aptos"/>
              </a:defRPr>
            </a:lvl1pPr>
          </a:lstStyle>
          <a:p>
            <a:pPr/>
            <a:r>
              <a:t>Key Features / Attributes</a:t>
            </a:r>
          </a:p>
        </p:txBody>
      </p:sp>
      <p:sp>
        <p:nvSpPr>
          <p:cNvPr id="450" name="TextBox 19"/>
          <p:cNvSpPr txBox="1"/>
          <p:nvPr/>
        </p:nvSpPr>
        <p:spPr>
          <a:xfrm>
            <a:off x="901415" y="4721960"/>
            <a:ext cx="5291334" cy="31072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Image → 224 × 224 RGB tensor  |  Target → 6 clothing categories</a:t>
            </a:r>
          </a:p>
        </p:txBody>
      </p:sp>
      <p:sp>
        <p:nvSpPr>
          <p:cNvPr id="451" name="TextBox 20"/>
          <p:cNvSpPr txBox="1"/>
          <p:nvPr/>
        </p:nvSpPr>
        <p:spPr>
          <a:xfrm>
            <a:off x="756939" y="5135133"/>
            <a:ext cx="924122"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5B46A0"/>
                </a:solidFill>
                <a:latin typeface="Aptos"/>
                <a:ea typeface="Aptos"/>
                <a:cs typeface="Aptos"/>
                <a:sym typeface="Aptos"/>
              </a:defRPr>
            </a:lvl1pPr>
          </a:lstStyle>
          <a:p>
            <a:pPr/>
            <a:r>
              <a:t>Data Split</a:t>
            </a:r>
          </a:p>
        </p:txBody>
      </p:sp>
      <p:sp>
        <p:nvSpPr>
          <p:cNvPr id="452" name="TextBox 21"/>
          <p:cNvSpPr txBox="1"/>
          <p:nvPr/>
        </p:nvSpPr>
        <p:spPr>
          <a:xfrm>
            <a:off x="901415" y="5544920"/>
            <a:ext cx="4112715"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Training: 3,823  ·  Validation: 764  ·  Testing: 509</a:t>
            </a:r>
          </a:p>
        </p:txBody>
      </p:sp>
      <p:sp>
        <p:nvSpPr>
          <p:cNvPr id="453" name="Rounded Rectangle 22"/>
          <p:cNvSpPr/>
          <p:nvPr/>
        </p:nvSpPr>
        <p:spPr>
          <a:xfrm>
            <a:off x="6369527" y="826614"/>
            <a:ext cx="5230369" cy="5102355"/>
          </a:xfrm>
          <a:prstGeom prst="roundRect">
            <a:avLst>
              <a:gd name="adj" fmla="val 15681"/>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54" name="TextBox 23"/>
          <p:cNvSpPr txBox="1"/>
          <p:nvPr/>
        </p:nvSpPr>
        <p:spPr>
          <a:xfrm>
            <a:off x="6589968" y="1057410"/>
            <a:ext cx="1065719"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5B46A0"/>
                </a:solidFill>
                <a:latin typeface="Aptos"/>
                <a:ea typeface="Aptos"/>
                <a:cs typeface="Aptos"/>
                <a:sym typeface="Aptos"/>
              </a:defRPr>
            </a:lvl1pPr>
          </a:lstStyle>
          <a:p>
            <a:pPr/>
            <a:r>
              <a:t>DATABASE</a:t>
            </a:r>
          </a:p>
        </p:txBody>
      </p:sp>
      <p:sp>
        <p:nvSpPr>
          <p:cNvPr id="455" name="TextBox 24"/>
          <p:cNvSpPr txBox="1"/>
          <p:nvPr/>
        </p:nvSpPr>
        <p:spPr>
          <a:xfrm>
            <a:off x="6705478" y="1375256"/>
            <a:ext cx="2732681"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65607A"/>
                </a:solidFill>
                <a:latin typeface="Aptos"/>
                <a:ea typeface="Aptos"/>
                <a:cs typeface="Aptos"/>
                <a:sym typeface="Aptos"/>
              </a:defRPr>
            </a:lvl1pPr>
          </a:lstStyle>
          <a:p>
            <a:pPr/>
            <a:r>
              <a:t>Wearlytics Application Schema</a:t>
            </a:r>
          </a:p>
        </p:txBody>
      </p:sp>
      <p:sp>
        <p:nvSpPr>
          <p:cNvPr id="456" name="Rounded Rectangle 25"/>
          <p:cNvSpPr/>
          <p:nvPr/>
        </p:nvSpPr>
        <p:spPr>
          <a:xfrm>
            <a:off x="6598127" y="1834487"/>
            <a:ext cx="4709161" cy="411481"/>
          </a:xfrm>
          <a:prstGeom prst="roundRect">
            <a:avLst>
              <a:gd name="adj" fmla="val 16667"/>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57" name="TextBox 26"/>
          <p:cNvSpPr txBox="1"/>
          <p:nvPr/>
        </p:nvSpPr>
        <p:spPr>
          <a:xfrm>
            <a:off x="6728483" y="1886557"/>
            <a:ext cx="683640"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5B46A0"/>
                </a:solidFill>
                <a:latin typeface="Aptos"/>
                <a:ea typeface="Aptos"/>
                <a:cs typeface="Aptos"/>
                <a:sym typeface="Aptos"/>
              </a:defRPr>
            </a:lvl1pPr>
          </a:lstStyle>
          <a:p>
            <a:pPr/>
            <a:r>
              <a:t>TABLE</a:t>
            </a:r>
          </a:p>
        </p:txBody>
      </p:sp>
      <p:sp>
        <p:nvSpPr>
          <p:cNvPr id="458" name="TextBox 27"/>
          <p:cNvSpPr txBox="1"/>
          <p:nvPr/>
        </p:nvSpPr>
        <p:spPr>
          <a:xfrm>
            <a:off x="8701247" y="1881888"/>
            <a:ext cx="973607"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5B46A0"/>
                </a:solidFill>
                <a:latin typeface="Aptos"/>
                <a:ea typeface="Aptos"/>
                <a:cs typeface="Aptos"/>
                <a:sym typeface="Aptos"/>
              </a:defRPr>
            </a:lvl1pPr>
          </a:lstStyle>
          <a:p>
            <a:pPr/>
            <a:r>
              <a:t>PURPOSE</a:t>
            </a:r>
          </a:p>
        </p:txBody>
      </p:sp>
      <p:sp>
        <p:nvSpPr>
          <p:cNvPr id="459" name="Rectangle 28"/>
          <p:cNvSpPr/>
          <p:nvPr/>
        </p:nvSpPr>
        <p:spPr>
          <a:xfrm>
            <a:off x="6598127" y="2557626"/>
            <a:ext cx="4709160" cy="329185"/>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60" name="TextBox 29"/>
          <p:cNvSpPr txBox="1"/>
          <p:nvPr/>
        </p:nvSpPr>
        <p:spPr>
          <a:xfrm>
            <a:off x="6781007" y="2573120"/>
            <a:ext cx="578593"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users</a:t>
            </a:r>
          </a:p>
        </p:txBody>
      </p:sp>
      <p:sp>
        <p:nvSpPr>
          <p:cNvPr id="461" name="TextBox 30"/>
          <p:cNvSpPr txBox="1"/>
          <p:nvPr/>
        </p:nvSpPr>
        <p:spPr>
          <a:xfrm>
            <a:off x="8701247" y="2573120"/>
            <a:ext cx="2160041"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Accounts &amp; authentication</a:t>
            </a:r>
          </a:p>
        </p:txBody>
      </p:sp>
      <p:sp>
        <p:nvSpPr>
          <p:cNvPr id="462" name="TextBox 31"/>
          <p:cNvSpPr txBox="1"/>
          <p:nvPr/>
        </p:nvSpPr>
        <p:spPr>
          <a:xfrm>
            <a:off x="6781007" y="2902304"/>
            <a:ext cx="1358812"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clothing_items</a:t>
            </a:r>
          </a:p>
        </p:txBody>
      </p:sp>
      <p:sp>
        <p:nvSpPr>
          <p:cNvPr id="463" name="TextBox 32"/>
          <p:cNvSpPr txBox="1"/>
          <p:nvPr/>
        </p:nvSpPr>
        <p:spPr>
          <a:xfrm>
            <a:off x="8701247" y="2902304"/>
            <a:ext cx="2518853"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Wardrobe items &amp; AI metadata</a:t>
            </a:r>
          </a:p>
        </p:txBody>
      </p:sp>
      <p:sp>
        <p:nvSpPr>
          <p:cNvPr id="464" name="Rectangle 33"/>
          <p:cNvSpPr/>
          <p:nvPr/>
        </p:nvSpPr>
        <p:spPr>
          <a:xfrm>
            <a:off x="6598128" y="3213199"/>
            <a:ext cx="4709160" cy="329185"/>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65" name="TextBox 34"/>
          <p:cNvSpPr txBox="1"/>
          <p:nvPr/>
        </p:nvSpPr>
        <p:spPr>
          <a:xfrm>
            <a:off x="6781007" y="3231487"/>
            <a:ext cx="647265"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outfits</a:t>
            </a:r>
          </a:p>
        </p:txBody>
      </p:sp>
      <p:sp>
        <p:nvSpPr>
          <p:cNvPr id="466" name="TextBox 35"/>
          <p:cNvSpPr txBox="1"/>
          <p:nvPr/>
        </p:nvSpPr>
        <p:spPr>
          <a:xfrm>
            <a:off x="8701247" y="3231487"/>
            <a:ext cx="2090761"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Generated / saved outfits</a:t>
            </a:r>
          </a:p>
        </p:txBody>
      </p:sp>
      <p:sp>
        <p:nvSpPr>
          <p:cNvPr id="467" name="TextBox 36"/>
          <p:cNvSpPr txBox="1"/>
          <p:nvPr/>
        </p:nvSpPr>
        <p:spPr>
          <a:xfrm>
            <a:off x="6781007" y="3560672"/>
            <a:ext cx="1111733"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outfit_items</a:t>
            </a:r>
          </a:p>
        </p:txBody>
      </p:sp>
      <p:sp>
        <p:nvSpPr>
          <p:cNvPr id="468" name="TextBox 37"/>
          <p:cNvSpPr txBox="1"/>
          <p:nvPr/>
        </p:nvSpPr>
        <p:spPr>
          <a:xfrm>
            <a:off x="8701247" y="3560672"/>
            <a:ext cx="2080864"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Items belonging to outfits</a:t>
            </a:r>
          </a:p>
        </p:txBody>
      </p:sp>
      <p:sp>
        <p:nvSpPr>
          <p:cNvPr id="469" name="Rectangle 38"/>
          <p:cNvSpPr/>
          <p:nvPr/>
        </p:nvSpPr>
        <p:spPr>
          <a:xfrm>
            <a:off x="6598128" y="3871568"/>
            <a:ext cx="4709160" cy="329185"/>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70" name="TextBox 39"/>
          <p:cNvSpPr txBox="1"/>
          <p:nvPr/>
        </p:nvSpPr>
        <p:spPr>
          <a:xfrm>
            <a:off x="6781007" y="3889856"/>
            <a:ext cx="1250639"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weekly_plans</a:t>
            </a:r>
          </a:p>
        </p:txBody>
      </p:sp>
      <p:sp>
        <p:nvSpPr>
          <p:cNvPr id="471" name="TextBox 40"/>
          <p:cNvSpPr txBox="1"/>
          <p:nvPr/>
        </p:nvSpPr>
        <p:spPr>
          <a:xfrm>
            <a:off x="8701247" y="3889856"/>
            <a:ext cx="2110729"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Seven-day outfit planning</a:t>
            </a:r>
          </a:p>
        </p:txBody>
      </p:sp>
      <p:sp>
        <p:nvSpPr>
          <p:cNvPr id="472" name="TextBox 41"/>
          <p:cNvSpPr txBox="1"/>
          <p:nvPr/>
        </p:nvSpPr>
        <p:spPr>
          <a:xfrm>
            <a:off x="6781007" y="4219040"/>
            <a:ext cx="1586705"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user_preferences</a:t>
            </a:r>
          </a:p>
        </p:txBody>
      </p:sp>
      <p:sp>
        <p:nvSpPr>
          <p:cNvPr id="473" name="TextBox 42"/>
          <p:cNvSpPr txBox="1"/>
          <p:nvPr/>
        </p:nvSpPr>
        <p:spPr>
          <a:xfrm>
            <a:off x="8701247" y="4219040"/>
            <a:ext cx="2278372"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User &amp; learned preferences</a:t>
            </a:r>
          </a:p>
        </p:txBody>
      </p:sp>
      <p:sp>
        <p:nvSpPr>
          <p:cNvPr id="474" name="Rectangle 43"/>
          <p:cNvSpPr/>
          <p:nvPr/>
        </p:nvSpPr>
        <p:spPr>
          <a:xfrm>
            <a:off x="6598128" y="4529936"/>
            <a:ext cx="4709160" cy="329185"/>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75" name="TextBox 44"/>
          <p:cNvSpPr txBox="1"/>
          <p:nvPr/>
        </p:nvSpPr>
        <p:spPr>
          <a:xfrm>
            <a:off x="6781007" y="4548224"/>
            <a:ext cx="1418108"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outfit_feedback</a:t>
            </a:r>
          </a:p>
        </p:txBody>
      </p:sp>
      <p:sp>
        <p:nvSpPr>
          <p:cNvPr id="476" name="TextBox 45"/>
          <p:cNvSpPr txBox="1"/>
          <p:nvPr/>
        </p:nvSpPr>
        <p:spPr>
          <a:xfrm>
            <a:off x="8701247" y="4548224"/>
            <a:ext cx="1843595"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Like / dislike feedback</a:t>
            </a:r>
          </a:p>
        </p:txBody>
      </p:sp>
      <p:sp>
        <p:nvSpPr>
          <p:cNvPr id="477" name="TextBox 46"/>
          <p:cNvSpPr txBox="1"/>
          <p:nvPr/>
        </p:nvSpPr>
        <p:spPr>
          <a:xfrm>
            <a:off x="6781007" y="4877408"/>
            <a:ext cx="1378433"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custom_outfits</a:t>
            </a:r>
          </a:p>
        </p:txBody>
      </p:sp>
      <p:sp>
        <p:nvSpPr>
          <p:cNvPr id="478" name="TextBox 47"/>
          <p:cNvSpPr txBox="1"/>
          <p:nvPr/>
        </p:nvSpPr>
        <p:spPr>
          <a:xfrm>
            <a:off x="8701247" y="4877408"/>
            <a:ext cx="2278024"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User-created custom outfits</a:t>
            </a:r>
          </a:p>
        </p:txBody>
      </p:sp>
      <p:sp>
        <p:nvSpPr>
          <p:cNvPr id="479" name="Rectangle 48"/>
          <p:cNvSpPr/>
          <p:nvPr/>
        </p:nvSpPr>
        <p:spPr>
          <a:xfrm>
            <a:off x="6598128" y="5188304"/>
            <a:ext cx="4709160" cy="329185"/>
          </a:xfrm>
          <a:prstGeom prst="rect">
            <a:avLst/>
          </a:prstGeom>
          <a:solidFill>
            <a:srgbClr val="FAF8FD"/>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80" name="TextBox 49"/>
          <p:cNvSpPr txBox="1"/>
          <p:nvPr/>
        </p:nvSpPr>
        <p:spPr>
          <a:xfrm>
            <a:off x="6781007" y="5206592"/>
            <a:ext cx="1842900"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1400">
                <a:solidFill>
                  <a:srgbClr val="2B2744"/>
                </a:solidFill>
                <a:latin typeface="Aptos"/>
                <a:ea typeface="Aptos"/>
                <a:cs typeface="Aptos"/>
                <a:sym typeface="Aptos"/>
              </a:defRPr>
            </a:lvl1pPr>
          </a:lstStyle>
          <a:p>
            <a:pPr/>
            <a:r>
              <a:t>custom_outfit_items</a:t>
            </a:r>
          </a:p>
        </p:txBody>
      </p:sp>
      <p:sp>
        <p:nvSpPr>
          <p:cNvPr id="481" name="TextBox 50"/>
          <p:cNvSpPr txBox="1"/>
          <p:nvPr/>
        </p:nvSpPr>
        <p:spPr>
          <a:xfrm>
            <a:off x="8701247" y="5206592"/>
            <a:ext cx="1872852"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sz="1400">
                <a:solidFill>
                  <a:srgbClr val="2B2744"/>
                </a:solidFill>
                <a:latin typeface="Aptos"/>
                <a:ea typeface="Aptos"/>
                <a:cs typeface="Aptos"/>
                <a:sym typeface="Aptos"/>
              </a:defRPr>
            </a:lvl1pPr>
          </a:lstStyle>
          <a:p>
            <a:pPr/>
            <a:r>
              <a:t>Items in custom outfits</a:t>
            </a:r>
          </a:p>
        </p:txBody>
      </p:sp>
      <p:sp>
        <p:nvSpPr>
          <p:cNvPr id="482" name="Rounded Rectangle 51"/>
          <p:cNvSpPr/>
          <p:nvPr/>
        </p:nvSpPr>
        <p:spPr>
          <a:xfrm>
            <a:off x="6360764" y="5752438"/>
            <a:ext cx="5435828" cy="749809"/>
          </a:xfrm>
          <a:prstGeom prst="roundRect">
            <a:avLst>
              <a:gd name="adj" fmla="val 11586"/>
            </a:avLst>
          </a:prstGeom>
          <a:solidFill>
            <a:srgbClr val="F2EDFA"/>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483" name="TextBox 52"/>
          <p:cNvSpPr txBox="1"/>
          <p:nvPr/>
        </p:nvSpPr>
        <p:spPr>
          <a:xfrm>
            <a:off x="6457144" y="5757772"/>
            <a:ext cx="5243069" cy="739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sz="1400">
                <a:solidFill>
                  <a:srgbClr val="65607A"/>
                </a:solidFill>
                <a:latin typeface="Aptos"/>
                <a:ea typeface="Aptos"/>
                <a:cs typeface="Aptos"/>
                <a:sym typeface="Aptos"/>
              </a:defRPr>
            </a:lvl1pPr>
          </a:lstStyle>
          <a:p>
            <a:pPr/>
            <a:r>
              <a:t>Main fields: users (id, username, email)  ·  clothing_items (id, user_id, type, color, image_path, season, occasion, wear_count, laundry)</a:t>
            </a:r>
          </a:p>
        </p:txBody>
      </p:sp>
      <p:sp>
        <p:nvSpPr>
          <p:cNvPr id="484" name="TextBox 53"/>
          <p:cNvSpPr txBox="1"/>
          <p:nvPr/>
        </p:nvSpPr>
        <p:spPr>
          <a:xfrm>
            <a:off x="586700" y="6105328"/>
            <a:ext cx="5291334" cy="5300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defRPr sz="1400">
                <a:solidFill>
                  <a:srgbClr val="65607A"/>
                </a:solidFill>
                <a:latin typeface="Aptos"/>
                <a:ea typeface="Aptos"/>
                <a:cs typeface="Aptos"/>
                <a:sym typeface="Aptos"/>
              </a:defRPr>
            </a:pPr>
            <a:r>
              <a:t>Dataset → Clothing Classification     |  </a:t>
            </a:r>
          </a:p>
          <a:p>
            <a:pPr defTabSz="457200">
              <a:defRPr sz="1400">
                <a:solidFill>
                  <a:srgbClr val="65607A"/>
                </a:solidFill>
                <a:latin typeface="Aptos"/>
                <a:ea typeface="Aptos"/>
                <a:cs typeface="Aptos"/>
                <a:sym typeface="Aptos"/>
              </a:defRPr>
            </a:pPr>
            <a:r>
              <a:t>Database → Wardrobe, Outfits, Planning, Feedback &amp; Analytics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AFF"/>
        </a:solidFill>
      </p:bgPr>
    </p:bg>
    <p:spTree>
      <p:nvGrpSpPr>
        <p:cNvPr id="1" name=""/>
        <p:cNvGrpSpPr/>
        <p:nvPr/>
      </p:nvGrpSpPr>
      <p:grpSpPr>
        <a:xfrm>
          <a:off x="0" y="0"/>
          <a:ext cx="0" cy="0"/>
          <a:chOff x="0" y="0"/>
          <a:chExt cx="0" cy="0"/>
        </a:xfrm>
      </p:grpSpPr>
      <p:sp>
        <p:nvSpPr>
          <p:cNvPr id="486" name="TextBox 1"/>
          <p:cNvSpPr txBox="1"/>
          <p:nvPr/>
        </p:nvSpPr>
        <p:spPr>
          <a:xfrm>
            <a:off x="630935" y="329184"/>
            <a:ext cx="4287791" cy="2905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700">
                <a:solidFill>
                  <a:srgbClr val="5B46A0"/>
                </a:solidFill>
                <a:latin typeface="Aptos"/>
                <a:ea typeface="Aptos"/>
                <a:cs typeface="Aptos"/>
                <a:sym typeface="Aptos"/>
              </a:defRPr>
            </a:lvl1pPr>
          </a:lstStyle>
          <a:p>
            <a:pPr/>
            <a:r>
              <a:t>08  ·  PROPOSED METHOD / ALGORITHM</a:t>
            </a:r>
          </a:p>
        </p:txBody>
      </p:sp>
      <p:sp>
        <p:nvSpPr>
          <p:cNvPr id="487" name="TextBox 4"/>
          <p:cNvSpPr txBox="1"/>
          <p:nvPr/>
        </p:nvSpPr>
        <p:spPr>
          <a:xfrm>
            <a:off x="638616" y="1212977"/>
            <a:ext cx="2483845" cy="2905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700">
                <a:solidFill>
                  <a:srgbClr val="5B46A0"/>
                </a:solidFill>
                <a:latin typeface="Aptos"/>
                <a:ea typeface="Aptos"/>
                <a:cs typeface="Aptos"/>
                <a:sym typeface="Aptos"/>
              </a:defRPr>
            </a:lvl1pPr>
          </a:lstStyle>
          <a:p>
            <a:pPr/>
            <a:r>
              <a:t>ALGORITHM WORKING</a:t>
            </a:r>
          </a:p>
        </p:txBody>
      </p:sp>
      <p:sp>
        <p:nvSpPr>
          <p:cNvPr id="488" name="Rounded Rectangle 5"/>
          <p:cNvSpPr/>
          <p:nvPr/>
        </p:nvSpPr>
        <p:spPr>
          <a:xfrm>
            <a:off x="658368" y="1847088"/>
            <a:ext cx="6080760" cy="603505"/>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489" name="Oval 6"/>
          <p:cNvSpPr/>
          <p:nvPr/>
        </p:nvSpPr>
        <p:spPr>
          <a:xfrm>
            <a:off x="822960" y="1929383"/>
            <a:ext cx="420625" cy="420625"/>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490" name="TextBox 7"/>
          <p:cNvSpPr txBox="1"/>
          <p:nvPr/>
        </p:nvSpPr>
        <p:spPr>
          <a:xfrm>
            <a:off x="945065" y="2016251"/>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01</a:t>
            </a:r>
          </a:p>
        </p:txBody>
      </p:sp>
      <p:sp>
        <p:nvSpPr>
          <p:cNvPr id="491" name="TextBox 8"/>
          <p:cNvSpPr txBox="1"/>
          <p:nvPr/>
        </p:nvSpPr>
        <p:spPr>
          <a:xfrm>
            <a:off x="1399032" y="1947672"/>
            <a:ext cx="133339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IMAGE UPLOAD</a:t>
            </a:r>
          </a:p>
        </p:txBody>
      </p:sp>
      <p:sp>
        <p:nvSpPr>
          <p:cNvPr id="492" name="TextBox 9"/>
          <p:cNvSpPr txBox="1"/>
          <p:nvPr/>
        </p:nvSpPr>
        <p:spPr>
          <a:xfrm>
            <a:off x="2789097" y="1922272"/>
            <a:ext cx="4052314"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500">
                <a:solidFill>
                  <a:srgbClr val="2D2844"/>
                </a:solidFill>
                <a:latin typeface="Aptos"/>
                <a:ea typeface="Aptos"/>
                <a:cs typeface="Aptos"/>
                <a:sym typeface="Aptos"/>
              </a:defRPr>
            </a:lvl1pPr>
          </a:lstStyle>
          <a:p>
            <a:pPr/>
            <a:r>
              <a:t>User uploads a clothing image.</a:t>
            </a:r>
          </a:p>
        </p:txBody>
      </p:sp>
      <p:sp>
        <p:nvSpPr>
          <p:cNvPr id="493" name="Connector 10"/>
          <p:cNvSpPr/>
          <p:nvPr/>
        </p:nvSpPr>
        <p:spPr>
          <a:xfrm>
            <a:off x="3703319" y="2450592"/>
            <a:ext cx="1" cy="109729"/>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9" rIns="45719"/>
          <a:lstStyle/>
          <a:p>
            <a:pPr defTabSz="457200">
              <a:defRPr>
                <a:latin typeface="+mn-lt"/>
                <a:ea typeface="+mn-ea"/>
                <a:cs typeface="+mn-cs"/>
                <a:sym typeface="Calibri"/>
              </a:defRPr>
            </a:pPr>
          </a:p>
        </p:txBody>
      </p:sp>
      <p:sp>
        <p:nvSpPr>
          <p:cNvPr id="494" name="Rounded Rectangle 11"/>
          <p:cNvSpPr/>
          <p:nvPr/>
        </p:nvSpPr>
        <p:spPr>
          <a:xfrm>
            <a:off x="658368" y="2542032"/>
            <a:ext cx="6080760" cy="603505"/>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495" name="Oval 12"/>
          <p:cNvSpPr/>
          <p:nvPr/>
        </p:nvSpPr>
        <p:spPr>
          <a:xfrm>
            <a:off x="822960" y="2624327"/>
            <a:ext cx="420625" cy="420625"/>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496" name="TextBox 13"/>
          <p:cNvSpPr txBox="1"/>
          <p:nvPr/>
        </p:nvSpPr>
        <p:spPr>
          <a:xfrm>
            <a:off x="945065" y="2711195"/>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02</a:t>
            </a:r>
          </a:p>
        </p:txBody>
      </p:sp>
      <p:sp>
        <p:nvSpPr>
          <p:cNvPr id="497" name="TextBox 14"/>
          <p:cNvSpPr txBox="1"/>
          <p:nvPr/>
        </p:nvSpPr>
        <p:spPr>
          <a:xfrm>
            <a:off x="1399032" y="2642616"/>
            <a:ext cx="1073816"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AI ANALYSIS</a:t>
            </a:r>
          </a:p>
        </p:txBody>
      </p:sp>
      <p:sp>
        <p:nvSpPr>
          <p:cNvPr id="498" name="TextBox 15"/>
          <p:cNvSpPr txBox="1"/>
          <p:nvPr/>
        </p:nvSpPr>
        <p:spPr>
          <a:xfrm>
            <a:off x="2797395" y="2602726"/>
            <a:ext cx="3681981" cy="501033"/>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MobileNetV2 → clothing category</a:t>
            </a:r>
          </a:p>
          <a:p>
            <a:pPr defTabSz="457200">
              <a:defRPr sz="1500">
                <a:solidFill>
                  <a:srgbClr val="2D2844"/>
                </a:solidFill>
                <a:latin typeface="Aptos"/>
                <a:ea typeface="Aptos"/>
                <a:cs typeface="Aptos"/>
                <a:sym typeface="Aptos"/>
              </a:defRPr>
            </a:pPr>
            <a:r>
              <a:t>K-Means → dominant color</a:t>
            </a:r>
          </a:p>
        </p:txBody>
      </p:sp>
      <p:sp>
        <p:nvSpPr>
          <p:cNvPr id="499" name="Connector 16"/>
          <p:cNvSpPr/>
          <p:nvPr/>
        </p:nvSpPr>
        <p:spPr>
          <a:xfrm>
            <a:off x="3703319" y="3145536"/>
            <a:ext cx="1" cy="109728"/>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9" rIns="45719"/>
          <a:lstStyle/>
          <a:p>
            <a:pPr defTabSz="457200">
              <a:defRPr>
                <a:latin typeface="+mn-lt"/>
                <a:ea typeface="+mn-ea"/>
                <a:cs typeface="+mn-cs"/>
                <a:sym typeface="Calibri"/>
              </a:defRPr>
            </a:pPr>
          </a:p>
        </p:txBody>
      </p:sp>
      <p:sp>
        <p:nvSpPr>
          <p:cNvPr id="500" name="Rounded Rectangle 17"/>
          <p:cNvSpPr/>
          <p:nvPr/>
        </p:nvSpPr>
        <p:spPr>
          <a:xfrm>
            <a:off x="658368" y="3236976"/>
            <a:ext cx="6080760" cy="603505"/>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01" name="Oval 18"/>
          <p:cNvSpPr/>
          <p:nvPr/>
        </p:nvSpPr>
        <p:spPr>
          <a:xfrm>
            <a:off x="822960" y="3319271"/>
            <a:ext cx="420625" cy="420625"/>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02" name="TextBox 19"/>
          <p:cNvSpPr txBox="1"/>
          <p:nvPr/>
        </p:nvSpPr>
        <p:spPr>
          <a:xfrm>
            <a:off x="945065" y="3406140"/>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03</a:t>
            </a:r>
          </a:p>
        </p:txBody>
      </p:sp>
      <p:sp>
        <p:nvSpPr>
          <p:cNvPr id="503" name="TextBox 20"/>
          <p:cNvSpPr txBox="1"/>
          <p:nvPr/>
        </p:nvSpPr>
        <p:spPr>
          <a:xfrm>
            <a:off x="1399032" y="3337559"/>
            <a:ext cx="103076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WARDROBE</a:t>
            </a:r>
          </a:p>
        </p:txBody>
      </p:sp>
      <p:sp>
        <p:nvSpPr>
          <p:cNvPr id="504" name="TextBox 21"/>
          <p:cNvSpPr txBox="1"/>
          <p:nvPr/>
        </p:nvSpPr>
        <p:spPr>
          <a:xfrm>
            <a:off x="2765652" y="3283140"/>
            <a:ext cx="3108961" cy="493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Store image, category, color and</a:t>
            </a:r>
          </a:p>
          <a:p>
            <a:pPr defTabSz="457200">
              <a:defRPr sz="1500">
                <a:solidFill>
                  <a:srgbClr val="2D2844"/>
                </a:solidFill>
                <a:latin typeface="Aptos"/>
                <a:ea typeface="Aptos"/>
                <a:cs typeface="Aptos"/>
                <a:sym typeface="Aptos"/>
              </a:defRPr>
            </a:pPr>
            <a:r>
              <a:t>laundry status.</a:t>
            </a:r>
          </a:p>
        </p:txBody>
      </p:sp>
      <p:sp>
        <p:nvSpPr>
          <p:cNvPr id="505" name="Connector 22"/>
          <p:cNvSpPr/>
          <p:nvPr/>
        </p:nvSpPr>
        <p:spPr>
          <a:xfrm>
            <a:off x="3703319" y="3840480"/>
            <a:ext cx="1" cy="109729"/>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9" rIns="45719"/>
          <a:lstStyle/>
          <a:p>
            <a:pPr defTabSz="457200">
              <a:defRPr>
                <a:latin typeface="+mn-lt"/>
                <a:ea typeface="+mn-ea"/>
                <a:cs typeface="+mn-cs"/>
                <a:sym typeface="Calibri"/>
              </a:defRPr>
            </a:pPr>
          </a:p>
        </p:txBody>
      </p:sp>
      <p:sp>
        <p:nvSpPr>
          <p:cNvPr id="506" name="Rounded Rectangle 23"/>
          <p:cNvSpPr/>
          <p:nvPr/>
        </p:nvSpPr>
        <p:spPr>
          <a:xfrm>
            <a:off x="658368" y="3931920"/>
            <a:ext cx="6080760" cy="603505"/>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07" name="Oval 24"/>
          <p:cNvSpPr/>
          <p:nvPr/>
        </p:nvSpPr>
        <p:spPr>
          <a:xfrm>
            <a:off x="822960" y="4014215"/>
            <a:ext cx="420625" cy="420625"/>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08" name="TextBox 25"/>
          <p:cNvSpPr txBox="1"/>
          <p:nvPr/>
        </p:nvSpPr>
        <p:spPr>
          <a:xfrm>
            <a:off x="945065" y="4101083"/>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04</a:t>
            </a:r>
          </a:p>
        </p:txBody>
      </p:sp>
      <p:sp>
        <p:nvSpPr>
          <p:cNvPr id="509" name="TextBox 26"/>
          <p:cNvSpPr txBox="1"/>
          <p:nvPr/>
        </p:nvSpPr>
        <p:spPr>
          <a:xfrm>
            <a:off x="1399032" y="4032503"/>
            <a:ext cx="1220213"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COMBINATION</a:t>
            </a:r>
          </a:p>
        </p:txBody>
      </p:sp>
      <p:sp>
        <p:nvSpPr>
          <p:cNvPr id="510" name="TextBox 27"/>
          <p:cNvSpPr txBox="1"/>
          <p:nvPr/>
        </p:nvSpPr>
        <p:spPr>
          <a:xfrm>
            <a:off x="2718585" y="4001261"/>
            <a:ext cx="3347162" cy="493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Generate valid outfit combinations</a:t>
            </a:r>
          </a:p>
          <a:p>
            <a:pPr defTabSz="457200">
              <a:defRPr sz="1500">
                <a:solidFill>
                  <a:srgbClr val="2D2844"/>
                </a:solidFill>
                <a:latin typeface="Aptos"/>
                <a:ea typeface="Aptos"/>
                <a:cs typeface="Aptos"/>
                <a:sym typeface="Aptos"/>
              </a:defRPr>
            </a:pPr>
            <a:r>
              <a:t>and exclude laundry items.</a:t>
            </a:r>
          </a:p>
        </p:txBody>
      </p:sp>
      <p:sp>
        <p:nvSpPr>
          <p:cNvPr id="511" name="Connector 28"/>
          <p:cNvSpPr/>
          <p:nvPr/>
        </p:nvSpPr>
        <p:spPr>
          <a:xfrm>
            <a:off x="3703319" y="4535424"/>
            <a:ext cx="1" cy="109729"/>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9" rIns="45719"/>
          <a:lstStyle/>
          <a:p>
            <a:pPr defTabSz="457200">
              <a:defRPr>
                <a:latin typeface="+mn-lt"/>
                <a:ea typeface="+mn-ea"/>
                <a:cs typeface="+mn-cs"/>
                <a:sym typeface="Calibri"/>
              </a:defRPr>
            </a:pPr>
          </a:p>
        </p:txBody>
      </p:sp>
      <p:sp>
        <p:nvSpPr>
          <p:cNvPr id="512" name="Rounded Rectangle 29"/>
          <p:cNvSpPr/>
          <p:nvPr/>
        </p:nvSpPr>
        <p:spPr>
          <a:xfrm>
            <a:off x="658368" y="4626864"/>
            <a:ext cx="6080760" cy="804672"/>
          </a:xfrm>
          <a:prstGeom prst="roundRect">
            <a:avLst>
              <a:gd name="adj" fmla="val 12500"/>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13" name="Oval 30"/>
          <p:cNvSpPr/>
          <p:nvPr/>
        </p:nvSpPr>
        <p:spPr>
          <a:xfrm>
            <a:off x="822960" y="4709159"/>
            <a:ext cx="420625" cy="420625"/>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14" name="TextBox 31"/>
          <p:cNvSpPr txBox="1"/>
          <p:nvPr/>
        </p:nvSpPr>
        <p:spPr>
          <a:xfrm>
            <a:off x="945065" y="4796027"/>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05</a:t>
            </a:r>
          </a:p>
        </p:txBody>
      </p:sp>
      <p:sp>
        <p:nvSpPr>
          <p:cNvPr id="515" name="TextBox 32"/>
          <p:cNvSpPr txBox="1"/>
          <p:nvPr/>
        </p:nvSpPr>
        <p:spPr>
          <a:xfrm>
            <a:off x="1399032" y="4828032"/>
            <a:ext cx="81979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SCORING</a:t>
            </a:r>
          </a:p>
        </p:txBody>
      </p:sp>
      <p:sp>
        <p:nvSpPr>
          <p:cNvPr id="516" name="TextBox 33"/>
          <p:cNvSpPr txBox="1"/>
          <p:nvPr/>
        </p:nvSpPr>
        <p:spPr>
          <a:xfrm>
            <a:off x="2753442" y="4701080"/>
            <a:ext cx="3888759" cy="722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Calculate weighted compatibility score</a:t>
            </a:r>
          </a:p>
          <a:p>
            <a:pPr defTabSz="457200">
              <a:defRPr sz="1500">
                <a:solidFill>
                  <a:srgbClr val="2D2844"/>
                </a:solidFill>
                <a:latin typeface="Aptos"/>
                <a:ea typeface="Aptos"/>
                <a:cs typeface="Aptos"/>
                <a:sym typeface="Aptos"/>
              </a:defRPr>
            </a:pPr>
            <a:r>
              <a:t>using color, category, occasion, season,</a:t>
            </a:r>
          </a:p>
          <a:p>
            <a:pPr defTabSz="457200">
              <a:defRPr sz="1500">
                <a:solidFill>
                  <a:srgbClr val="2D2844"/>
                </a:solidFill>
                <a:latin typeface="Aptos"/>
                <a:ea typeface="Aptos"/>
                <a:cs typeface="Aptos"/>
                <a:sym typeface="Aptos"/>
              </a:defRPr>
            </a:pPr>
            <a:r>
              <a:t>preferences, novelty and favorites.</a:t>
            </a:r>
          </a:p>
        </p:txBody>
      </p:sp>
      <p:sp>
        <p:nvSpPr>
          <p:cNvPr id="517" name="Connector 34"/>
          <p:cNvSpPr/>
          <p:nvPr/>
        </p:nvSpPr>
        <p:spPr>
          <a:xfrm>
            <a:off x="3703319" y="5230368"/>
            <a:ext cx="1" cy="109729"/>
          </a:xfrm>
          <a:prstGeom prst="line">
            <a:avLst/>
          </a:prstGeom>
          <a:ln w="19050">
            <a:solidFill>
              <a:srgbClr val="5B46A0"/>
            </a:solidFill>
          </a:ln>
          <a:effectLst>
            <a:outerShdw sx="100000" sy="100000" kx="0" ky="0" algn="b" rotWithShape="0" blurRad="38100" dist="20000" dir="5400000">
              <a:srgbClr val="000000">
                <a:alpha val="38000"/>
              </a:srgbClr>
            </a:outerShdw>
          </a:effectLst>
        </p:spPr>
        <p:txBody>
          <a:bodyPr lIns="45719" rIns="45719"/>
          <a:lstStyle/>
          <a:p>
            <a:pPr defTabSz="457200">
              <a:defRPr>
                <a:latin typeface="+mn-lt"/>
                <a:ea typeface="+mn-ea"/>
                <a:cs typeface="+mn-cs"/>
                <a:sym typeface="Calibri"/>
              </a:defRPr>
            </a:pPr>
          </a:p>
        </p:txBody>
      </p:sp>
      <p:sp>
        <p:nvSpPr>
          <p:cNvPr id="518" name="Rounded Rectangle 35"/>
          <p:cNvSpPr/>
          <p:nvPr/>
        </p:nvSpPr>
        <p:spPr>
          <a:xfrm>
            <a:off x="754300" y="5503848"/>
            <a:ext cx="6009934" cy="603505"/>
          </a:xfrm>
          <a:prstGeom prst="roundRect">
            <a:avLst>
              <a:gd name="adj" fmla="val 16667"/>
            </a:avLst>
          </a:prstGeom>
          <a:solidFill>
            <a:srgbClr val="FFFFFF"/>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19" name="Oval 36"/>
          <p:cNvSpPr/>
          <p:nvPr/>
        </p:nvSpPr>
        <p:spPr>
          <a:xfrm>
            <a:off x="822960" y="5567298"/>
            <a:ext cx="420625" cy="420625"/>
          </a:xfrm>
          <a:prstGeom prst="ellipse">
            <a:avLst/>
          </a:prstGeom>
          <a:solidFill>
            <a:srgbClr val="5B46A0"/>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20" name="TextBox 37"/>
          <p:cNvSpPr txBox="1"/>
          <p:nvPr/>
        </p:nvSpPr>
        <p:spPr>
          <a:xfrm>
            <a:off x="945065" y="5689472"/>
            <a:ext cx="176414" cy="1762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algn="ctr" defTabSz="457200">
              <a:defRPr b="1" sz="900">
                <a:solidFill>
                  <a:srgbClr val="FFFFFF"/>
                </a:solidFill>
                <a:latin typeface="Aptos"/>
                <a:ea typeface="Aptos"/>
                <a:cs typeface="Aptos"/>
                <a:sym typeface="Aptos"/>
              </a:defRPr>
            </a:lvl1pPr>
          </a:lstStyle>
          <a:p>
            <a:pPr/>
            <a:r>
              <a:t>06</a:t>
            </a:r>
          </a:p>
        </p:txBody>
      </p:sp>
      <p:sp>
        <p:nvSpPr>
          <p:cNvPr id="521" name="TextBox 38"/>
          <p:cNvSpPr txBox="1"/>
          <p:nvPr/>
        </p:nvSpPr>
        <p:spPr>
          <a:xfrm>
            <a:off x="1399069" y="5590335"/>
            <a:ext cx="819717" cy="2397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300">
                <a:solidFill>
                  <a:srgbClr val="5B46A0"/>
                </a:solidFill>
                <a:latin typeface="Aptos"/>
                <a:ea typeface="Aptos"/>
                <a:cs typeface="Aptos"/>
                <a:sym typeface="Aptos"/>
              </a:defRPr>
            </a:lvl1pPr>
          </a:lstStyle>
          <a:p>
            <a:pPr/>
            <a:r>
              <a:t>RANKING</a:t>
            </a:r>
          </a:p>
        </p:txBody>
      </p:sp>
      <p:sp>
        <p:nvSpPr>
          <p:cNvPr id="522" name="TextBox 39"/>
          <p:cNvSpPr txBox="1"/>
          <p:nvPr/>
        </p:nvSpPr>
        <p:spPr>
          <a:xfrm>
            <a:off x="2725623" y="5567538"/>
            <a:ext cx="3736878" cy="493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defTabSz="457200">
              <a:defRPr sz="1500">
                <a:solidFill>
                  <a:srgbClr val="2D2844"/>
                </a:solidFill>
                <a:latin typeface="Aptos"/>
                <a:ea typeface="Aptos"/>
                <a:cs typeface="Aptos"/>
                <a:sym typeface="Aptos"/>
              </a:defRPr>
            </a:pPr>
            <a:r>
              <a:t>Sort combinations and display the</a:t>
            </a:r>
          </a:p>
          <a:p>
            <a:pPr defTabSz="457200">
              <a:defRPr sz="1500">
                <a:solidFill>
                  <a:srgbClr val="2D2844"/>
                </a:solidFill>
                <a:latin typeface="Aptos"/>
                <a:ea typeface="Aptos"/>
                <a:cs typeface="Aptos"/>
                <a:sym typeface="Aptos"/>
              </a:defRPr>
            </a:pPr>
            <a:r>
              <a:t>top outfit recommendations.</a:t>
            </a:r>
          </a:p>
        </p:txBody>
      </p:sp>
      <p:sp>
        <p:nvSpPr>
          <p:cNvPr id="523" name="Rounded Rectangle 40"/>
          <p:cNvSpPr/>
          <p:nvPr/>
        </p:nvSpPr>
        <p:spPr>
          <a:xfrm>
            <a:off x="7291588" y="550196"/>
            <a:ext cx="4760482" cy="1616140"/>
          </a:xfrm>
          <a:prstGeom prst="roundRect">
            <a:avLst>
              <a:gd name="adj" fmla="val 20935"/>
            </a:avLst>
          </a:prstGeom>
          <a:solidFill>
            <a:srgbClr val="F3EEFB"/>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24" name="TextBox 41"/>
          <p:cNvSpPr txBox="1"/>
          <p:nvPr/>
        </p:nvSpPr>
        <p:spPr>
          <a:xfrm>
            <a:off x="7869511" y="637227"/>
            <a:ext cx="1800971"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5B46A0"/>
                </a:solidFill>
                <a:latin typeface="Aptos"/>
                <a:ea typeface="Aptos"/>
                <a:cs typeface="Aptos"/>
                <a:sym typeface="Aptos"/>
              </a:defRPr>
            </a:lvl1pPr>
          </a:lstStyle>
          <a:p>
            <a:pPr/>
            <a:r>
              <a:t>CORE ALGORITHMS</a:t>
            </a:r>
          </a:p>
        </p:txBody>
      </p:sp>
      <p:sp>
        <p:nvSpPr>
          <p:cNvPr id="525" name="TextBox 42"/>
          <p:cNvSpPr txBox="1"/>
          <p:nvPr/>
        </p:nvSpPr>
        <p:spPr>
          <a:xfrm>
            <a:off x="7467139" y="1117218"/>
            <a:ext cx="3516811"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2D2844"/>
                </a:solidFill>
                <a:latin typeface="Aptos"/>
                <a:ea typeface="Aptos"/>
                <a:cs typeface="Aptos"/>
                <a:sym typeface="Aptos"/>
              </a:defRPr>
            </a:lvl1pPr>
          </a:lstStyle>
          <a:p>
            <a:pPr/>
            <a:r>
              <a:t>1. MobileNetV2 — Clothing Classification</a:t>
            </a:r>
          </a:p>
        </p:txBody>
      </p:sp>
      <p:sp>
        <p:nvSpPr>
          <p:cNvPr id="526" name="TextBox 43"/>
          <p:cNvSpPr txBox="1"/>
          <p:nvPr/>
        </p:nvSpPr>
        <p:spPr>
          <a:xfrm>
            <a:off x="7496830" y="1417143"/>
            <a:ext cx="3457429"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2D2844"/>
                </a:solidFill>
                <a:latin typeface="Aptos"/>
                <a:ea typeface="Aptos"/>
                <a:cs typeface="Aptos"/>
                <a:sym typeface="Aptos"/>
              </a:defRPr>
            </a:lvl1pPr>
          </a:lstStyle>
          <a:p>
            <a:pPr/>
            <a:r>
              <a:t>2. K-Means — Dominant Color Detection</a:t>
            </a:r>
          </a:p>
        </p:txBody>
      </p:sp>
      <p:sp>
        <p:nvSpPr>
          <p:cNvPr id="527" name="TextBox 44"/>
          <p:cNvSpPr txBox="1"/>
          <p:nvPr/>
        </p:nvSpPr>
        <p:spPr>
          <a:xfrm>
            <a:off x="7523572" y="1787045"/>
            <a:ext cx="4431943" cy="2524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400">
                <a:solidFill>
                  <a:srgbClr val="2D2844"/>
                </a:solidFill>
                <a:latin typeface="Aptos"/>
                <a:ea typeface="Aptos"/>
                <a:cs typeface="Aptos"/>
                <a:sym typeface="Aptos"/>
              </a:defRPr>
            </a:lvl1pPr>
          </a:lstStyle>
          <a:p>
            <a:pPr/>
            <a:r>
              <a:t>3. Weighted Compatibility Scoring — Outfit Ranking</a:t>
            </a:r>
          </a:p>
        </p:txBody>
      </p:sp>
      <p:sp>
        <p:nvSpPr>
          <p:cNvPr id="528" name="Rounded Rectangle 59"/>
          <p:cNvSpPr/>
          <p:nvPr/>
        </p:nvSpPr>
        <p:spPr>
          <a:xfrm>
            <a:off x="582819" y="6353904"/>
            <a:ext cx="7042597" cy="384049"/>
          </a:xfrm>
          <a:prstGeom prst="roundRect">
            <a:avLst>
              <a:gd name="adj" fmla="val 16667"/>
            </a:avLst>
          </a:prstGeom>
          <a:solidFill>
            <a:srgbClr val="F3EEFB"/>
          </a:solidFill>
          <a:ln w="12700">
            <a:solidFill>
              <a:srgbClr val="DAD2EB"/>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200">
                <a:solidFill>
                  <a:srgbClr val="FFFFFF"/>
                </a:solidFill>
                <a:latin typeface="+mn-lt"/>
                <a:ea typeface="+mn-ea"/>
                <a:cs typeface="+mn-cs"/>
                <a:sym typeface="Calibri"/>
              </a:defRPr>
            </a:pPr>
          </a:p>
        </p:txBody>
      </p:sp>
      <p:sp>
        <p:nvSpPr>
          <p:cNvPr id="529" name="TextBox 60"/>
          <p:cNvSpPr txBox="1"/>
          <p:nvPr/>
        </p:nvSpPr>
        <p:spPr>
          <a:xfrm>
            <a:off x="868679" y="6453222"/>
            <a:ext cx="2160398" cy="201677"/>
          </a:xfrm>
          <a:prstGeom prst="rect">
            <a:avLst/>
          </a:prstGeom>
          <a:ln w="12700">
            <a:miter lim="400000"/>
          </a:ln>
          <a:extLst>
            <a:ext uri="{C572A759-6A51-4108-AA02-DFA0A04FC94B}">
              <ma14:wrappingTextBoxFlag xmlns:ma14="http://schemas.microsoft.com/office/mac/drawingml/2011/main" val="1"/>
            </a:ext>
          </a:extLst>
        </p:spPr>
        <p:txBody>
          <a:bodyPr wrap="none" lIns="18288" tIns="18288" rIns="18288" bIns="18288">
            <a:spAutoFit/>
          </a:bodyPr>
          <a:lstStyle>
            <a:lvl1pPr defTabSz="457200">
              <a:defRPr b="1" sz="1100">
                <a:solidFill>
                  <a:srgbClr val="5B46A0"/>
                </a:solidFill>
                <a:latin typeface="Aptos"/>
                <a:ea typeface="Aptos"/>
                <a:cs typeface="Aptos"/>
                <a:sym typeface="Aptos"/>
              </a:defRPr>
            </a:lvl1pPr>
          </a:lstStyle>
          <a:p>
            <a:pPr/>
            <a:r>
              <a:t>USER FEEDBACK &amp; LEARNING</a:t>
            </a:r>
          </a:p>
        </p:txBody>
      </p:sp>
      <p:sp>
        <p:nvSpPr>
          <p:cNvPr id="530" name="TextBox 61"/>
          <p:cNvSpPr txBox="1"/>
          <p:nvPr/>
        </p:nvSpPr>
        <p:spPr>
          <a:xfrm>
            <a:off x="3066564" y="6402643"/>
            <a:ext cx="4695980" cy="407779"/>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200">
                <a:solidFill>
                  <a:srgbClr val="2D2844"/>
                </a:solidFill>
                <a:latin typeface="Aptos"/>
                <a:ea typeface="Aptos"/>
                <a:cs typeface="Aptos"/>
                <a:sym typeface="Aptos"/>
              </a:defRPr>
            </a:lvl1pPr>
          </a:lstStyle>
          <a:p>
            <a:pPr/>
            <a:r>
              <a:t>Like / Dislike / Favorite → update learned preferences → improve future recommendations</a:t>
            </a:r>
          </a:p>
        </p:txBody>
      </p:sp>
      <p:sp>
        <p:nvSpPr>
          <p:cNvPr id="531" name="Rounded Rectangle 39"/>
          <p:cNvSpPr/>
          <p:nvPr/>
        </p:nvSpPr>
        <p:spPr>
          <a:xfrm>
            <a:off x="7622551" y="2221949"/>
            <a:ext cx="4233987" cy="4418786"/>
          </a:xfrm>
          <a:prstGeom prst="roundRect">
            <a:avLst>
              <a:gd name="adj" fmla="val 14578"/>
            </a:avLst>
          </a:prstGeom>
          <a:solidFill>
            <a:srgbClr val="FFFFFF"/>
          </a:solidFill>
          <a:ln w="12700">
            <a:solidFill>
              <a:srgbClr val="DCD5E8"/>
            </a:solidFill>
          </a:ln>
          <a:effectLst>
            <a:outerShdw sx="100000" sy="100000" kx="0" ky="0" algn="b" rotWithShape="0" blurRad="190500" dist="12700" dir="5400000">
              <a:srgbClr val="000000"/>
            </a:outerShdw>
          </a:effectLst>
        </p:spPr>
        <p:txBody>
          <a:bodyPr lIns="45718" tIns="45718" rIns="45718" bIns="45718" anchor="ctr"/>
          <a:lstStyle/>
          <a:p>
            <a:pPr algn="ctr">
              <a:defRPr sz="1200">
                <a:solidFill>
                  <a:srgbClr val="FFFFFF"/>
                </a:solidFill>
              </a:defRPr>
            </a:pPr>
          </a:p>
        </p:txBody>
      </p:sp>
      <p:sp>
        <p:nvSpPr>
          <p:cNvPr id="532" name="TextBox 40"/>
          <p:cNvSpPr txBox="1"/>
          <p:nvPr/>
        </p:nvSpPr>
        <p:spPr>
          <a:xfrm>
            <a:off x="8185063" y="2282825"/>
            <a:ext cx="310896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5B4391"/>
                </a:solidFill>
                <a:latin typeface="Aptos"/>
                <a:ea typeface="Aptos"/>
                <a:cs typeface="Aptos"/>
                <a:sym typeface="Aptos"/>
              </a:defRPr>
            </a:lvl1pPr>
          </a:lstStyle>
          <a:p>
            <a:pPr/>
            <a:r>
              <a:t>WEIGHTED COMPATIBILITY</a:t>
            </a:r>
          </a:p>
        </p:txBody>
      </p:sp>
      <p:sp>
        <p:nvSpPr>
          <p:cNvPr id="533" name="TextBox 41"/>
          <p:cNvSpPr txBox="1"/>
          <p:nvPr/>
        </p:nvSpPr>
        <p:spPr>
          <a:xfrm>
            <a:off x="8492197" y="2627884"/>
            <a:ext cx="31089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696179"/>
                </a:solidFill>
                <a:latin typeface="Aptos"/>
                <a:ea typeface="Aptos"/>
                <a:cs typeface="Aptos"/>
                <a:sym typeface="Aptos"/>
              </a:defRPr>
            </a:lvl1pPr>
          </a:lstStyle>
          <a:p>
            <a:pPr/>
            <a:r>
              <a:t>Outfit score is calculated using:</a:t>
            </a:r>
          </a:p>
        </p:txBody>
      </p:sp>
      <p:sp>
        <p:nvSpPr>
          <p:cNvPr id="534" name="Rounded Rectangle 42"/>
          <p:cNvSpPr/>
          <p:nvPr/>
        </p:nvSpPr>
        <p:spPr>
          <a:xfrm>
            <a:off x="7895091" y="3028979"/>
            <a:ext cx="3273553" cy="292609"/>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defRPr>
            </a:pPr>
          </a:p>
        </p:txBody>
      </p:sp>
      <p:sp>
        <p:nvSpPr>
          <p:cNvPr id="535" name="TextBox 43"/>
          <p:cNvSpPr txBox="1"/>
          <p:nvPr/>
        </p:nvSpPr>
        <p:spPr>
          <a:xfrm>
            <a:off x="8024889" y="3080495"/>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02A42"/>
                </a:solidFill>
                <a:latin typeface="Aptos"/>
                <a:ea typeface="Aptos"/>
                <a:cs typeface="Aptos"/>
                <a:sym typeface="Aptos"/>
              </a:defRPr>
            </a:lvl1pPr>
          </a:lstStyle>
          <a:p>
            <a:pPr/>
            <a:r>
              <a:t>Color Harmony</a:t>
            </a:r>
          </a:p>
        </p:txBody>
      </p:sp>
      <p:sp>
        <p:nvSpPr>
          <p:cNvPr id="536" name="TextBox 44"/>
          <p:cNvSpPr txBox="1"/>
          <p:nvPr/>
        </p:nvSpPr>
        <p:spPr>
          <a:xfrm>
            <a:off x="10537708" y="2975675"/>
            <a:ext cx="45720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1200">
                <a:solidFill>
                  <a:srgbClr val="5B4391"/>
                </a:solidFill>
                <a:latin typeface="Aptos"/>
                <a:ea typeface="Aptos"/>
                <a:cs typeface="Aptos"/>
                <a:sym typeface="Aptos"/>
              </a:defRPr>
            </a:lvl1pPr>
          </a:lstStyle>
          <a:p>
            <a:pPr/>
            <a:r>
              <a:t>25%</a:t>
            </a:r>
          </a:p>
        </p:txBody>
      </p:sp>
      <p:sp>
        <p:nvSpPr>
          <p:cNvPr id="537" name="Rounded Rectangle 45"/>
          <p:cNvSpPr/>
          <p:nvPr/>
        </p:nvSpPr>
        <p:spPr>
          <a:xfrm>
            <a:off x="7895091" y="3383279"/>
            <a:ext cx="3273553" cy="292609"/>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defRPr>
            </a:pPr>
          </a:p>
        </p:txBody>
      </p:sp>
      <p:sp>
        <p:nvSpPr>
          <p:cNvPr id="538" name="TextBox 46"/>
          <p:cNvSpPr txBox="1"/>
          <p:nvPr/>
        </p:nvSpPr>
        <p:spPr>
          <a:xfrm>
            <a:off x="8105404" y="3439668"/>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02A42"/>
                </a:solidFill>
                <a:latin typeface="Aptos"/>
                <a:ea typeface="Aptos"/>
                <a:cs typeface="Aptos"/>
                <a:sym typeface="Aptos"/>
              </a:defRPr>
            </a:lvl1pPr>
          </a:lstStyle>
          <a:p>
            <a:pPr/>
            <a:r>
              <a:t>Category Balance</a:t>
            </a:r>
          </a:p>
        </p:txBody>
      </p:sp>
      <p:sp>
        <p:nvSpPr>
          <p:cNvPr id="539" name="TextBox 47"/>
          <p:cNvSpPr txBox="1"/>
          <p:nvPr/>
        </p:nvSpPr>
        <p:spPr>
          <a:xfrm>
            <a:off x="10537708" y="3380044"/>
            <a:ext cx="45720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1200">
                <a:solidFill>
                  <a:srgbClr val="5B4391"/>
                </a:solidFill>
                <a:latin typeface="Aptos"/>
                <a:ea typeface="Aptos"/>
                <a:cs typeface="Aptos"/>
                <a:sym typeface="Aptos"/>
              </a:defRPr>
            </a:lvl1pPr>
          </a:lstStyle>
          <a:p>
            <a:pPr/>
            <a:r>
              <a:t>20%</a:t>
            </a:r>
          </a:p>
        </p:txBody>
      </p:sp>
      <p:sp>
        <p:nvSpPr>
          <p:cNvPr id="540" name="Rounded Rectangle 48"/>
          <p:cNvSpPr/>
          <p:nvPr/>
        </p:nvSpPr>
        <p:spPr>
          <a:xfrm>
            <a:off x="7895091" y="3802507"/>
            <a:ext cx="3273553" cy="292609"/>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defRPr>
            </a:pPr>
          </a:p>
        </p:txBody>
      </p:sp>
      <p:sp>
        <p:nvSpPr>
          <p:cNvPr id="541" name="TextBox 49"/>
          <p:cNvSpPr txBox="1"/>
          <p:nvPr/>
        </p:nvSpPr>
        <p:spPr>
          <a:xfrm>
            <a:off x="8105404" y="3803967"/>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02A42"/>
                </a:solidFill>
                <a:latin typeface="Aptos"/>
                <a:ea typeface="Aptos"/>
                <a:cs typeface="Aptos"/>
                <a:sym typeface="Aptos"/>
              </a:defRPr>
            </a:lvl1pPr>
          </a:lstStyle>
          <a:p>
            <a:pPr/>
            <a:r>
              <a:t>Occasion</a:t>
            </a:r>
          </a:p>
        </p:txBody>
      </p:sp>
      <p:sp>
        <p:nvSpPr>
          <p:cNvPr id="542" name="TextBox 50"/>
          <p:cNvSpPr txBox="1"/>
          <p:nvPr/>
        </p:nvSpPr>
        <p:spPr>
          <a:xfrm>
            <a:off x="10537708" y="3814191"/>
            <a:ext cx="45720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1200">
                <a:solidFill>
                  <a:srgbClr val="5B4391"/>
                </a:solidFill>
                <a:latin typeface="Aptos"/>
                <a:ea typeface="Aptos"/>
                <a:cs typeface="Aptos"/>
                <a:sym typeface="Aptos"/>
              </a:defRPr>
            </a:lvl1pPr>
          </a:lstStyle>
          <a:p>
            <a:pPr/>
            <a:r>
              <a:t>20%</a:t>
            </a:r>
          </a:p>
        </p:txBody>
      </p:sp>
      <p:sp>
        <p:nvSpPr>
          <p:cNvPr id="543" name="Rounded Rectangle 51"/>
          <p:cNvSpPr/>
          <p:nvPr/>
        </p:nvSpPr>
        <p:spPr>
          <a:xfrm>
            <a:off x="7895091" y="4182524"/>
            <a:ext cx="3273553" cy="292609"/>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defRPr>
            </a:pPr>
          </a:p>
        </p:txBody>
      </p:sp>
      <p:sp>
        <p:nvSpPr>
          <p:cNvPr id="544" name="TextBox 52"/>
          <p:cNvSpPr txBox="1"/>
          <p:nvPr/>
        </p:nvSpPr>
        <p:spPr>
          <a:xfrm>
            <a:off x="8105404" y="4198824"/>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02A42"/>
                </a:solidFill>
                <a:latin typeface="Aptos"/>
                <a:ea typeface="Aptos"/>
                <a:cs typeface="Aptos"/>
                <a:sym typeface="Aptos"/>
              </a:defRPr>
            </a:lvl1pPr>
          </a:lstStyle>
          <a:p>
            <a:pPr/>
            <a:r>
              <a:t>Season</a:t>
            </a:r>
          </a:p>
        </p:txBody>
      </p:sp>
      <p:sp>
        <p:nvSpPr>
          <p:cNvPr id="545" name="TextBox 53"/>
          <p:cNvSpPr txBox="1"/>
          <p:nvPr/>
        </p:nvSpPr>
        <p:spPr>
          <a:xfrm>
            <a:off x="10537708" y="4241760"/>
            <a:ext cx="45720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1200">
                <a:solidFill>
                  <a:srgbClr val="5B4391"/>
                </a:solidFill>
                <a:latin typeface="Aptos"/>
                <a:ea typeface="Aptos"/>
                <a:cs typeface="Aptos"/>
                <a:sym typeface="Aptos"/>
              </a:defRPr>
            </a:lvl1pPr>
          </a:lstStyle>
          <a:p>
            <a:pPr/>
            <a:r>
              <a:t>15%</a:t>
            </a:r>
          </a:p>
        </p:txBody>
      </p:sp>
      <p:sp>
        <p:nvSpPr>
          <p:cNvPr id="546" name="Rounded Rectangle 54"/>
          <p:cNvSpPr/>
          <p:nvPr/>
        </p:nvSpPr>
        <p:spPr>
          <a:xfrm>
            <a:off x="7895091" y="4560760"/>
            <a:ext cx="3273553" cy="292609"/>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defRPr>
            </a:pPr>
          </a:p>
        </p:txBody>
      </p:sp>
      <p:sp>
        <p:nvSpPr>
          <p:cNvPr id="547" name="TextBox 55"/>
          <p:cNvSpPr txBox="1"/>
          <p:nvPr/>
        </p:nvSpPr>
        <p:spPr>
          <a:xfrm>
            <a:off x="8105404" y="4614924"/>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02A42"/>
                </a:solidFill>
                <a:latin typeface="Aptos"/>
                <a:ea typeface="Aptos"/>
                <a:cs typeface="Aptos"/>
                <a:sym typeface="Aptos"/>
              </a:defRPr>
            </a:lvl1pPr>
          </a:lstStyle>
          <a:p>
            <a:pPr/>
            <a:r>
              <a:t>Preferences</a:t>
            </a:r>
          </a:p>
        </p:txBody>
      </p:sp>
      <p:sp>
        <p:nvSpPr>
          <p:cNvPr id="548" name="TextBox 56"/>
          <p:cNvSpPr txBox="1"/>
          <p:nvPr/>
        </p:nvSpPr>
        <p:spPr>
          <a:xfrm>
            <a:off x="10537708" y="4635944"/>
            <a:ext cx="45720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1200">
                <a:solidFill>
                  <a:srgbClr val="5B4391"/>
                </a:solidFill>
                <a:latin typeface="Aptos"/>
                <a:ea typeface="Aptos"/>
                <a:cs typeface="Aptos"/>
                <a:sym typeface="Aptos"/>
              </a:defRPr>
            </a:lvl1pPr>
          </a:lstStyle>
          <a:p>
            <a:pPr/>
            <a:r>
              <a:t>12%</a:t>
            </a:r>
          </a:p>
        </p:txBody>
      </p:sp>
      <p:sp>
        <p:nvSpPr>
          <p:cNvPr id="549" name="Rounded Rectangle 57"/>
          <p:cNvSpPr/>
          <p:nvPr/>
        </p:nvSpPr>
        <p:spPr>
          <a:xfrm>
            <a:off x="7895091" y="4950888"/>
            <a:ext cx="3273553" cy="292609"/>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defRPr>
            </a:pPr>
          </a:p>
        </p:txBody>
      </p:sp>
      <p:sp>
        <p:nvSpPr>
          <p:cNvPr id="550" name="TextBox 58"/>
          <p:cNvSpPr txBox="1"/>
          <p:nvPr/>
        </p:nvSpPr>
        <p:spPr>
          <a:xfrm>
            <a:off x="8105404" y="4980606"/>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02A42"/>
                </a:solidFill>
                <a:latin typeface="Aptos"/>
                <a:ea typeface="Aptos"/>
                <a:cs typeface="Aptos"/>
                <a:sym typeface="Aptos"/>
              </a:defRPr>
            </a:lvl1pPr>
          </a:lstStyle>
          <a:p>
            <a:pPr/>
            <a:r>
              <a:t>Novelty</a:t>
            </a:r>
          </a:p>
        </p:txBody>
      </p:sp>
      <p:sp>
        <p:nvSpPr>
          <p:cNvPr id="551" name="TextBox 59"/>
          <p:cNvSpPr txBox="1"/>
          <p:nvPr/>
        </p:nvSpPr>
        <p:spPr>
          <a:xfrm>
            <a:off x="10537708" y="4950456"/>
            <a:ext cx="45720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1200">
                <a:solidFill>
                  <a:srgbClr val="5B4391"/>
                </a:solidFill>
                <a:latin typeface="Aptos"/>
                <a:ea typeface="Aptos"/>
                <a:cs typeface="Aptos"/>
                <a:sym typeface="Aptos"/>
              </a:defRPr>
            </a:lvl1pPr>
          </a:lstStyle>
          <a:p>
            <a:pPr/>
            <a:r>
              <a:t>5%</a:t>
            </a:r>
          </a:p>
        </p:txBody>
      </p:sp>
      <p:sp>
        <p:nvSpPr>
          <p:cNvPr id="552" name="Rounded Rectangle 60"/>
          <p:cNvSpPr/>
          <p:nvPr/>
        </p:nvSpPr>
        <p:spPr>
          <a:xfrm>
            <a:off x="7895091" y="5325905"/>
            <a:ext cx="3273553" cy="292609"/>
          </a:xfrm>
          <a:prstGeom prst="roundRect">
            <a:avLst>
              <a:gd name="adj" fmla="val 16667"/>
            </a:avLst>
          </a:prstGeom>
          <a:solidFill>
            <a:srgbClr val="F6F2FB"/>
          </a:solidFill>
          <a:ln w="12700">
            <a:solidFill>
              <a:srgbClr val="F6F2FB"/>
            </a:solidFill>
          </a:ln>
        </p:spPr>
        <p:txBody>
          <a:bodyPr lIns="45718" tIns="45718" rIns="45718" bIns="45718" anchor="ctr"/>
          <a:lstStyle/>
          <a:p>
            <a:pPr algn="ctr">
              <a:defRPr sz="1200">
                <a:solidFill>
                  <a:srgbClr val="FFFFFF"/>
                </a:solidFill>
              </a:defRPr>
            </a:pPr>
          </a:p>
        </p:txBody>
      </p:sp>
      <p:sp>
        <p:nvSpPr>
          <p:cNvPr id="553" name="TextBox 61"/>
          <p:cNvSpPr txBox="1"/>
          <p:nvPr/>
        </p:nvSpPr>
        <p:spPr>
          <a:xfrm>
            <a:off x="8105404" y="5337589"/>
            <a:ext cx="2240281" cy="269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02A42"/>
                </a:solidFill>
                <a:latin typeface="Aptos"/>
                <a:ea typeface="Aptos"/>
                <a:cs typeface="Aptos"/>
                <a:sym typeface="Aptos"/>
              </a:defRPr>
            </a:lvl1pPr>
          </a:lstStyle>
          <a:p>
            <a:pPr/>
            <a:r>
              <a:t>Favorites</a:t>
            </a:r>
          </a:p>
        </p:txBody>
      </p:sp>
      <p:sp>
        <p:nvSpPr>
          <p:cNvPr id="554" name="TextBox 62"/>
          <p:cNvSpPr txBox="1"/>
          <p:nvPr/>
        </p:nvSpPr>
        <p:spPr>
          <a:xfrm>
            <a:off x="10537708" y="5330887"/>
            <a:ext cx="45720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b="1" sz="1200">
                <a:solidFill>
                  <a:srgbClr val="5B4391"/>
                </a:solidFill>
                <a:latin typeface="Aptos"/>
                <a:ea typeface="Aptos"/>
                <a:cs typeface="Aptos"/>
                <a:sym typeface="Aptos"/>
              </a:defRPr>
            </a:lvl1pPr>
          </a:lstStyle>
          <a:p>
            <a:pPr/>
            <a:r>
              <a:t>3%</a:t>
            </a:r>
          </a:p>
        </p:txBody>
      </p:sp>
      <p:sp>
        <p:nvSpPr>
          <p:cNvPr id="555" name="Rounded Rectangle 63"/>
          <p:cNvSpPr/>
          <p:nvPr/>
        </p:nvSpPr>
        <p:spPr>
          <a:xfrm>
            <a:off x="7895091" y="5703111"/>
            <a:ext cx="3273553" cy="283465"/>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sz="1200">
                <a:solidFill>
                  <a:srgbClr val="FFFFFF"/>
                </a:solidFill>
              </a:defRPr>
            </a:pPr>
          </a:p>
        </p:txBody>
      </p:sp>
      <p:sp>
        <p:nvSpPr>
          <p:cNvPr id="556" name="TextBox 64"/>
          <p:cNvSpPr txBox="1"/>
          <p:nvPr/>
        </p:nvSpPr>
        <p:spPr>
          <a:xfrm>
            <a:off x="8258215" y="5710223"/>
            <a:ext cx="2962657"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5B4391"/>
                </a:solidFill>
                <a:latin typeface="Aptos"/>
                <a:ea typeface="Aptos"/>
                <a:cs typeface="Aptos"/>
                <a:sym typeface="Aptos"/>
              </a:defRPr>
            </a:lvl1pPr>
          </a:lstStyle>
          <a:p>
            <a:pPr/>
            <a:r>
              <a:t>Total                                             100%</a:t>
            </a:r>
          </a:p>
        </p:txBody>
      </p:sp>
      <p:sp>
        <p:nvSpPr>
          <p:cNvPr id="557" name="TextBox 65"/>
          <p:cNvSpPr txBox="1"/>
          <p:nvPr/>
        </p:nvSpPr>
        <p:spPr>
          <a:xfrm>
            <a:off x="7897886" y="6053350"/>
            <a:ext cx="3286254" cy="46264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5B4391"/>
                </a:solidFill>
                <a:latin typeface="Aptos"/>
                <a:ea typeface="Aptos"/>
                <a:cs typeface="Aptos"/>
                <a:sym typeface="Aptos"/>
              </a:defRPr>
            </a:lvl1pPr>
          </a:lstStyle>
          <a:p>
            <a:pPr/>
            <a:r>
              <a:t>Higher score → higher recommendation rank</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9" name="TextBox 1"/>
          <p:cNvSpPr txBox="1"/>
          <p:nvPr/>
        </p:nvSpPr>
        <p:spPr>
          <a:xfrm>
            <a:off x="640079" y="216153"/>
            <a:ext cx="10881361"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100">
                <a:solidFill>
                  <a:srgbClr val="5B4391"/>
                </a:solidFill>
                <a:latin typeface="Aptos"/>
                <a:ea typeface="Aptos"/>
                <a:cs typeface="Aptos"/>
                <a:sym typeface="Aptos"/>
              </a:defRPr>
            </a:lvl1pPr>
          </a:lstStyle>
          <a:p>
            <a:pPr/>
            <a:r>
              <a:t>08 · PROPOSED METHOD / MODULES</a:t>
            </a:r>
          </a:p>
        </p:txBody>
      </p:sp>
      <p:sp>
        <p:nvSpPr>
          <p:cNvPr id="560" name="TextBox 2"/>
          <p:cNvSpPr txBox="1"/>
          <p:nvPr/>
        </p:nvSpPr>
        <p:spPr>
          <a:xfrm>
            <a:off x="640079" y="655319"/>
            <a:ext cx="1088136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500">
                <a:solidFill>
                  <a:srgbClr val="312B42"/>
                </a:solidFill>
                <a:latin typeface="Aptos"/>
                <a:ea typeface="Aptos"/>
                <a:cs typeface="Aptos"/>
                <a:sym typeface="Aptos"/>
              </a:defRPr>
            </a:lvl1pPr>
          </a:lstStyle>
          <a:p>
            <a:pPr/>
            <a:r>
              <a:t>Major Modules &amp; Their Functions</a:t>
            </a:r>
          </a:p>
        </p:txBody>
      </p:sp>
      <p:sp>
        <p:nvSpPr>
          <p:cNvPr id="561" name="TextBox 3"/>
          <p:cNvSpPr txBox="1"/>
          <p:nvPr/>
        </p:nvSpPr>
        <p:spPr>
          <a:xfrm>
            <a:off x="640079" y="1165605"/>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96179"/>
                </a:solidFill>
                <a:latin typeface="Aptos"/>
                <a:ea typeface="Aptos"/>
                <a:cs typeface="Aptos"/>
                <a:sym typeface="Aptos"/>
              </a:defRPr>
            </a:lvl1pPr>
          </a:lstStyle>
          <a:p>
            <a:pPr/>
            <a:r>
              <a:t>Four integrated modules implemented in Wearlytics</a:t>
            </a:r>
          </a:p>
        </p:txBody>
      </p:sp>
      <p:sp>
        <p:nvSpPr>
          <p:cNvPr id="562" name="Rounded Rectangle 4"/>
          <p:cNvSpPr/>
          <p:nvPr/>
        </p:nvSpPr>
        <p:spPr>
          <a:xfrm>
            <a:off x="594359" y="1572767"/>
            <a:ext cx="5440681" cy="1847089"/>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defRPr>
            </a:pPr>
          </a:p>
        </p:txBody>
      </p:sp>
      <p:sp>
        <p:nvSpPr>
          <p:cNvPr id="563" name="Rounded Rectangle 5"/>
          <p:cNvSpPr/>
          <p:nvPr/>
        </p:nvSpPr>
        <p:spPr>
          <a:xfrm>
            <a:off x="795527" y="1755648"/>
            <a:ext cx="640082" cy="365761"/>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564" name="TextBox 6"/>
          <p:cNvSpPr txBox="1"/>
          <p:nvPr/>
        </p:nvSpPr>
        <p:spPr>
          <a:xfrm>
            <a:off x="841247" y="1767586"/>
            <a:ext cx="54864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latin typeface="Aptos"/>
                <a:ea typeface="Aptos"/>
                <a:cs typeface="Aptos"/>
                <a:sym typeface="Aptos"/>
              </a:defRPr>
            </a:lvl1pPr>
          </a:lstStyle>
          <a:p>
            <a:pPr/>
            <a:r>
              <a:t>01</a:t>
            </a:r>
          </a:p>
        </p:txBody>
      </p:sp>
      <p:sp>
        <p:nvSpPr>
          <p:cNvPr id="565" name="TextBox 7"/>
          <p:cNvSpPr txBox="1"/>
          <p:nvPr/>
        </p:nvSpPr>
        <p:spPr>
          <a:xfrm>
            <a:off x="1627631" y="1763013"/>
            <a:ext cx="406908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600">
                <a:solidFill>
                  <a:srgbClr val="5B4391"/>
                </a:solidFill>
                <a:latin typeface="Aptos"/>
                <a:ea typeface="Aptos"/>
                <a:cs typeface="Aptos"/>
                <a:sym typeface="Aptos"/>
              </a:defRPr>
            </a:lvl1pPr>
          </a:lstStyle>
          <a:p>
            <a:pPr/>
            <a:r>
              <a:t>USER &amp; WARDROBE MANAGEMENT</a:t>
            </a:r>
          </a:p>
        </p:txBody>
      </p:sp>
      <p:sp>
        <p:nvSpPr>
          <p:cNvPr id="566" name="TextBox 8"/>
          <p:cNvSpPr txBox="1"/>
          <p:nvPr/>
        </p:nvSpPr>
        <p:spPr>
          <a:xfrm>
            <a:off x="896111" y="2221991"/>
            <a:ext cx="4800601"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150394" indent="-150394">
              <a:buSzPct val="60000"/>
              <a:buBlip>
                <a:blip r:embed="rId2"/>
              </a:buBlip>
              <a:defRPr sz="1500">
                <a:solidFill>
                  <a:srgbClr val="312B42"/>
                </a:solidFill>
                <a:latin typeface="Aptos"/>
                <a:ea typeface="Aptos"/>
                <a:cs typeface="Aptos"/>
                <a:sym typeface="Aptos"/>
              </a:defRPr>
            </a:pPr>
            <a:r>
              <a:t>Registration &amp; login</a:t>
            </a:r>
          </a:p>
          <a:p>
            <a:pPr marL="150394" indent="-150394">
              <a:buSzPct val="60000"/>
              <a:buBlip>
                <a:blip r:embed="rId2"/>
              </a:buBlip>
              <a:defRPr sz="1500">
                <a:solidFill>
                  <a:srgbClr val="312B42"/>
                </a:solidFill>
                <a:latin typeface="Aptos"/>
                <a:ea typeface="Aptos"/>
                <a:cs typeface="Aptos"/>
                <a:sym typeface="Aptos"/>
              </a:defRPr>
            </a:pPr>
            <a:r>
              <a:t>Add, edit and delete clothing</a:t>
            </a:r>
          </a:p>
          <a:p>
            <a:pPr marL="150394" indent="-150394">
              <a:buSzPct val="60000"/>
              <a:buBlip>
                <a:blip r:embed="rId2"/>
              </a:buBlip>
              <a:defRPr sz="1500">
                <a:solidFill>
                  <a:srgbClr val="312B42"/>
                </a:solidFill>
                <a:latin typeface="Aptos"/>
                <a:ea typeface="Aptos"/>
                <a:cs typeface="Aptos"/>
                <a:sym typeface="Aptos"/>
              </a:defRPr>
            </a:pPr>
            <a:r>
              <a:t>Upload images and manage metadata</a:t>
            </a:r>
          </a:p>
          <a:p>
            <a:pPr marL="150394" indent="-150394">
              <a:buSzPct val="60000"/>
              <a:buBlip>
                <a:blip r:embed="rId2"/>
              </a:buBlip>
              <a:defRPr sz="1500">
                <a:solidFill>
                  <a:srgbClr val="312B42"/>
                </a:solidFill>
                <a:latin typeface="Aptos"/>
                <a:ea typeface="Aptos"/>
                <a:cs typeface="Aptos"/>
                <a:sym typeface="Aptos"/>
              </a:defRPr>
            </a:pPr>
            <a:r>
              <a:t>Laundry status &amp; wardrobe availability</a:t>
            </a:r>
          </a:p>
        </p:txBody>
      </p:sp>
      <p:sp>
        <p:nvSpPr>
          <p:cNvPr id="567" name="Rounded Rectangle 9"/>
          <p:cNvSpPr/>
          <p:nvPr/>
        </p:nvSpPr>
        <p:spPr>
          <a:xfrm>
            <a:off x="6144767" y="1572767"/>
            <a:ext cx="5440681" cy="1847089"/>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defRPr>
            </a:pPr>
          </a:p>
        </p:txBody>
      </p:sp>
      <p:sp>
        <p:nvSpPr>
          <p:cNvPr id="568" name="Rounded Rectangle 10"/>
          <p:cNvSpPr/>
          <p:nvPr/>
        </p:nvSpPr>
        <p:spPr>
          <a:xfrm>
            <a:off x="6345935" y="1755648"/>
            <a:ext cx="640081" cy="365761"/>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569" name="TextBox 11"/>
          <p:cNvSpPr txBox="1"/>
          <p:nvPr/>
        </p:nvSpPr>
        <p:spPr>
          <a:xfrm>
            <a:off x="6391655" y="1767586"/>
            <a:ext cx="54864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latin typeface="Aptos"/>
                <a:ea typeface="Aptos"/>
                <a:cs typeface="Aptos"/>
                <a:sym typeface="Aptos"/>
              </a:defRPr>
            </a:lvl1pPr>
          </a:lstStyle>
          <a:p>
            <a:pPr/>
            <a:r>
              <a:t>02</a:t>
            </a:r>
          </a:p>
        </p:txBody>
      </p:sp>
      <p:sp>
        <p:nvSpPr>
          <p:cNvPr id="570" name="TextBox 12"/>
          <p:cNvSpPr txBox="1"/>
          <p:nvPr/>
        </p:nvSpPr>
        <p:spPr>
          <a:xfrm>
            <a:off x="7178039" y="1763013"/>
            <a:ext cx="406908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600">
                <a:solidFill>
                  <a:srgbClr val="5B4391"/>
                </a:solidFill>
                <a:latin typeface="Aptos"/>
                <a:ea typeface="Aptos"/>
                <a:cs typeface="Aptos"/>
                <a:sym typeface="Aptos"/>
              </a:defRPr>
            </a:lvl1pPr>
          </a:lstStyle>
          <a:p>
            <a:pPr/>
            <a:r>
              <a:t>AI CLOTHING ANALYSIS</a:t>
            </a:r>
          </a:p>
        </p:txBody>
      </p:sp>
      <p:sp>
        <p:nvSpPr>
          <p:cNvPr id="571" name="TextBox 13"/>
          <p:cNvSpPr txBox="1"/>
          <p:nvPr/>
        </p:nvSpPr>
        <p:spPr>
          <a:xfrm>
            <a:off x="6446520" y="2221991"/>
            <a:ext cx="4800601"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150394" indent="-150394">
              <a:buSzPct val="60000"/>
              <a:buBlip>
                <a:blip r:embed="rId2"/>
              </a:buBlip>
              <a:defRPr sz="1500">
                <a:solidFill>
                  <a:srgbClr val="312B42"/>
                </a:solidFill>
                <a:latin typeface="Aptos"/>
                <a:ea typeface="Aptos"/>
                <a:cs typeface="Aptos"/>
                <a:sym typeface="Aptos"/>
              </a:defRPr>
            </a:pPr>
            <a:r>
              <a:t>MobileNetV2 clothing classification</a:t>
            </a:r>
          </a:p>
          <a:p>
            <a:pPr marL="150394" indent="-150394">
              <a:buSzPct val="60000"/>
              <a:buBlip>
                <a:blip r:embed="rId2"/>
              </a:buBlip>
              <a:defRPr sz="1500">
                <a:solidFill>
                  <a:srgbClr val="312B42"/>
                </a:solidFill>
                <a:latin typeface="Aptos"/>
                <a:ea typeface="Aptos"/>
                <a:cs typeface="Aptos"/>
                <a:sym typeface="Aptos"/>
              </a:defRPr>
            </a:pPr>
            <a:r>
              <a:t>K-Means dominant color detection</a:t>
            </a:r>
          </a:p>
          <a:p>
            <a:pPr marL="150394" indent="-150394">
              <a:buSzPct val="60000"/>
              <a:buBlip>
                <a:blip r:embed="rId2"/>
              </a:buBlip>
              <a:defRPr sz="1500">
                <a:solidFill>
                  <a:srgbClr val="312B42"/>
                </a:solidFill>
                <a:latin typeface="Aptos"/>
                <a:ea typeface="Aptos"/>
                <a:cs typeface="Aptos"/>
                <a:sym typeface="Aptos"/>
              </a:defRPr>
            </a:pPr>
            <a:r>
              <a:t>AI suggestions can be reviewed</a:t>
            </a:r>
          </a:p>
          <a:p>
            <a:pPr marL="150394" indent="-150394">
              <a:buSzPct val="60000"/>
              <a:buBlip>
                <a:blip r:embed="rId2"/>
              </a:buBlip>
              <a:defRPr sz="1500">
                <a:solidFill>
                  <a:srgbClr val="312B42"/>
                </a:solidFill>
                <a:latin typeface="Aptos"/>
                <a:ea typeface="Aptos"/>
                <a:cs typeface="Aptos"/>
                <a:sym typeface="Aptos"/>
              </a:defRPr>
            </a:pPr>
            <a:r>
              <a:t>Category and color stored with item</a:t>
            </a:r>
          </a:p>
        </p:txBody>
      </p:sp>
      <p:sp>
        <p:nvSpPr>
          <p:cNvPr id="572" name="Rounded Rectangle 14"/>
          <p:cNvSpPr/>
          <p:nvPr/>
        </p:nvSpPr>
        <p:spPr>
          <a:xfrm>
            <a:off x="594359" y="3794759"/>
            <a:ext cx="5440681" cy="1847089"/>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defRPr>
            </a:pPr>
          </a:p>
        </p:txBody>
      </p:sp>
      <p:sp>
        <p:nvSpPr>
          <p:cNvPr id="573" name="Rounded Rectangle 15"/>
          <p:cNvSpPr/>
          <p:nvPr/>
        </p:nvSpPr>
        <p:spPr>
          <a:xfrm>
            <a:off x="795527" y="3977640"/>
            <a:ext cx="640082" cy="365761"/>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574" name="TextBox 16"/>
          <p:cNvSpPr txBox="1"/>
          <p:nvPr/>
        </p:nvSpPr>
        <p:spPr>
          <a:xfrm>
            <a:off x="841247" y="3989578"/>
            <a:ext cx="54864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latin typeface="Aptos"/>
                <a:ea typeface="Aptos"/>
                <a:cs typeface="Aptos"/>
                <a:sym typeface="Aptos"/>
              </a:defRPr>
            </a:lvl1pPr>
          </a:lstStyle>
          <a:p>
            <a:pPr/>
            <a:r>
              <a:t>03</a:t>
            </a:r>
          </a:p>
        </p:txBody>
      </p:sp>
      <p:sp>
        <p:nvSpPr>
          <p:cNvPr id="575" name="TextBox 17"/>
          <p:cNvSpPr txBox="1"/>
          <p:nvPr/>
        </p:nvSpPr>
        <p:spPr>
          <a:xfrm>
            <a:off x="1627631" y="3985006"/>
            <a:ext cx="406908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600">
                <a:solidFill>
                  <a:srgbClr val="5B4391"/>
                </a:solidFill>
                <a:latin typeface="Aptos"/>
                <a:ea typeface="Aptos"/>
                <a:cs typeface="Aptos"/>
                <a:sym typeface="Aptos"/>
              </a:defRPr>
            </a:lvl1pPr>
          </a:lstStyle>
          <a:p>
            <a:pPr/>
            <a:r>
              <a:t>AI OUTFIT RECOMMENDATION</a:t>
            </a:r>
          </a:p>
        </p:txBody>
      </p:sp>
      <p:sp>
        <p:nvSpPr>
          <p:cNvPr id="576" name="TextBox 18"/>
          <p:cNvSpPr txBox="1"/>
          <p:nvPr/>
        </p:nvSpPr>
        <p:spPr>
          <a:xfrm>
            <a:off x="896111" y="4443984"/>
            <a:ext cx="4800601"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150394" indent="-150394">
              <a:buSzPct val="60000"/>
              <a:buBlip>
                <a:blip r:embed="rId2"/>
              </a:buBlip>
              <a:defRPr sz="1500">
                <a:solidFill>
                  <a:srgbClr val="312B42"/>
                </a:solidFill>
                <a:latin typeface="Aptos"/>
                <a:ea typeface="Aptos"/>
                <a:cs typeface="Aptos"/>
                <a:sym typeface="Aptos"/>
              </a:defRPr>
            </a:pPr>
            <a:r>
              <a:t>Generate valid outfit combinations</a:t>
            </a:r>
          </a:p>
          <a:p>
            <a:pPr marL="150394" indent="-150394">
              <a:buSzPct val="60000"/>
              <a:buBlip>
                <a:blip r:embed="rId2"/>
              </a:buBlip>
              <a:defRPr sz="1500">
                <a:solidFill>
                  <a:srgbClr val="312B42"/>
                </a:solidFill>
                <a:latin typeface="Aptos"/>
                <a:ea typeface="Aptos"/>
                <a:cs typeface="Aptos"/>
                <a:sym typeface="Aptos"/>
              </a:defRPr>
            </a:pPr>
            <a:r>
              <a:t>Weighted compatibility scoring</a:t>
            </a:r>
          </a:p>
          <a:p>
            <a:pPr marL="150394" indent="-150394">
              <a:buSzPct val="60000"/>
              <a:buBlip>
                <a:blip r:embed="rId2"/>
              </a:buBlip>
              <a:defRPr sz="1500">
                <a:solidFill>
                  <a:srgbClr val="312B42"/>
                </a:solidFill>
                <a:latin typeface="Aptos"/>
                <a:ea typeface="Aptos"/>
                <a:cs typeface="Aptos"/>
                <a:sym typeface="Aptos"/>
              </a:defRPr>
            </a:pPr>
            <a:r>
              <a:t>Color, category, occasion &amp; season</a:t>
            </a:r>
          </a:p>
          <a:p>
            <a:pPr marL="150394" indent="-150394">
              <a:buSzPct val="60000"/>
              <a:buBlip>
                <a:blip r:embed="rId2"/>
              </a:buBlip>
              <a:defRPr sz="1500">
                <a:solidFill>
                  <a:srgbClr val="312B42"/>
                </a:solidFill>
                <a:latin typeface="Aptos"/>
                <a:ea typeface="Aptos"/>
                <a:cs typeface="Aptos"/>
                <a:sym typeface="Aptos"/>
              </a:defRPr>
            </a:pPr>
            <a:r>
              <a:t>Preferences, novelty &amp; favorites</a:t>
            </a:r>
          </a:p>
        </p:txBody>
      </p:sp>
      <p:sp>
        <p:nvSpPr>
          <p:cNvPr id="577" name="Rounded Rectangle 19"/>
          <p:cNvSpPr/>
          <p:nvPr/>
        </p:nvSpPr>
        <p:spPr>
          <a:xfrm>
            <a:off x="6144767" y="3794759"/>
            <a:ext cx="5440681" cy="1847089"/>
          </a:xfrm>
          <a:prstGeom prst="roundRect">
            <a:avLst>
              <a:gd name="adj" fmla="val 16667"/>
            </a:avLst>
          </a:prstGeom>
          <a:solidFill>
            <a:srgbClr val="FFFFFF"/>
          </a:solidFill>
          <a:ln w="12700">
            <a:solidFill>
              <a:srgbClr val="DCD5E8"/>
            </a:solidFill>
          </a:ln>
          <a:effectLst>
            <a:outerShdw sx="100000" sy="100000" kx="0" ky="0" algn="b" rotWithShape="0" blurRad="50800" dist="63500" dir="2700000">
              <a:srgbClr val="000000">
                <a:alpha val="50000"/>
              </a:srgbClr>
            </a:outerShdw>
          </a:effectLst>
        </p:spPr>
        <p:txBody>
          <a:bodyPr lIns="45718" tIns="45718" rIns="45718" bIns="45718" anchor="ctr"/>
          <a:lstStyle/>
          <a:p>
            <a:pPr algn="ctr">
              <a:defRPr>
                <a:solidFill>
                  <a:srgbClr val="FFFFFF"/>
                </a:solidFill>
              </a:defRPr>
            </a:pPr>
          </a:p>
        </p:txBody>
      </p:sp>
      <p:sp>
        <p:nvSpPr>
          <p:cNvPr id="578" name="Rounded Rectangle 20"/>
          <p:cNvSpPr/>
          <p:nvPr/>
        </p:nvSpPr>
        <p:spPr>
          <a:xfrm>
            <a:off x="6345935" y="3977640"/>
            <a:ext cx="640081" cy="365761"/>
          </a:xfrm>
          <a:prstGeom prst="roundRect">
            <a:avLst>
              <a:gd name="adj" fmla="val 16667"/>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579" name="TextBox 21"/>
          <p:cNvSpPr txBox="1"/>
          <p:nvPr/>
        </p:nvSpPr>
        <p:spPr>
          <a:xfrm>
            <a:off x="6391655" y="3989578"/>
            <a:ext cx="54864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latin typeface="Aptos"/>
                <a:ea typeface="Aptos"/>
                <a:cs typeface="Aptos"/>
                <a:sym typeface="Aptos"/>
              </a:defRPr>
            </a:lvl1pPr>
          </a:lstStyle>
          <a:p>
            <a:pPr/>
            <a:r>
              <a:t>04</a:t>
            </a:r>
          </a:p>
        </p:txBody>
      </p:sp>
      <p:sp>
        <p:nvSpPr>
          <p:cNvPr id="580" name="TextBox 22"/>
          <p:cNvSpPr txBox="1"/>
          <p:nvPr/>
        </p:nvSpPr>
        <p:spPr>
          <a:xfrm>
            <a:off x="7178039" y="3985006"/>
            <a:ext cx="406908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600">
                <a:solidFill>
                  <a:srgbClr val="5B4391"/>
                </a:solidFill>
                <a:latin typeface="Aptos"/>
                <a:ea typeface="Aptos"/>
                <a:cs typeface="Aptos"/>
                <a:sym typeface="Aptos"/>
              </a:defRPr>
            </a:lvl1pPr>
          </a:lstStyle>
          <a:p>
            <a:pPr/>
            <a:r>
              <a:t>PLANNING &amp; ANALYTICS</a:t>
            </a:r>
          </a:p>
        </p:txBody>
      </p:sp>
      <p:sp>
        <p:nvSpPr>
          <p:cNvPr id="581" name="TextBox 23"/>
          <p:cNvSpPr txBox="1"/>
          <p:nvPr/>
        </p:nvSpPr>
        <p:spPr>
          <a:xfrm>
            <a:off x="6446520" y="4443984"/>
            <a:ext cx="4800601"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150394" indent="-150394">
              <a:buSzPct val="60000"/>
              <a:buBlip>
                <a:blip r:embed="rId2"/>
              </a:buBlip>
              <a:defRPr sz="1500">
                <a:solidFill>
                  <a:srgbClr val="312B42"/>
                </a:solidFill>
                <a:latin typeface="Aptos"/>
                <a:ea typeface="Aptos"/>
                <a:cs typeface="Aptos"/>
                <a:sym typeface="Aptos"/>
              </a:defRPr>
            </a:pPr>
            <a:r>
              <a:t>Save and manage outfits</a:t>
            </a:r>
          </a:p>
          <a:p>
            <a:pPr marL="150394" indent="-150394">
              <a:buSzPct val="60000"/>
              <a:buBlip>
                <a:blip r:embed="rId2"/>
              </a:buBlip>
              <a:defRPr sz="1500">
                <a:solidFill>
                  <a:srgbClr val="312B42"/>
                </a:solidFill>
                <a:latin typeface="Aptos"/>
                <a:ea typeface="Aptos"/>
                <a:cs typeface="Aptos"/>
                <a:sym typeface="Aptos"/>
              </a:defRPr>
            </a:pPr>
            <a:r>
              <a:t>Seven-day weekly planner</a:t>
            </a:r>
          </a:p>
          <a:p>
            <a:pPr marL="150394" indent="-150394">
              <a:buSzPct val="60000"/>
              <a:buBlip>
                <a:blip r:embed="rId2"/>
              </a:buBlip>
              <a:defRPr sz="1500">
                <a:solidFill>
                  <a:srgbClr val="312B42"/>
                </a:solidFill>
                <a:latin typeface="Aptos"/>
                <a:ea typeface="Aptos"/>
                <a:cs typeface="Aptos"/>
                <a:sym typeface="Aptos"/>
              </a:defRPr>
            </a:pPr>
            <a:r>
              <a:t>Wear tracking &amp; last-worn information</a:t>
            </a:r>
          </a:p>
          <a:p>
            <a:pPr marL="150394" indent="-150394">
              <a:buSzPct val="60000"/>
              <a:buBlip>
                <a:blip r:embed="rId2"/>
              </a:buBlip>
              <a:defRPr sz="1500">
                <a:solidFill>
                  <a:srgbClr val="312B42"/>
                </a:solidFill>
                <a:latin typeface="Aptos"/>
                <a:ea typeface="Aptos"/>
                <a:cs typeface="Aptos"/>
                <a:sym typeface="Aptos"/>
              </a:defRPr>
            </a:pPr>
            <a:r>
              <a:t>Utilization and wardrobe insights</a:t>
            </a:r>
          </a:p>
        </p:txBody>
      </p:sp>
      <p:sp>
        <p:nvSpPr>
          <p:cNvPr id="582" name="Rounded Rectangle 24"/>
          <p:cNvSpPr/>
          <p:nvPr/>
        </p:nvSpPr>
        <p:spPr>
          <a:xfrm>
            <a:off x="2240279" y="5961888"/>
            <a:ext cx="7726680" cy="502921"/>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a:solidFill>
                  <a:srgbClr val="FFFFFF"/>
                </a:solidFill>
              </a:defRPr>
            </a:pPr>
          </a:p>
        </p:txBody>
      </p:sp>
      <p:sp>
        <p:nvSpPr>
          <p:cNvPr id="583" name="TextBox 25"/>
          <p:cNvSpPr txBox="1"/>
          <p:nvPr/>
        </p:nvSpPr>
        <p:spPr>
          <a:xfrm>
            <a:off x="2441447" y="6078401"/>
            <a:ext cx="73152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5B4391"/>
                </a:solidFill>
                <a:latin typeface="Aptos"/>
                <a:ea typeface="Aptos"/>
                <a:cs typeface="Aptos"/>
                <a:sym typeface="Aptos"/>
              </a:defRPr>
            </a:lvl1pPr>
          </a:lstStyle>
          <a:p>
            <a:pPr/>
            <a:r>
              <a:t>WARDROBE  →  AI ANALYSIS  →  RECOMMENDATION  →  PLANNING &amp; ANALYTICS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585" name="TextBox 1"/>
          <p:cNvSpPr txBox="1"/>
          <p:nvPr/>
        </p:nvSpPr>
        <p:spPr>
          <a:xfrm>
            <a:off x="603504" y="320040"/>
            <a:ext cx="2724912"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2200">
                <a:solidFill>
                  <a:srgbClr val="684E91"/>
                </a:solidFill>
                <a:latin typeface="Aptos"/>
                <a:ea typeface="Aptos"/>
                <a:cs typeface="Aptos"/>
                <a:sym typeface="Aptos"/>
              </a:defRPr>
            </a:lvl1pPr>
          </a:lstStyle>
          <a:p>
            <a:pPr/>
            <a:r>
              <a:t>09 · RESULTS</a:t>
            </a:r>
          </a:p>
        </p:txBody>
      </p:sp>
      <p:sp>
        <p:nvSpPr>
          <p:cNvPr id="586" name="TextBox 2"/>
          <p:cNvSpPr txBox="1"/>
          <p:nvPr/>
        </p:nvSpPr>
        <p:spPr>
          <a:xfrm>
            <a:off x="603504" y="685800"/>
            <a:ext cx="6382512" cy="354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2100">
                <a:solidFill>
                  <a:srgbClr val="2D2A37"/>
                </a:solidFill>
                <a:latin typeface="Aptos"/>
                <a:ea typeface="Aptos"/>
                <a:cs typeface="Aptos"/>
                <a:sym typeface="Aptos"/>
              </a:defRPr>
            </a:lvl1pPr>
          </a:lstStyle>
          <a:p>
            <a:pPr/>
            <a:r>
              <a:t>Results &amp; Model Evaluation</a:t>
            </a:r>
          </a:p>
        </p:txBody>
      </p:sp>
      <p:sp>
        <p:nvSpPr>
          <p:cNvPr id="587" name="Rectangle 3"/>
          <p:cNvSpPr/>
          <p:nvPr/>
        </p:nvSpPr>
        <p:spPr>
          <a:xfrm>
            <a:off x="594359" y="1280160"/>
            <a:ext cx="914401" cy="41149"/>
          </a:xfrm>
          <a:prstGeom prst="rect">
            <a:avLst/>
          </a:prstGeom>
          <a:solidFill>
            <a:srgbClr val="684E9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588" name="Rounded Rectangle 4"/>
          <p:cNvSpPr/>
          <p:nvPr/>
        </p:nvSpPr>
        <p:spPr>
          <a:xfrm>
            <a:off x="594359" y="1536191"/>
            <a:ext cx="3337561" cy="1170434"/>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700">
                <a:solidFill>
                  <a:srgbClr val="FFFFFF"/>
                </a:solidFill>
                <a:latin typeface="+mn-lt"/>
                <a:ea typeface="+mn-ea"/>
                <a:cs typeface="+mn-cs"/>
                <a:sym typeface="Calibri"/>
              </a:defRPr>
            </a:pPr>
          </a:p>
        </p:txBody>
      </p:sp>
      <p:sp>
        <p:nvSpPr>
          <p:cNvPr id="589" name="TextBox 5"/>
          <p:cNvSpPr txBox="1"/>
          <p:nvPr/>
        </p:nvSpPr>
        <p:spPr>
          <a:xfrm>
            <a:off x="832104" y="1719072"/>
            <a:ext cx="286207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EXISTING SYSTEM</a:t>
            </a:r>
          </a:p>
        </p:txBody>
      </p:sp>
      <p:sp>
        <p:nvSpPr>
          <p:cNvPr id="590" name="TextBox 6"/>
          <p:cNvSpPr txBox="1"/>
          <p:nvPr/>
        </p:nvSpPr>
        <p:spPr>
          <a:xfrm>
            <a:off x="832104" y="1993392"/>
            <a:ext cx="286207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2D2A37"/>
                </a:solidFill>
                <a:latin typeface="Aptos"/>
                <a:ea typeface="Aptos"/>
                <a:cs typeface="Aptos"/>
                <a:sym typeface="Aptos"/>
              </a:defRPr>
            </a:lvl1pPr>
          </a:lstStyle>
          <a:p>
            <a:pPr/>
            <a:r>
              <a:t>26.13%</a:t>
            </a:r>
          </a:p>
        </p:txBody>
      </p:sp>
      <p:sp>
        <p:nvSpPr>
          <p:cNvPr id="591" name="TextBox 7"/>
          <p:cNvSpPr txBox="1"/>
          <p:nvPr/>
        </p:nvSpPr>
        <p:spPr>
          <a:xfrm>
            <a:off x="832104" y="2368295"/>
            <a:ext cx="286207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700">
                <a:solidFill>
                  <a:srgbClr val="686374"/>
                </a:solidFill>
                <a:latin typeface="Aptos"/>
                <a:ea typeface="Aptos"/>
                <a:cs typeface="Aptos"/>
                <a:sym typeface="Aptos"/>
              </a:defRPr>
            </a:lvl1pPr>
          </a:lstStyle>
          <a:p>
            <a:pPr/>
            <a:r>
              <a:t>OpenCV heuristic classifier</a:t>
            </a:r>
          </a:p>
        </p:txBody>
      </p:sp>
      <p:sp>
        <p:nvSpPr>
          <p:cNvPr id="592" name="Rounded Rectangle 8"/>
          <p:cNvSpPr/>
          <p:nvPr/>
        </p:nvSpPr>
        <p:spPr>
          <a:xfrm>
            <a:off x="4142232" y="1536191"/>
            <a:ext cx="3337560" cy="1170434"/>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700">
                <a:solidFill>
                  <a:srgbClr val="FFFFFF"/>
                </a:solidFill>
                <a:latin typeface="+mn-lt"/>
                <a:ea typeface="+mn-ea"/>
                <a:cs typeface="+mn-cs"/>
                <a:sym typeface="Calibri"/>
              </a:defRPr>
            </a:pPr>
          </a:p>
        </p:txBody>
      </p:sp>
      <p:sp>
        <p:nvSpPr>
          <p:cNvPr id="593" name="TextBox 9"/>
          <p:cNvSpPr txBox="1"/>
          <p:nvPr/>
        </p:nvSpPr>
        <p:spPr>
          <a:xfrm>
            <a:off x="4379976" y="1719072"/>
            <a:ext cx="286207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PROPOSED SYSTEM</a:t>
            </a:r>
          </a:p>
        </p:txBody>
      </p:sp>
      <p:sp>
        <p:nvSpPr>
          <p:cNvPr id="594" name="TextBox 10"/>
          <p:cNvSpPr txBox="1"/>
          <p:nvPr/>
        </p:nvSpPr>
        <p:spPr>
          <a:xfrm>
            <a:off x="4379976" y="1993392"/>
            <a:ext cx="286207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89.19%</a:t>
            </a:r>
          </a:p>
        </p:txBody>
      </p:sp>
      <p:sp>
        <p:nvSpPr>
          <p:cNvPr id="595" name="TextBox 11"/>
          <p:cNvSpPr txBox="1"/>
          <p:nvPr/>
        </p:nvSpPr>
        <p:spPr>
          <a:xfrm>
            <a:off x="4379976" y="2368295"/>
            <a:ext cx="286207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700">
                <a:solidFill>
                  <a:srgbClr val="686374"/>
                </a:solidFill>
                <a:latin typeface="Aptos"/>
                <a:ea typeface="Aptos"/>
                <a:cs typeface="Aptos"/>
                <a:sym typeface="Aptos"/>
              </a:defRPr>
            </a:lvl1pPr>
          </a:lstStyle>
          <a:p>
            <a:pPr/>
            <a:r>
              <a:t>Fine-tuned MobileNetV2</a:t>
            </a:r>
          </a:p>
        </p:txBody>
      </p:sp>
      <p:sp>
        <p:nvSpPr>
          <p:cNvPr id="596" name="Rounded Rectangle 12"/>
          <p:cNvSpPr/>
          <p:nvPr/>
        </p:nvSpPr>
        <p:spPr>
          <a:xfrm>
            <a:off x="7690104" y="1536191"/>
            <a:ext cx="3886201" cy="1170434"/>
          </a:xfrm>
          <a:prstGeom prst="roundRect">
            <a:avLst>
              <a:gd name="adj" fmla="val 16667"/>
            </a:avLst>
          </a:prstGeom>
          <a:solidFill>
            <a:srgbClr val="EFE9F8"/>
          </a:solidFill>
          <a:ln w="1270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700">
                <a:solidFill>
                  <a:srgbClr val="FFFFFF"/>
                </a:solidFill>
                <a:latin typeface="+mn-lt"/>
                <a:ea typeface="+mn-ea"/>
                <a:cs typeface="+mn-cs"/>
                <a:sym typeface="Calibri"/>
              </a:defRPr>
            </a:pPr>
          </a:p>
        </p:txBody>
      </p:sp>
      <p:sp>
        <p:nvSpPr>
          <p:cNvPr id="597" name="TextBox 13"/>
          <p:cNvSpPr txBox="1"/>
          <p:nvPr/>
        </p:nvSpPr>
        <p:spPr>
          <a:xfrm>
            <a:off x="7946136" y="1719072"/>
            <a:ext cx="336499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684E91"/>
                </a:solidFill>
                <a:latin typeface="Aptos"/>
                <a:ea typeface="Aptos"/>
                <a:cs typeface="Aptos"/>
                <a:sym typeface="Aptos"/>
              </a:defRPr>
            </a:lvl1pPr>
          </a:lstStyle>
          <a:p>
            <a:pPr/>
            <a:r>
              <a:t>ACCURACY IMPROVEMENT</a:t>
            </a:r>
          </a:p>
        </p:txBody>
      </p:sp>
      <p:sp>
        <p:nvSpPr>
          <p:cNvPr id="598" name="TextBox 14"/>
          <p:cNvSpPr txBox="1"/>
          <p:nvPr/>
        </p:nvSpPr>
        <p:spPr>
          <a:xfrm>
            <a:off x="7946136" y="1993392"/>
            <a:ext cx="336499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700">
                <a:solidFill>
                  <a:srgbClr val="377A54"/>
                </a:solidFill>
                <a:latin typeface="Aptos"/>
                <a:ea typeface="Aptos"/>
                <a:cs typeface="Aptos"/>
                <a:sym typeface="Aptos"/>
              </a:defRPr>
            </a:lvl1pPr>
          </a:lstStyle>
          <a:p>
            <a:pPr/>
            <a:r>
              <a:t>+63.06 pp</a:t>
            </a:r>
          </a:p>
        </p:txBody>
      </p:sp>
      <p:sp>
        <p:nvSpPr>
          <p:cNvPr id="599" name="TextBox 15"/>
          <p:cNvSpPr txBox="1"/>
          <p:nvPr/>
        </p:nvSpPr>
        <p:spPr>
          <a:xfrm>
            <a:off x="7946136" y="2368295"/>
            <a:ext cx="3364993" cy="2905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700">
                <a:solidFill>
                  <a:srgbClr val="686374"/>
                </a:solidFill>
                <a:latin typeface="Aptos"/>
                <a:ea typeface="Aptos"/>
                <a:cs typeface="Aptos"/>
                <a:sym typeface="Aptos"/>
              </a:defRPr>
            </a:lvl1pPr>
          </a:lstStyle>
          <a:p>
            <a:pPr/>
            <a:r>
              <a:t>absolute percentage-point gain</a:t>
            </a:r>
          </a:p>
        </p:txBody>
      </p:sp>
      <p:sp>
        <p:nvSpPr>
          <p:cNvPr id="600" name="TextBox 16"/>
          <p:cNvSpPr txBox="1"/>
          <p:nvPr/>
        </p:nvSpPr>
        <p:spPr>
          <a:xfrm>
            <a:off x="603504" y="2926079"/>
            <a:ext cx="272491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300">
                <a:solidFill>
                  <a:srgbClr val="684E91"/>
                </a:solidFill>
                <a:latin typeface="Aptos"/>
                <a:ea typeface="Aptos"/>
                <a:cs typeface="Aptos"/>
                <a:sym typeface="Aptos"/>
              </a:defRPr>
            </a:lvl1pPr>
          </a:lstStyle>
          <a:p>
            <a:pPr/>
            <a:r>
              <a:t>ACCURACY COMPARISON</a:t>
            </a:r>
          </a:p>
        </p:txBody>
      </p:sp>
      <p:sp>
        <p:nvSpPr>
          <p:cNvPr id="601" name="Rectangle 17"/>
          <p:cNvSpPr/>
          <p:nvPr/>
        </p:nvSpPr>
        <p:spPr>
          <a:xfrm>
            <a:off x="594359" y="3255264"/>
            <a:ext cx="1965962" cy="43891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02" name="TextBox 18"/>
          <p:cNvSpPr txBox="1"/>
          <p:nvPr/>
        </p:nvSpPr>
        <p:spPr>
          <a:xfrm>
            <a:off x="649224" y="3337559"/>
            <a:ext cx="1856230"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System</a:t>
            </a:r>
          </a:p>
        </p:txBody>
      </p:sp>
      <p:sp>
        <p:nvSpPr>
          <p:cNvPr id="603" name="Rectangle 19"/>
          <p:cNvSpPr/>
          <p:nvPr/>
        </p:nvSpPr>
        <p:spPr>
          <a:xfrm>
            <a:off x="2560320" y="3255264"/>
            <a:ext cx="4160521" cy="43891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04" name="TextBox 20"/>
          <p:cNvSpPr txBox="1"/>
          <p:nvPr/>
        </p:nvSpPr>
        <p:spPr>
          <a:xfrm>
            <a:off x="2615183" y="3337559"/>
            <a:ext cx="4050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Method</a:t>
            </a:r>
          </a:p>
        </p:txBody>
      </p:sp>
      <p:sp>
        <p:nvSpPr>
          <p:cNvPr id="605" name="Rectangle 21"/>
          <p:cNvSpPr/>
          <p:nvPr/>
        </p:nvSpPr>
        <p:spPr>
          <a:xfrm>
            <a:off x="6720840" y="3255264"/>
            <a:ext cx="1645921" cy="43891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06" name="TextBox 22"/>
          <p:cNvSpPr txBox="1"/>
          <p:nvPr/>
        </p:nvSpPr>
        <p:spPr>
          <a:xfrm>
            <a:off x="6775702" y="3337559"/>
            <a:ext cx="153619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Correct / Total</a:t>
            </a:r>
          </a:p>
        </p:txBody>
      </p:sp>
      <p:sp>
        <p:nvSpPr>
          <p:cNvPr id="607" name="Rectangle 23"/>
          <p:cNvSpPr/>
          <p:nvPr/>
        </p:nvSpPr>
        <p:spPr>
          <a:xfrm>
            <a:off x="8366759" y="3255264"/>
            <a:ext cx="1874519" cy="43891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08" name="TextBox 24"/>
          <p:cNvSpPr txBox="1"/>
          <p:nvPr/>
        </p:nvSpPr>
        <p:spPr>
          <a:xfrm>
            <a:off x="8421624" y="3337559"/>
            <a:ext cx="1764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Accuracy</a:t>
            </a:r>
          </a:p>
        </p:txBody>
      </p:sp>
      <p:sp>
        <p:nvSpPr>
          <p:cNvPr id="609" name="Rectangle 25"/>
          <p:cNvSpPr/>
          <p:nvPr/>
        </p:nvSpPr>
        <p:spPr>
          <a:xfrm>
            <a:off x="594359" y="3694176"/>
            <a:ext cx="1965962"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10" name="TextBox 26"/>
          <p:cNvSpPr txBox="1"/>
          <p:nvPr/>
        </p:nvSpPr>
        <p:spPr>
          <a:xfrm>
            <a:off x="649224" y="3749038"/>
            <a:ext cx="1856230"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Existing System</a:t>
            </a:r>
          </a:p>
        </p:txBody>
      </p:sp>
      <p:sp>
        <p:nvSpPr>
          <p:cNvPr id="611" name="Rectangle 27"/>
          <p:cNvSpPr/>
          <p:nvPr/>
        </p:nvSpPr>
        <p:spPr>
          <a:xfrm>
            <a:off x="2560320" y="3694176"/>
            <a:ext cx="4160521"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12" name="TextBox 28"/>
          <p:cNvSpPr txBox="1"/>
          <p:nvPr/>
        </p:nvSpPr>
        <p:spPr>
          <a:xfrm>
            <a:off x="2615183" y="3749038"/>
            <a:ext cx="4050792"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defTabSz="457200">
              <a:defRPr sz="1300">
                <a:solidFill>
                  <a:srgbClr val="2D2A37"/>
                </a:solidFill>
                <a:latin typeface="Aptos"/>
                <a:ea typeface="Aptos"/>
                <a:cs typeface="Aptos"/>
                <a:sym typeface="Aptos"/>
              </a:defRPr>
            </a:pPr>
            <a:r>
              <a:t>OpenCV rule-based heuristic</a:t>
            </a:r>
          </a:p>
          <a:p>
            <a:pPr algn="ctr" defTabSz="457200">
              <a:defRPr sz="1300">
                <a:solidFill>
                  <a:srgbClr val="2D2A37"/>
                </a:solidFill>
                <a:latin typeface="Aptos"/>
                <a:ea typeface="Aptos"/>
                <a:cs typeface="Aptos"/>
                <a:sym typeface="Aptos"/>
              </a:defRPr>
            </a:pPr>
            <a:r>
              <a:t>(Aspect Ratio + HSV + Canny Edges)</a:t>
            </a:r>
          </a:p>
        </p:txBody>
      </p:sp>
      <p:sp>
        <p:nvSpPr>
          <p:cNvPr id="613" name="Rectangle 29"/>
          <p:cNvSpPr/>
          <p:nvPr/>
        </p:nvSpPr>
        <p:spPr>
          <a:xfrm>
            <a:off x="6720840" y="3694176"/>
            <a:ext cx="1645921"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14" name="TextBox 30"/>
          <p:cNvSpPr txBox="1"/>
          <p:nvPr/>
        </p:nvSpPr>
        <p:spPr>
          <a:xfrm>
            <a:off x="6775702" y="3749038"/>
            <a:ext cx="153619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133 / 509</a:t>
            </a:r>
          </a:p>
        </p:txBody>
      </p:sp>
      <p:sp>
        <p:nvSpPr>
          <p:cNvPr id="615" name="Rectangle 31"/>
          <p:cNvSpPr/>
          <p:nvPr/>
        </p:nvSpPr>
        <p:spPr>
          <a:xfrm>
            <a:off x="8366759" y="3694176"/>
            <a:ext cx="1874519"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16" name="TextBox 32"/>
          <p:cNvSpPr txBox="1"/>
          <p:nvPr/>
        </p:nvSpPr>
        <p:spPr>
          <a:xfrm>
            <a:off x="8421624" y="3749038"/>
            <a:ext cx="1764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26.13%</a:t>
            </a:r>
          </a:p>
        </p:txBody>
      </p:sp>
      <p:sp>
        <p:nvSpPr>
          <p:cNvPr id="617" name="Rectangle 33"/>
          <p:cNvSpPr/>
          <p:nvPr/>
        </p:nvSpPr>
        <p:spPr>
          <a:xfrm>
            <a:off x="594359" y="4178808"/>
            <a:ext cx="1965962"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18" name="TextBox 34"/>
          <p:cNvSpPr txBox="1"/>
          <p:nvPr/>
        </p:nvSpPr>
        <p:spPr>
          <a:xfrm>
            <a:off x="649224" y="4233671"/>
            <a:ext cx="1856230"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Proposed System</a:t>
            </a:r>
          </a:p>
        </p:txBody>
      </p:sp>
      <p:sp>
        <p:nvSpPr>
          <p:cNvPr id="619" name="Rectangle 35"/>
          <p:cNvSpPr/>
          <p:nvPr/>
        </p:nvSpPr>
        <p:spPr>
          <a:xfrm>
            <a:off x="2560320" y="4178808"/>
            <a:ext cx="4160521"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20" name="TextBox 36"/>
          <p:cNvSpPr txBox="1"/>
          <p:nvPr/>
        </p:nvSpPr>
        <p:spPr>
          <a:xfrm>
            <a:off x="2615183" y="4233671"/>
            <a:ext cx="4050792"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defTabSz="457200">
              <a:defRPr sz="1300">
                <a:solidFill>
                  <a:srgbClr val="2D2A37"/>
                </a:solidFill>
                <a:latin typeface="Aptos"/>
                <a:ea typeface="Aptos"/>
                <a:cs typeface="Aptos"/>
                <a:sym typeface="Aptos"/>
              </a:defRPr>
            </a:pPr>
            <a:r>
              <a:t>Fine-tuned MobileNetV2</a:t>
            </a:r>
          </a:p>
          <a:p>
            <a:pPr algn="ctr" defTabSz="457200">
              <a:defRPr sz="1300">
                <a:solidFill>
                  <a:srgbClr val="2D2A37"/>
                </a:solidFill>
                <a:latin typeface="Aptos"/>
                <a:ea typeface="Aptos"/>
                <a:cs typeface="Aptos"/>
                <a:sym typeface="Aptos"/>
              </a:defRPr>
            </a:pPr>
            <a:r>
              <a:t>(Transfer Learning)</a:t>
            </a:r>
          </a:p>
        </p:txBody>
      </p:sp>
      <p:sp>
        <p:nvSpPr>
          <p:cNvPr id="621" name="Rectangle 37"/>
          <p:cNvSpPr/>
          <p:nvPr/>
        </p:nvSpPr>
        <p:spPr>
          <a:xfrm>
            <a:off x="6720840" y="4178808"/>
            <a:ext cx="1645921"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22" name="TextBox 38"/>
          <p:cNvSpPr txBox="1"/>
          <p:nvPr/>
        </p:nvSpPr>
        <p:spPr>
          <a:xfrm>
            <a:off x="6775702" y="4233671"/>
            <a:ext cx="153619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2D2A37"/>
                </a:solidFill>
                <a:latin typeface="Aptos"/>
                <a:ea typeface="Aptos"/>
                <a:cs typeface="Aptos"/>
                <a:sym typeface="Aptos"/>
              </a:defRPr>
            </a:lvl1pPr>
          </a:lstStyle>
          <a:p>
            <a:pPr/>
            <a:r>
              <a:t>454 / 509</a:t>
            </a:r>
          </a:p>
        </p:txBody>
      </p:sp>
      <p:sp>
        <p:nvSpPr>
          <p:cNvPr id="623" name="Rectangle 39"/>
          <p:cNvSpPr/>
          <p:nvPr/>
        </p:nvSpPr>
        <p:spPr>
          <a:xfrm>
            <a:off x="8366759" y="4178808"/>
            <a:ext cx="1874519" cy="484633"/>
          </a:xfrm>
          <a:prstGeom prst="rect">
            <a:avLst/>
          </a:prstGeom>
          <a:solidFill>
            <a:srgbClr val="FFFFFF"/>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24" name="TextBox 40"/>
          <p:cNvSpPr txBox="1"/>
          <p:nvPr/>
        </p:nvSpPr>
        <p:spPr>
          <a:xfrm>
            <a:off x="8421624" y="4233671"/>
            <a:ext cx="1764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89.19%</a:t>
            </a:r>
          </a:p>
        </p:txBody>
      </p:sp>
      <p:sp>
        <p:nvSpPr>
          <p:cNvPr id="625" name="Rectangle 41"/>
          <p:cNvSpPr/>
          <p:nvPr/>
        </p:nvSpPr>
        <p:spPr>
          <a:xfrm>
            <a:off x="594359" y="4663440"/>
            <a:ext cx="1965962" cy="48463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26" name="TextBox 42"/>
          <p:cNvSpPr txBox="1"/>
          <p:nvPr/>
        </p:nvSpPr>
        <p:spPr>
          <a:xfrm>
            <a:off x="649224" y="4718303"/>
            <a:ext cx="1856230"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Improvement</a:t>
            </a:r>
          </a:p>
        </p:txBody>
      </p:sp>
      <p:sp>
        <p:nvSpPr>
          <p:cNvPr id="627" name="Rectangle 43"/>
          <p:cNvSpPr/>
          <p:nvPr/>
        </p:nvSpPr>
        <p:spPr>
          <a:xfrm>
            <a:off x="2560320" y="4663440"/>
            <a:ext cx="4160521" cy="48463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28" name="TextBox 44"/>
          <p:cNvSpPr txBox="1"/>
          <p:nvPr/>
        </p:nvSpPr>
        <p:spPr>
          <a:xfrm>
            <a:off x="2615183" y="4792471"/>
            <a:ext cx="4050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Proposed − Existing</a:t>
            </a:r>
          </a:p>
        </p:txBody>
      </p:sp>
      <p:sp>
        <p:nvSpPr>
          <p:cNvPr id="629" name="Rectangle 45"/>
          <p:cNvSpPr/>
          <p:nvPr/>
        </p:nvSpPr>
        <p:spPr>
          <a:xfrm>
            <a:off x="6720840" y="4663440"/>
            <a:ext cx="1645921" cy="48463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30" name="Rectangle 47"/>
          <p:cNvSpPr/>
          <p:nvPr/>
        </p:nvSpPr>
        <p:spPr>
          <a:xfrm>
            <a:off x="8366759" y="4663440"/>
            <a:ext cx="1874519" cy="484633"/>
          </a:xfrm>
          <a:prstGeom prst="rect">
            <a:avLst/>
          </a:prstGeom>
          <a:solidFill>
            <a:srgbClr val="EFE9F8"/>
          </a:solidFill>
          <a:ln>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31" name="TextBox 48"/>
          <p:cNvSpPr txBox="1"/>
          <p:nvPr/>
        </p:nvSpPr>
        <p:spPr>
          <a:xfrm>
            <a:off x="8421624" y="4718303"/>
            <a:ext cx="1764792"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377A54"/>
                </a:solidFill>
                <a:latin typeface="Aptos"/>
                <a:ea typeface="Aptos"/>
                <a:cs typeface="Aptos"/>
                <a:sym typeface="Aptos"/>
              </a:defRPr>
            </a:lvl1pPr>
          </a:lstStyle>
          <a:p>
            <a:pPr/>
            <a:r>
              <a:t>+63.06 pp</a:t>
            </a:r>
          </a:p>
        </p:txBody>
      </p:sp>
      <p:sp>
        <p:nvSpPr>
          <p:cNvPr id="632" name="Rounded Rectangle 49"/>
          <p:cNvSpPr/>
          <p:nvPr/>
        </p:nvSpPr>
        <p:spPr>
          <a:xfrm>
            <a:off x="10450703" y="3172205"/>
            <a:ext cx="1642747" cy="1781812"/>
          </a:xfrm>
          <a:prstGeom prst="roundRect">
            <a:avLst>
              <a:gd name="adj" fmla="val 1428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33" name="TextBox 50"/>
          <p:cNvSpPr txBox="1"/>
          <p:nvPr/>
        </p:nvSpPr>
        <p:spPr>
          <a:xfrm>
            <a:off x="10419587" y="3440684"/>
            <a:ext cx="1792225"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VALIDATION</a:t>
            </a:r>
          </a:p>
        </p:txBody>
      </p:sp>
      <p:sp>
        <p:nvSpPr>
          <p:cNvPr id="634" name="TextBox 51"/>
          <p:cNvSpPr txBox="1"/>
          <p:nvPr/>
        </p:nvSpPr>
        <p:spPr>
          <a:xfrm>
            <a:off x="10419587" y="3818763"/>
            <a:ext cx="1792225"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91.88%</a:t>
            </a:r>
          </a:p>
        </p:txBody>
      </p:sp>
      <p:sp>
        <p:nvSpPr>
          <p:cNvPr id="635" name="TextBox 52"/>
          <p:cNvSpPr txBox="1"/>
          <p:nvPr/>
        </p:nvSpPr>
        <p:spPr>
          <a:xfrm>
            <a:off x="10419587" y="4311015"/>
            <a:ext cx="1792225"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p>
            <a:pPr algn="ctr" defTabSz="457200">
              <a:defRPr sz="1300">
                <a:solidFill>
                  <a:srgbClr val="686374"/>
                </a:solidFill>
                <a:latin typeface="Aptos"/>
                <a:ea typeface="Aptos"/>
                <a:cs typeface="Aptos"/>
                <a:sym typeface="Aptos"/>
              </a:defRPr>
            </a:pPr>
            <a:r>
              <a:t>Best accuracy</a:t>
            </a:r>
          </a:p>
          <a:p>
            <a:pPr algn="ctr" defTabSz="457200">
              <a:defRPr sz="1300">
                <a:solidFill>
                  <a:srgbClr val="686374"/>
                </a:solidFill>
                <a:latin typeface="Aptos"/>
                <a:ea typeface="Aptos"/>
                <a:cs typeface="Aptos"/>
                <a:sym typeface="Aptos"/>
              </a:defRPr>
            </a:pPr>
            <a:r>
              <a:t>Epoch 12 / 15</a:t>
            </a:r>
          </a:p>
        </p:txBody>
      </p:sp>
      <p:sp>
        <p:nvSpPr>
          <p:cNvPr id="636" name="Rounded Rectangle 53"/>
          <p:cNvSpPr/>
          <p:nvPr/>
        </p:nvSpPr>
        <p:spPr>
          <a:xfrm>
            <a:off x="598678" y="5539485"/>
            <a:ext cx="10981944" cy="1051561"/>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300">
                <a:solidFill>
                  <a:srgbClr val="FFFFFF"/>
                </a:solidFill>
                <a:latin typeface="+mn-lt"/>
                <a:ea typeface="+mn-ea"/>
                <a:cs typeface="+mn-cs"/>
                <a:sym typeface="Calibri"/>
              </a:defRPr>
            </a:pPr>
          </a:p>
        </p:txBody>
      </p:sp>
      <p:sp>
        <p:nvSpPr>
          <p:cNvPr id="637" name="TextBox 54"/>
          <p:cNvSpPr txBox="1"/>
          <p:nvPr/>
        </p:nvSpPr>
        <p:spPr>
          <a:xfrm>
            <a:off x="832104" y="5744463"/>
            <a:ext cx="2267713" cy="442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300">
                <a:solidFill>
                  <a:srgbClr val="684E91"/>
                </a:solidFill>
                <a:latin typeface="Aptos"/>
                <a:ea typeface="Aptos"/>
                <a:cs typeface="Aptos"/>
                <a:sym typeface="Aptos"/>
              </a:defRPr>
            </a:lvl1pPr>
          </a:lstStyle>
          <a:p>
            <a:pPr/>
            <a:r>
              <a:t>OTHER RELEVANT RESULTS</a:t>
            </a:r>
          </a:p>
        </p:txBody>
      </p:sp>
      <p:sp>
        <p:nvSpPr>
          <p:cNvPr id="638" name="TextBox 55"/>
          <p:cNvSpPr txBox="1"/>
          <p:nvPr/>
        </p:nvSpPr>
        <p:spPr>
          <a:xfrm>
            <a:off x="2889503" y="5632703"/>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5,096</a:t>
            </a:r>
          </a:p>
        </p:txBody>
      </p:sp>
      <p:sp>
        <p:nvSpPr>
          <p:cNvPr id="639" name="TextBox 56"/>
          <p:cNvSpPr txBox="1"/>
          <p:nvPr/>
        </p:nvSpPr>
        <p:spPr>
          <a:xfrm>
            <a:off x="2889504" y="5947664"/>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Dataset images</a:t>
            </a:r>
          </a:p>
        </p:txBody>
      </p:sp>
      <p:sp>
        <p:nvSpPr>
          <p:cNvPr id="640" name="TextBox 57"/>
          <p:cNvSpPr txBox="1"/>
          <p:nvPr/>
        </p:nvSpPr>
        <p:spPr>
          <a:xfrm>
            <a:off x="2889504" y="6229095"/>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6 categories</a:t>
            </a:r>
          </a:p>
        </p:txBody>
      </p:sp>
      <p:sp>
        <p:nvSpPr>
          <p:cNvPr id="641" name="TextBox 58"/>
          <p:cNvSpPr txBox="1"/>
          <p:nvPr/>
        </p:nvSpPr>
        <p:spPr>
          <a:xfrm>
            <a:off x="4946903" y="5673661"/>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509</a:t>
            </a:r>
          </a:p>
        </p:txBody>
      </p:sp>
      <p:sp>
        <p:nvSpPr>
          <p:cNvPr id="642" name="TextBox 59"/>
          <p:cNvSpPr txBox="1"/>
          <p:nvPr/>
        </p:nvSpPr>
        <p:spPr>
          <a:xfrm>
            <a:off x="4946903" y="5977443"/>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Test images</a:t>
            </a:r>
          </a:p>
        </p:txBody>
      </p:sp>
      <p:sp>
        <p:nvSpPr>
          <p:cNvPr id="643" name="TextBox 60"/>
          <p:cNvSpPr txBox="1"/>
          <p:nvPr/>
        </p:nvSpPr>
        <p:spPr>
          <a:xfrm>
            <a:off x="5020055" y="6279197"/>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10% held-out</a:t>
            </a:r>
          </a:p>
        </p:txBody>
      </p:sp>
      <p:sp>
        <p:nvSpPr>
          <p:cNvPr id="644" name="TextBox 61"/>
          <p:cNvSpPr txBox="1"/>
          <p:nvPr/>
        </p:nvSpPr>
        <p:spPr>
          <a:xfrm>
            <a:off x="7004303" y="5623050"/>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454 / 509</a:t>
            </a:r>
          </a:p>
        </p:txBody>
      </p:sp>
      <p:sp>
        <p:nvSpPr>
          <p:cNvPr id="645" name="TextBox 62"/>
          <p:cNvSpPr txBox="1"/>
          <p:nvPr/>
        </p:nvSpPr>
        <p:spPr>
          <a:xfrm>
            <a:off x="7004303" y="5910072"/>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Proposed correct</a:t>
            </a:r>
          </a:p>
        </p:txBody>
      </p:sp>
      <p:sp>
        <p:nvSpPr>
          <p:cNvPr id="646" name="TextBox 63"/>
          <p:cNvSpPr txBox="1"/>
          <p:nvPr/>
        </p:nvSpPr>
        <p:spPr>
          <a:xfrm>
            <a:off x="7004303" y="6229096"/>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89.19% accuracy</a:t>
            </a:r>
          </a:p>
        </p:txBody>
      </p:sp>
      <p:sp>
        <p:nvSpPr>
          <p:cNvPr id="647" name="TextBox 64"/>
          <p:cNvSpPr txBox="1"/>
          <p:nvPr/>
        </p:nvSpPr>
        <p:spPr>
          <a:xfrm>
            <a:off x="9061703" y="5632703"/>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684E91"/>
                </a:solidFill>
                <a:latin typeface="Aptos"/>
                <a:ea typeface="Aptos"/>
                <a:cs typeface="Aptos"/>
                <a:sym typeface="Aptos"/>
              </a:defRPr>
            </a:lvl1pPr>
          </a:lstStyle>
          <a:p>
            <a:pPr/>
            <a:r>
              <a:t>43 / 43</a:t>
            </a:r>
          </a:p>
        </p:txBody>
      </p:sp>
      <p:sp>
        <p:nvSpPr>
          <p:cNvPr id="648" name="TextBox 65"/>
          <p:cNvSpPr txBox="1"/>
          <p:nvPr/>
        </p:nvSpPr>
        <p:spPr>
          <a:xfrm>
            <a:off x="9061703" y="5977443"/>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300">
                <a:solidFill>
                  <a:srgbClr val="2D2A37"/>
                </a:solidFill>
                <a:latin typeface="Aptos"/>
                <a:ea typeface="Aptos"/>
                <a:cs typeface="Aptos"/>
                <a:sym typeface="Aptos"/>
              </a:defRPr>
            </a:lvl1pPr>
          </a:lstStyle>
          <a:p>
            <a:pPr/>
            <a:r>
              <a:t>Integration tests</a:t>
            </a:r>
          </a:p>
        </p:txBody>
      </p:sp>
      <p:sp>
        <p:nvSpPr>
          <p:cNvPr id="649" name="TextBox 66"/>
          <p:cNvSpPr txBox="1"/>
          <p:nvPr/>
        </p:nvSpPr>
        <p:spPr>
          <a:xfrm>
            <a:off x="9061703" y="6279197"/>
            <a:ext cx="15819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sz="1300">
                <a:solidFill>
                  <a:srgbClr val="686374"/>
                </a:solidFill>
                <a:latin typeface="Aptos"/>
                <a:ea typeface="Aptos"/>
                <a:cs typeface="Aptos"/>
                <a:sym typeface="Aptos"/>
              </a:defRPr>
            </a:lvl1pPr>
          </a:lstStyle>
          <a:p>
            <a:pPr/>
            <a:r>
              <a:t>All passed</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1" name="TextBox 1"/>
          <p:cNvSpPr txBox="1"/>
          <p:nvPr/>
        </p:nvSpPr>
        <p:spPr>
          <a:xfrm>
            <a:off x="548639" y="293877"/>
            <a:ext cx="2349926"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solidFill>
                  <a:srgbClr val="5B4391"/>
                </a:solidFill>
                <a:latin typeface="Aptos"/>
                <a:ea typeface="Aptos"/>
                <a:cs typeface="Aptos"/>
                <a:sym typeface="Aptos"/>
              </a:defRPr>
            </a:lvl1pPr>
          </a:lstStyle>
          <a:p>
            <a:pPr/>
            <a:r>
              <a:t>09  ·  RESULTS</a:t>
            </a:r>
          </a:p>
        </p:txBody>
      </p:sp>
      <p:sp>
        <p:nvSpPr>
          <p:cNvPr id="652" name="TextBox 2"/>
          <p:cNvSpPr txBox="1"/>
          <p:nvPr/>
        </p:nvSpPr>
        <p:spPr>
          <a:xfrm>
            <a:off x="534192" y="702754"/>
            <a:ext cx="905256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500">
                <a:solidFill>
                  <a:srgbClr val="26272C"/>
                </a:solidFill>
                <a:latin typeface="Aptos"/>
                <a:ea typeface="Aptos"/>
                <a:cs typeface="Aptos"/>
                <a:sym typeface="Aptos"/>
              </a:defRPr>
            </a:lvl1pPr>
          </a:lstStyle>
          <a:p>
            <a:pPr/>
            <a:r>
              <a:t>Implemented UI Screens</a:t>
            </a:r>
          </a:p>
        </p:txBody>
      </p:sp>
      <p:sp>
        <p:nvSpPr>
          <p:cNvPr id="653" name="Rounded Rectangle 4"/>
          <p:cNvSpPr/>
          <p:nvPr/>
        </p:nvSpPr>
        <p:spPr>
          <a:xfrm>
            <a:off x="285952" y="1362090"/>
            <a:ext cx="2875301" cy="2443227"/>
          </a:xfrm>
          <a:prstGeom prst="roundRect">
            <a:avLst>
              <a:gd name="adj" fmla="val 14684"/>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54" name="Rectangle 5"/>
          <p:cNvSpPr/>
          <p:nvPr/>
        </p:nvSpPr>
        <p:spPr>
          <a:xfrm>
            <a:off x="649223" y="1810511"/>
            <a:ext cx="2331722"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55" name="Rectangle 6"/>
          <p:cNvSpPr/>
          <p:nvPr/>
        </p:nvSpPr>
        <p:spPr>
          <a:xfrm>
            <a:off x="1581911" y="213055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56" name="Oval 7"/>
          <p:cNvSpPr/>
          <p:nvPr/>
        </p:nvSpPr>
        <p:spPr>
          <a:xfrm>
            <a:off x="1901951" y="218541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57" name="TextBox 8"/>
          <p:cNvSpPr txBox="1"/>
          <p:nvPr/>
        </p:nvSpPr>
        <p:spPr>
          <a:xfrm>
            <a:off x="621750" y="3520789"/>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Login / Registration</a:t>
            </a:r>
          </a:p>
        </p:txBody>
      </p:sp>
      <p:sp>
        <p:nvSpPr>
          <p:cNvPr id="658" name="Rounded Rectangle 10"/>
          <p:cNvSpPr/>
          <p:nvPr/>
        </p:nvSpPr>
        <p:spPr>
          <a:xfrm>
            <a:off x="3355847" y="1363149"/>
            <a:ext cx="2871217" cy="2416684"/>
          </a:xfrm>
          <a:prstGeom prst="roundRect">
            <a:avLst>
              <a:gd name="adj" fmla="val 13937"/>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59" name="Rectangle 11"/>
          <p:cNvSpPr/>
          <p:nvPr/>
        </p:nvSpPr>
        <p:spPr>
          <a:xfrm>
            <a:off x="3593099" y="1933765"/>
            <a:ext cx="2331721"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60" name="Rectangle 12"/>
          <p:cNvSpPr/>
          <p:nvPr/>
        </p:nvSpPr>
        <p:spPr>
          <a:xfrm>
            <a:off x="4434840" y="213055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61" name="Oval 13"/>
          <p:cNvSpPr/>
          <p:nvPr/>
        </p:nvSpPr>
        <p:spPr>
          <a:xfrm>
            <a:off x="4754879" y="218541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62" name="TextBox 14"/>
          <p:cNvSpPr txBox="1"/>
          <p:nvPr/>
        </p:nvSpPr>
        <p:spPr>
          <a:xfrm>
            <a:off x="3566160" y="3433318"/>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User Dashboard</a:t>
            </a:r>
          </a:p>
        </p:txBody>
      </p:sp>
      <p:sp>
        <p:nvSpPr>
          <p:cNvPr id="663" name="Rounded Rectangle 16"/>
          <p:cNvSpPr/>
          <p:nvPr/>
        </p:nvSpPr>
        <p:spPr>
          <a:xfrm>
            <a:off x="6280679" y="1292192"/>
            <a:ext cx="2875301" cy="2443228"/>
          </a:xfrm>
          <a:prstGeom prst="roundRect">
            <a:avLst>
              <a:gd name="adj" fmla="val 13260"/>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64" name="Rectangle 17"/>
          <p:cNvSpPr/>
          <p:nvPr/>
        </p:nvSpPr>
        <p:spPr>
          <a:xfrm>
            <a:off x="6486913" y="1810511"/>
            <a:ext cx="2331721"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65" name="Rectangle 18"/>
          <p:cNvSpPr/>
          <p:nvPr/>
        </p:nvSpPr>
        <p:spPr>
          <a:xfrm>
            <a:off x="7287768" y="213055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66" name="Oval 19"/>
          <p:cNvSpPr/>
          <p:nvPr/>
        </p:nvSpPr>
        <p:spPr>
          <a:xfrm>
            <a:off x="7607807" y="218541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67" name="TextBox 20"/>
          <p:cNvSpPr txBox="1"/>
          <p:nvPr/>
        </p:nvSpPr>
        <p:spPr>
          <a:xfrm>
            <a:off x="6532212" y="3422645"/>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Wardrobe</a:t>
            </a:r>
          </a:p>
        </p:txBody>
      </p:sp>
      <p:sp>
        <p:nvSpPr>
          <p:cNvPr id="668" name="Rounded Rectangle 22"/>
          <p:cNvSpPr/>
          <p:nvPr/>
        </p:nvSpPr>
        <p:spPr>
          <a:xfrm>
            <a:off x="9278365" y="1299241"/>
            <a:ext cx="2741613" cy="2366233"/>
          </a:xfrm>
          <a:prstGeom prst="roundRect">
            <a:avLst>
              <a:gd name="adj" fmla="val 13592"/>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69" name="Rectangle 23"/>
          <p:cNvSpPr/>
          <p:nvPr/>
        </p:nvSpPr>
        <p:spPr>
          <a:xfrm>
            <a:off x="9483311" y="1810511"/>
            <a:ext cx="2331721"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70" name="Rectangle 24"/>
          <p:cNvSpPr/>
          <p:nvPr/>
        </p:nvSpPr>
        <p:spPr>
          <a:xfrm>
            <a:off x="10140695" y="213055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71" name="Oval 25"/>
          <p:cNvSpPr/>
          <p:nvPr/>
        </p:nvSpPr>
        <p:spPr>
          <a:xfrm>
            <a:off x="10460735" y="218541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72" name="TextBox 26"/>
          <p:cNvSpPr txBox="1"/>
          <p:nvPr/>
        </p:nvSpPr>
        <p:spPr>
          <a:xfrm>
            <a:off x="9547320" y="3276091"/>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AI Stylist / Recommendations</a:t>
            </a:r>
          </a:p>
        </p:txBody>
      </p:sp>
      <p:sp>
        <p:nvSpPr>
          <p:cNvPr id="673" name="Rounded Rectangle 28"/>
          <p:cNvSpPr/>
          <p:nvPr/>
        </p:nvSpPr>
        <p:spPr>
          <a:xfrm>
            <a:off x="286258" y="4097750"/>
            <a:ext cx="2948940" cy="2416684"/>
          </a:xfrm>
          <a:prstGeom prst="roundRect">
            <a:avLst>
              <a:gd name="adj" fmla="val 14842"/>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74" name="Rectangle 29"/>
          <p:cNvSpPr/>
          <p:nvPr/>
        </p:nvSpPr>
        <p:spPr>
          <a:xfrm>
            <a:off x="627581" y="4321968"/>
            <a:ext cx="2331721"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75" name="Rectangle 30"/>
          <p:cNvSpPr/>
          <p:nvPr/>
        </p:nvSpPr>
        <p:spPr>
          <a:xfrm>
            <a:off x="1581911" y="432511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76" name="Oval 31"/>
          <p:cNvSpPr/>
          <p:nvPr/>
        </p:nvSpPr>
        <p:spPr>
          <a:xfrm>
            <a:off x="1901951" y="437997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77" name="TextBox 32"/>
          <p:cNvSpPr txBox="1"/>
          <p:nvPr/>
        </p:nvSpPr>
        <p:spPr>
          <a:xfrm>
            <a:off x="575469" y="6175819"/>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Weekly Planner</a:t>
            </a:r>
          </a:p>
        </p:txBody>
      </p:sp>
      <p:sp>
        <p:nvSpPr>
          <p:cNvPr id="678" name="Rounded Rectangle 34"/>
          <p:cNvSpPr/>
          <p:nvPr/>
        </p:nvSpPr>
        <p:spPr>
          <a:xfrm>
            <a:off x="3355848" y="4097750"/>
            <a:ext cx="2730236" cy="2366233"/>
          </a:xfrm>
          <a:prstGeom prst="roundRect">
            <a:avLst>
              <a:gd name="adj" fmla="val 13535"/>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79" name="Rectangle 35"/>
          <p:cNvSpPr/>
          <p:nvPr/>
        </p:nvSpPr>
        <p:spPr>
          <a:xfrm>
            <a:off x="3545438" y="4281582"/>
            <a:ext cx="2331721"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80" name="Rectangle 36"/>
          <p:cNvSpPr/>
          <p:nvPr/>
        </p:nvSpPr>
        <p:spPr>
          <a:xfrm>
            <a:off x="4434840" y="432511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81" name="Oval 37"/>
          <p:cNvSpPr/>
          <p:nvPr/>
        </p:nvSpPr>
        <p:spPr>
          <a:xfrm>
            <a:off x="4754879" y="437997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82" name="TextBox 38"/>
          <p:cNvSpPr txBox="1"/>
          <p:nvPr/>
        </p:nvSpPr>
        <p:spPr>
          <a:xfrm>
            <a:off x="3609446" y="6056947"/>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Upload clothing item</a:t>
            </a:r>
          </a:p>
        </p:txBody>
      </p:sp>
      <p:sp>
        <p:nvSpPr>
          <p:cNvPr id="683" name="Rounded Rectangle 40"/>
          <p:cNvSpPr/>
          <p:nvPr/>
        </p:nvSpPr>
        <p:spPr>
          <a:xfrm>
            <a:off x="6208776" y="4002436"/>
            <a:ext cx="2667615" cy="2415245"/>
          </a:xfrm>
          <a:prstGeom prst="roundRect">
            <a:avLst>
              <a:gd name="adj" fmla="val 12957"/>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84" name="Rectangle 41"/>
          <p:cNvSpPr/>
          <p:nvPr/>
        </p:nvSpPr>
        <p:spPr>
          <a:xfrm>
            <a:off x="6376723" y="4321968"/>
            <a:ext cx="2331721"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85" name="Rectangle 42"/>
          <p:cNvSpPr/>
          <p:nvPr/>
        </p:nvSpPr>
        <p:spPr>
          <a:xfrm>
            <a:off x="7287768" y="432511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86" name="Oval 43"/>
          <p:cNvSpPr/>
          <p:nvPr/>
        </p:nvSpPr>
        <p:spPr>
          <a:xfrm>
            <a:off x="7607807" y="437997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87" name="TextBox 44"/>
          <p:cNvSpPr txBox="1"/>
          <p:nvPr/>
        </p:nvSpPr>
        <p:spPr>
          <a:xfrm>
            <a:off x="6460332" y="6056947"/>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Analytics</a:t>
            </a:r>
          </a:p>
        </p:txBody>
      </p:sp>
      <p:sp>
        <p:nvSpPr>
          <p:cNvPr id="688" name="Rounded Rectangle 46"/>
          <p:cNvSpPr/>
          <p:nvPr/>
        </p:nvSpPr>
        <p:spPr>
          <a:xfrm>
            <a:off x="9252881" y="3858767"/>
            <a:ext cx="2632257" cy="2530358"/>
          </a:xfrm>
          <a:prstGeom prst="roundRect">
            <a:avLst>
              <a:gd name="adj" fmla="val 13089"/>
            </a:avLst>
          </a:prstGeom>
          <a:solidFill>
            <a:srgbClr val="FFFFFF"/>
          </a:solidFill>
          <a:ln w="12700">
            <a:solidFill>
              <a:srgbClr val="DAD5E4"/>
            </a:solidFill>
          </a:ln>
        </p:spPr>
        <p:txBody>
          <a:bodyPr lIns="45718" tIns="45718" rIns="45718" bIns="45718" anchor="ctr"/>
          <a:lstStyle/>
          <a:p>
            <a:pPr algn="ctr">
              <a:defRPr>
                <a:solidFill>
                  <a:srgbClr val="FFFFFF"/>
                </a:solidFill>
              </a:defRPr>
            </a:pPr>
          </a:p>
        </p:txBody>
      </p:sp>
      <p:sp>
        <p:nvSpPr>
          <p:cNvPr id="689" name="Rectangle 47"/>
          <p:cNvSpPr/>
          <p:nvPr/>
        </p:nvSpPr>
        <p:spPr>
          <a:xfrm>
            <a:off x="9403150" y="4215384"/>
            <a:ext cx="2331721" cy="1115569"/>
          </a:xfrm>
          <a:prstGeom prst="rect">
            <a:avLst/>
          </a:prstGeom>
          <a:solidFill>
            <a:srgbClr val="F4F1FA"/>
          </a:solidFill>
          <a:ln>
            <a:solidFill>
              <a:srgbClr val="EBE7F1"/>
            </a:solidFill>
          </a:ln>
        </p:spPr>
        <p:txBody>
          <a:bodyPr lIns="45718" tIns="45718" rIns="45718" bIns="45718" anchor="ctr"/>
          <a:lstStyle/>
          <a:p>
            <a:pPr algn="ctr">
              <a:defRPr>
                <a:solidFill>
                  <a:srgbClr val="FFFFFF"/>
                </a:solidFill>
              </a:defRPr>
            </a:pPr>
          </a:p>
        </p:txBody>
      </p:sp>
      <p:sp>
        <p:nvSpPr>
          <p:cNvPr id="690" name="Rectangle 48"/>
          <p:cNvSpPr/>
          <p:nvPr/>
        </p:nvSpPr>
        <p:spPr>
          <a:xfrm>
            <a:off x="10140695" y="4325111"/>
            <a:ext cx="466345" cy="365761"/>
          </a:xfrm>
          <a:prstGeom prst="rect">
            <a:avLst/>
          </a:prstGeom>
          <a:ln>
            <a:solidFill>
              <a:srgbClr val="968BB1"/>
            </a:solidFill>
          </a:ln>
        </p:spPr>
        <p:txBody>
          <a:bodyPr lIns="45718" tIns="45718" rIns="45718" bIns="45718" anchor="ctr"/>
          <a:lstStyle/>
          <a:p>
            <a:pPr algn="ctr">
              <a:defRPr>
                <a:solidFill>
                  <a:srgbClr val="FFFFFF"/>
                </a:solidFill>
              </a:defRPr>
            </a:pPr>
          </a:p>
        </p:txBody>
      </p:sp>
      <p:sp>
        <p:nvSpPr>
          <p:cNvPr id="691" name="Oval 49"/>
          <p:cNvSpPr/>
          <p:nvPr/>
        </p:nvSpPr>
        <p:spPr>
          <a:xfrm>
            <a:off x="10460735" y="4379976"/>
            <a:ext cx="73153" cy="73153"/>
          </a:xfrm>
          <a:prstGeom prst="ellipse">
            <a:avLst/>
          </a:prstGeom>
          <a:solidFill>
            <a:srgbClr val="968BB1"/>
          </a:solidFill>
          <a:ln w="12700">
            <a:miter lim="400000"/>
          </a:ln>
        </p:spPr>
        <p:txBody>
          <a:bodyPr lIns="45718" tIns="45718" rIns="45718" bIns="45718" anchor="ctr"/>
          <a:lstStyle/>
          <a:p>
            <a:pPr algn="ctr">
              <a:defRPr>
                <a:solidFill>
                  <a:srgbClr val="FFFFFF"/>
                </a:solidFill>
              </a:defRPr>
            </a:pPr>
          </a:p>
        </p:txBody>
      </p:sp>
      <p:sp>
        <p:nvSpPr>
          <p:cNvPr id="692" name="TextBox 50"/>
          <p:cNvSpPr txBox="1"/>
          <p:nvPr/>
        </p:nvSpPr>
        <p:spPr>
          <a:xfrm>
            <a:off x="9467157" y="6056947"/>
            <a:ext cx="220370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26272C"/>
                </a:solidFill>
                <a:latin typeface="Aptos"/>
                <a:ea typeface="Aptos"/>
                <a:cs typeface="Aptos"/>
                <a:sym typeface="Aptos"/>
              </a:defRPr>
            </a:lvl1pPr>
          </a:lstStyle>
          <a:p>
            <a:pPr/>
            <a:r>
              <a:t>Profile &amp; Preferences</a:t>
            </a:r>
          </a:p>
        </p:txBody>
      </p:sp>
      <p:sp>
        <p:nvSpPr>
          <p:cNvPr id="693" name="TextBox 52"/>
          <p:cNvSpPr txBox="1"/>
          <p:nvPr/>
        </p:nvSpPr>
        <p:spPr>
          <a:xfrm>
            <a:off x="360821" y="6624637"/>
            <a:ext cx="6766561" cy="193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737078"/>
                </a:solidFill>
                <a:latin typeface="Aptos"/>
                <a:ea typeface="Aptos"/>
                <a:cs typeface="Aptos"/>
                <a:sym typeface="Aptos"/>
              </a:defRPr>
            </a:lvl1pPr>
          </a:lstStyle>
          <a:p>
            <a:pPr/>
            <a:r>
              <a:t>WEARLYTICS  |  S3 MCA MINI PROJECT — SECOND INTERIM PRESENTATION</a:t>
            </a:r>
          </a:p>
        </p:txBody>
      </p:sp>
      <p:pic>
        <p:nvPicPr>
          <p:cNvPr id="694" name="Screenshot 2026-09-13 at 8.30.52 PM.png" descr="Screenshot 2026-09-13 at 8.30.52 PM.png"/>
          <p:cNvPicPr>
            <a:picLocks noChangeAspect="1"/>
          </p:cNvPicPr>
          <p:nvPr/>
        </p:nvPicPr>
        <p:blipFill>
          <a:blip r:embed="rId2">
            <a:extLst/>
          </a:blip>
          <a:srcRect l="8155" t="8155" r="8155" b="8155"/>
          <a:stretch>
            <a:fillRect/>
          </a:stretch>
        </p:blipFill>
        <p:spPr>
          <a:xfrm>
            <a:off x="300164" y="1619352"/>
            <a:ext cx="2754409" cy="1725930"/>
          </a:xfrm>
          <a:prstGeom prst="rect">
            <a:avLst/>
          </a:prstGeom>
          <a:ln w="12700">
            <a:miter lim="400000"/>
          </a:ln>
        </p:spPr>
      </p:pic>
      <p:pic>
        <p:nvPicPr>
          <p:cNvPr id="695" name="Screenshot 2026-09-13 at 8.23.30 PM.png" descr="Screenshot 2026-09-13 at 8.23.30 PM.png"/>
          <p:cNvPicPr>
            <a:picLocks noChangeAspect="1"/>
          </p:cNvPicPr>
          <p:nvPr/>
        </p:nvPicPr>
        <p:blipFill>
          <a:blip r:embed="rId3">
            <a:extLst/>
          </a:blip>
          <a:stretch>
            <a:fillRect/>
          </a:stretch>
        </p:blipFill>
        <p:spPr>
          <a:xfrm>
            <a:off x="3389709" y="1625519"/>
            <a:ext cx="2803345" cy="1756593"/>
          </a:xfrm>
          <a:prstGeom prst="rect">
            <a:avLst/>
          </a:prstGeom>
          <a:ln w="12700">
            <a:miter lim="400000"/>
          </a:ln>
        </p:spPr>
      </p:pic>
      <p:pic>
        <p:nvPicPr>
          <p:cNvPr id="696" name="Screenshot 2026-09-13 at 8.24.58 PM.png" descr="Screenshot 2026-09-13 at 8.24.58 PM.png"/>
          <p:cNvPicPr>
            <a:picLocks noChangeAspect="1"/>
          </p:cNvPicPr>
          <p:nvPr/>
        </p:nvPicPr>
        <p:blipFill>
          <a:blip r:embed="rId4">
            <a:extLst/>
          </a:blip>
          <a:stretch>
            <a:fillRect/>
          </a:stretch>
        </p:blipFill>
        <p:spPr>
          <a:xfrm>
            <a:off x="6315328" y="1612420"/>
            <a:ext cx="2806002" cy="1758259"/>
          </a:xfrm>
          <a:prstGeom prst="rect">
            <a:avLst/>
          </a:prstGeom>
          <a:ln w="12700">
            <a:miter lim="400000"/>
          </a:ln>
        </p:spPr>
      </p:pic>
      <p:pic>
        <p:nvPicPr>
          <p:cNvPr id="697" name="Screenshot 2026-09-13 at 8.25.55 PM.png" descr="Screenshot 2026-09-13 at 8.25.55 PM.png"/>
          <p:cNvPicPr>
            <a:picLocks noChangeAspect="1"/>
          </p:cNvPicPr>
          <p:nvPr/>
        </p:nvPicPr>
        <p:blipFill>
          <a:blip r:embed="rId5">
            <a:extLst/>
          </a:blip>
          <a:srcRect l="0" t="0" r="0" b="0"/>
          <a:stretch>
            <a:fillRect/>
          </a:stretch>
        </p:blipFill>
        <p:spPr>
          <a:xfrm>
            <a:off x="9277704" y="1622987"/>
            <a:ext cx="2742936" cy="1718742"/>
          </a:xfrm>
          <a:prstGeom prst="rect">
            <a:avLst/>
          </a:prstGeom>
          <a:ln w="12700">
            <a:miter lim="400000"/>
          </a:ln>
        </p:spPr>
      </p:pic>
      <p:pic>
        <p:nvPicPr>
          <p:cNvPr id="698" name="Screenshot 2026-09-13 at 8.26.26 PM.png" descr="Screenshot 2026-09-13 at 8.26.26 PM.png"/>
          <p:cNvPicPr>
            <a:picLocks noChangeAspect="1"/>
          </p:cNvPicPr>
          <p:nvPr/>
        </p:nvPicPr>
        <p:blipFill>
          <a:blip r:embed="rId6">
            <a:extLst/>
          </a:blip>
          <a:stretch>
            <a:fillRect/>
          </a:stretch>
        </p:blipFill>
        <p:spPr>
          <a:xfrm>
            <a:off x="327710" y="4299870"/>
            <a:ext cx="2866036" cy="1795876"/>
          </a:xfrm>
          <a:prstGeom prst="rect">
            <a:avLst/>
          </a:prstGeom>
          <a:ln w="12700">
            <a:miter lim="400000"/>
          </a:ln>
        </p:spPr>
      </p:pic>
      <p:pic>
        <p:nvPicPr>
          <p:cNvPr id="699" name="Screenshot 2026-09-13 at 8.25.39 PM.png" descr="Screenshot 2026-09-13 at 8.25.39 PM.png"/>
          <p:cNvPicPr>
            <a:picLocks noChangeAspect="1"/>
          </p:cNvPicPr>
          <p:nvPr/>
        </p:nvPicPr>
        <p:blipFill>
          <a:blip r:embed="rId7">
            <a:extLst/>
          </a:blip>
          <a:stretch>
            <a:fillRect/>
          </a:stretch>
        </p:blipFill>
        <p:spPr>
          <a:xfrm>
            <a:off x="3414345" y="4316705"/>
            <a:ext cx="2672707" cy="1674735"/>
          </a:xfrm>
          <a:prstGeom prst="rect">
            <a:avLst/>
          </a:prstGeom>
          <a:ln w="12700">
            <a:miter lim="400000"/>
          </a:ln>
        </p:spPr>
      </p:pic>
      <p:pic>
        <p:nvPicPr>
          <p:cNvPr id="700" name="Screenshot 2026-09-13 at 8.26.35 PM.png" descr="Screenshot 2026-09-13 at 8.26.35 PM.png"/>
          <p:cNvPicPr>
            <a:picLocks noChangeAspect="1"/>
          </p:cNvPicPr>
          <p:nvPr/>
        </p:nvPicPr>
        <p:blipFill>
          <a:blip r:embed="rId8">
            <a:extLst/>
          </a:blip>
          <a:stretch>
            <a:fillRect/>
          </a:stretch>
        </p:blipFill>
        <p:spPr>
          <a:xfrm>
            <a:off x="6256877" y="4295273"/>
            <a:ext cx="2644956" cy="1657347"/>
          </a:xfrm>
          <a:prstGeom prst="rect">
            <a:avLst/>
          </a:prstGeom>
          <a:ln w="12700">
            <a:miter lim="400000"/>
          </a:ln>
        </p:spPr>
      </p:pic>
      <p:pic>
        <p:nvPicPr>
          <p:cNvPr id="701" name="Screenshot 2026-09-13 at 8.26.07 PM.png" descr="Screenshot 2026-09-13 at 8.26.07 PM.png"/>
          <p:cNvPicPr>
            <a:picLocks noChangeAspect="1"/>
          </p:cNvPicPr>
          <p:nvPr/>
        </p:nvPicPr>
        <p:blipFill>
          <a:blip r:embed="rId9">
            <a:extLst/>
          </a:blip>
          <a:stretch>
            <a:fillRect/>
          </a:stretch>
        </p:blipFill>
        <p:spPr>
          <a:xfrm>
            <a:off x="9272015" y="4210621"/>
            <a:ext cx="2672707" cy="1674735"/>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3" name="TextBox 1"/>
          <p:cNvSpPr txBox="1"/>
          <p:nvPr/>
        </p:nvSpPr>
        <p:spPr>
          <a:xfrm>
            <a:off x="548639" y="328167"/>
            <a:ext cx="2651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B4391"/>
                </a:solidFill>
                <a:latin typeface="Aptos"/>
                <a:ea typeface="Aptos"/>
                <a:cs typeface="Aptos"/>
                <a:sym typeface="Aptos"/>
              </a:defRPr>
            </a:lvl1pPr>
          </a:lstStyle>
          <a:p>
            <a:pPr/>
            <a:r>
              <a:t>10  ·  CONCLUSION &amp; FUTURE</a:t>
            </a:r>
          </a:p>
        </p:txBody>
      </p:sp>
      <p:sp>
        <p:nvSpPr>
          <p:cNvPr id="704" name="TextBox 2"/>
          <p:cNvSpPr txBox="1"/>
          <p:nvPr/>
        </p:nvSpPr>
        <p:spPr>
          <a:xfrm>
            <a:off x="548639" y="728471"/>
            <a:ext cx="1042416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500">
                <a:solidFill>
                  <a:srgbClr val="2B2A30"/>
                </a:solidFill>
                <a:latin typeface="Aptos"/>
                <a:ea typeface="Aptos"/>
                <a:cs typeface="Aptos"/>
                <a:sym typeface="Aptos"/>
              </a:defRPr>
            </a:lvl1pPr>
          </a:lstStyle>
          <a:p>
            <a:pPr/>
            <a:r>
              <a:t>Conclusion &amp; Future Enhancement</a:t>
            </a:r>
          </a:p>
        </p:txBody>
      </p:sp>
      <p:sp>
        <p:nvSpPr>
          <p:cNvPr id="705" name="TextBox 3"/>
          <p:cNvSpPr txBox="1"/>
          <p:nvPr/>
        </p:nvSpPr>
        <p:spPr>
          <a:xfrm>
            <a:off x="548639" y="1156462"/>
            <a:ext cx="1042416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100">
                <a:solidFill>
                  <a:srgbClr val="696570"/>
                </a:solidFill>
                <a:latin typeface="Aptos"/>
                <a:ea typeface="Aptos"/>
                <a:cs typeface="Aptos"/>
                <a:sym typeface="Aptos"/>
              </a:defRPr>
            </a:lvl1pPr>
          </a:lstStyle>
          <a:p>
            <a:pPr/>
            <a:r>
              <a:t>Completed work, achieved outcome and planned improvements</a:t>
            </a:r>
          </a:p>
        </p:txBody>
      </p:sp>
      <p:sp>
        <p:nvSpPr>
          <p:cNvPr id="706" name="Rounded Rectangle 4"/>
          <p:cNvSpPr/>
          <p:nvPr/>
        </p:nvSpPr>
        <p:spPr>
          <a:xfrm>
            <a:off x="502919" y="1493188"/>
            <a:ext cx="3886201" cy="5049168"/>
          </a:xfrm>
          <a:prstGeom prst="roundRect">
            <a:avLst>
              <a:gd name="adj" fmla="val 16667"/>
            </a:avLst>
          </a:prstGeom>
          <a:solidFill>
            <a:srgbClr val="FFFFFF"/>
          </a:solidFill>
          <a:ln w="12700">
            <a:solidFill>
              <a:srgbClr val="DAD5E4"/>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defRPr>
            </a:pPr>
          </a:p>
        </p:txBody>
      </p:sp>
      <p:sp>
        <p:nvSpPr>
          <p:cNvPr id="707" name="TextBox 5"/>
          <p:cNvSpPr txBox="1"/>
          <p:nvPr/>
        </p:nvSpPr>
        <p:spPr>
          <a:xfrm>
            <a:off x="800100" y="1632076"/>
            <a:ext cx="329184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5B4391"/>
                </a:solidFill>
                <a:latin typeface="Aptos"/>
                <a:ea typeface="Aptos"/>
                <a:cs typeface="Aptos"/>
                <a:sym typeface="Aptos"/>
              </a:defRPr>
            </a:lvl1pPr>
          </a:lstStyle>
          <a:p>
            <a:pPr/>
            <a:r>
              <a:t>Conclusion</a:t>
            </a:r>
          </a:p>
        </p:txBody>
      </p:sp>
      <p:sp>
        <p:nvSpPr>
          <p:cNvPr id="708" name="Rounded Rectangle 6"/>
          <p:cNvSpPr/>
          <p:nvPr/>
        </p:nvSpPr>
        <p:spPr>
          <a:xfrm>
            <a:off x="726947" y="2122169"/>
            <a:ext cx="3383281" cy="822961"/>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a:solidFill>
                  <a:srgbClr val="FFFFFF"/>
                </a:solidFill>
              </a:defRPr>
            </a:pPr>
          </a:p>
        </p:txBody>
      </p:sp>
      <p:sp>
        <p:nvSpPr>
          <p:cNvPr id="709" name="TextBox 7"/>
          <p:cNvSpPr txBox="1"/>
          <p:nvPr/>
        </p:nvSpPr>
        <p:spPr>
          <a:xfrm>
            <a:off x="960119" y="2383281"/>
            <a:ext cx="1097281"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100">
                <a:solidFill>
                  <a:srgbClr val="746897"/>
                </a:solidFill>
                <a:latin typeface="Aptos"/>
                <a:ea typeface="Aptos"/>
                <a:cs typeface="Aptos"/>
                <a:sym typeface="Aptos"/>
              </a:defRPr>
            </a:lvl1pPr>
          </a:lstStyle>
          <a:p>
            <a:pPr/>
            <a:r>
              <a:t>89.19%</a:t>
            </a:r>
          </a:p>
        </p:txBody>
      </p:sp>
      <p:sp>
        <p:nvSpPr>
          <p:cNvPr id="710" name="TextBox 8"/>
          <p:cNvSpPr txBox="1"/>
          <p:nvPr/>
        </p:nvSpPr>
        <p:spPr>
          <a:xfrm>
            <a:off x="2194560" y="2364231"/>
            <a:ext cx="1691640"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2B2A30"/>
                </a:solidFill>
                <a:latin typeface="Aptos"/>
                <a:ea typeface="Aptos"/>
                <a:cs typeface="Aptos"/>
                <a:sym typeface="Aptos"/>
              </a:defRPr>
            </a:pPr>
            <a:r>
              <a:t>Final test accuracy</a:t>
            </a:r>
          </a:p>
          <a:p>
            <a:pPr>
              <a:defRPr sz="1200">
                <a:solidFill>
                  <a:srgbClr val="2B2A30"/>
                </a:solidFill>
                <a:latin typeface="Aptos"/>
                <a:ea typeface="Aptos"/>
                <a:cs typeface="Aptos"/>
                <a:sym typeface="Aptos"/>
              </a:defRPr>
            </a:pPr>
            <a:r>
              <a:t>509 test images</a:t>
            </a:r>
          </a:p>
        </p:txBody>
      </p:sp>
      <p:sp>
        <p:nvSpPr>
          <p:cNvPr id="711" name="TextBox 9"/>
          <p:cNvSpPr txBox="1"/>
          <p:nvPr/>
        </p:nvSpPr>
        <p:spPr>
          <a:xfrm>
            <a:off x="795528" y="3286252"/>
            <a:ext cx="329184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Delivered in this interim</a:t>
            </a:r>
          </a:p>
        </p:txBody>
      </p:sp>
      <p:sp>
        <p:nvSpPr>
          <p:cNvPr id="712" name="TextBox 10"/>
          <p:cNvSpPr txBox="1"/>
          <p:nvPr/>
        </p:nvSpPr>
        <p:spPr>
          <a:xfrm>
            <a:off x="795527" y="3713987"/>
            <a:ext cx="3246121" cy="1158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2B2A30"/>
                </a:solidFill>
                <a:latin typeface="Aptos"/>
                <a:ea typeface="Aptos"/>
                <a:cs typeface="Aptos"/>
                <a:sym typeface="Aptos"/>
              </a:defRPr>
            </a:pPr>
            <a:r>
              <a:t>• Digital wardrobe management</a:t>
            </a:r>
          </a:p>
          <a:p>
            <a:pPr>
              <a:defRPr sz="1200">
                <a:solidFill>
                  <a:srgbClr val="2B2A30"/>
                </a:solidFill>
                <a:latin typeface="Aptos"/>
                <a:ea typeface="Aptos"/>
                <a:cs typeface="Aptos"/>
                <a:sym typeface="Aptos"/>
              </a:defRPr>
            </a:pPr>
            <a:r>
              <a:t>• AI clothing classification + color detection</a:t>
            </a:r>
          </a:p>
          <a:p>
            <a:pPr>
              <a:defRPr sz="1200">
                <a:solidFill>
                  <a:srgbClr val="2B2A30"/>
                </a:solidFill>
                <a:latin typeface="Aptos"/>
                <a:ea typeface="Aptos"/>
                <a:cs typeface="Aptos"/>
                <a:sym typeface="Aptos"/>
              </a:defRPr>
            </a:pPr>
            <a:r>
              <a:t>• Weighted outfit recommendation</a:t>
            </a:r>
          </a:p>
          <a:p>
            <a:pPr>
              <a:defRPr sz="1200">
                <a:solidFill>
                  <a:srgbClr val="2B2A30"/>
                </a:solidFill>
                <a:latin typeface="Aptos"/>
                <a:ea typeface="Aptos"/>
                <a:cs typeface="Aptos"/>
                <a:sym typeface="Aptos"/>
              </a:defRPr>
            </a:pPr>
            <a:r>
              <a:t>• Feedback-based preference learning</a:t>
            </a:r>
          </a:p>
          <a:p>
            <a:pPr>
              <a:defRPr sz="1200">
                <a:solidFill>
                  <a:srgbClr val="2B2A30"/>
                </a:solidFill>
                <a:latin typeface="Aptos"/>
                <a:ea typeface="Aptos"/>
                <a:cs typeface="Aptos"/>
                <a:sym typeface="Aptos"/>
              </a:defRPr>
            </a:pPr>
            <a:r>
              <a:t>• Weekly planner + laundry awareness</a:t>
            </a:r>
          </a:p>
          <a:p>
            <a:pPr>
              <a:defRPr sz="1200">
                <a:solidFill>
                  <a:srgbClr val="2B2A30"/>
                </a:solidFill>
                <a:latin typeface="Aptos"/>
                <a:ea typeface="Aptos"/>
                <a:cs typeface="Aptos"/>
                <a:sym typeface="Aptos"/>
              </a:defRPr>
            </a:pPr>
            <a:r>
              <a:t>• Wear tracking + wardrobe analytics</a:t>
            </a:r>
          </a:p>
        </p:txBody>
      </p:sp>
      <p:sp>
        <p:nvSpPr>
          <p:cNvPr id="713" name="TextBox 11"/>
          <p:cNvSpPr txBox="1"/>
          <p:nvPr/>
        </p:nvSpPr>
        <p:spPr>
          <a:xfrm>
            <a:off x="795528" y="5169915"/>
            <a:ext cx="329184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Achieved Outcome</a:t>
            </a:r>
          </a:p>
        </p:txBody>
      </p:sp>
      <p:sp>
        <p:nvSpPr>
          <p:cNvPr id="714" name="TextBox 12"/>
          <p:cNvSpPr txBox="1"/>
          <p:nvPr/>
        </p:nvSpPr>
        <p:spPr>
          <a:xfrm>
            <a:off x="795527" y="5512307"/>
            <a:ext cx="3246121" cy="624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B2A30"/>
                </a:solidFill>
                <a:latin typeface="Aptos"/>
                <a:ea typeface="Aptos"/>
                <a:cs typeface="Aptos"/>
                <a:sym typeface="Aptos"/>
              </a:defRPr>
            </a:lvl1pPr>
          </a:lstStyle>
          <a:p>
            <a:pPr/>
            <a:r>
              <a:t>A working smart-wardrobe system with measurable AI performance and transparent recommendation logic.</a:t>
            </a:r>
          </a:p>
        </p:txBody>
      </p:sp>
      <p:sp>
        <p:nvSpPr>
          <p:cNvPr id="715" name="Rounded Rectangle 13"/>
          <p:cNvSpPr/>
          <p:nvPr/>
        </p:nvSpPr>
        <p:spPr>
          <a:xfrm>
            <a:off x="4645152" y="1493188"/>
            <a:ext cx="7040881" cy="5148913"/>
          </a:xfrm>
          <a:prstGeom prst="roundRect">
            <a:avLst>
              <a:gd name="adj" fmla="val 14652"/>
            </a:avLst>
          </a:prstGeom>
          <a:solidFill>
            <a:srgbClr val="FFFFFF"/>
          </a:solidFill>
          <a:ln w="12700">
            <a:solidFill>
              <a:srgbClr val="DAD5E4"/>
            </a:solidFill>
          </a:ln>
          <a:effectLst>
            <a:outerShdw sx="100000" sy="100000" kx="0" ky="0" algn="b" rotWithShape="0" blurRad="190500" dist="12700" dir="5400000">
              <a:srgbClr val="000000"/>
            </a:outerShdw>
          </a:effectLst>
        </p:spPr>
        <p:txBody>
          <a:bodyPr lIns="45718" tIns="45718" rIns="45718" bIns="45718" anchor="ctr"/>
          <a:lstStyle/>
          <a:p>
            <a:pPr algn="ctr">
              <a:defRPr>
                <a:solidFill>
                  <a:srgbClr val="FFFFFF"/>
                </a:solidFill>
              </a:defRPr>
            </a:pPr>
          </a:p>
        </p:txBody>
      </p:sp>
      <p:sp>
        <p:nvSpPr>
          <p:cNvPr id="716" name="TextBox 14"/>
          <p:cNvSpPr txBox="1"/>
          <p:nvPr/>
        </p:nvSpPr>
        <p:spPr>
          <a:xfrm>
            <a:off x="4965191" y="1682495"/>
            <a:ext cx="621792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5B4391"/>
                </a:solidFill>
                <a:latin typeface="Aptos"/>
                <a:ea typeface="Aptos"/>
                <a:cs typeface="Aptos"/>
                <a:sym typeface="Aptos"/>
              </a:defRPr>
            </a:lvl1pPr>
          </a:lstStyle>
          <a:p>
            <a:pPr/>
            <a:r>
              <a:t>Future Enhancements</a:t>
            </a:r>
          </a:p>
        </p:txBody>
      </p:sp>
      <p:sp>
        <p:nvSpPr>
          <p:cNvPr id="717" name="TextBox 15"/>
          <p:cNvSpPr txBox="1"/>
          <p:nvPr/>
        </p:nvSpPr>
        <p:spPr>
          <a:xfrm>
            <a:off x="4965191" y="2137663"/>
            <a:ext cx="621792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696570"/>
                </a:solidFill>
                <a:latin typeface="Aptos"/>
                <a:ea typeface="Aptos"/>
                <a:cs typeface="Aptos"/>
                <a:sym typeface="Aptos"/>
              </a:defRPr>
            </a:lvl1pPr>
          </a:lstStyle>
          <a:p>
            <a:pPr/>
            <a:r>
              <a:t>Possible improvements for the next version</a:t>
            </a:r>
          </a:p>
        </p:txBody>
      </p:sp>
      <p:sp>
        <p:nvSpPr>
          <p:cNvPr id="718" name="Oval 16"/>
          <p:cNvSpPr/>
          <p:nvPr/>
        </p:nvSpPr>
        <p:spPr>
          <a:xfrm>
            <a:off x="4919471" y="2542032"/>
            <a:ext cx="347473" cy="347473"/>
          </a:xfrm>
          <a:prstGeom prst="ellipse">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719" name="TextBox 17"/>
          <p:cNvSpPr txBox="1"/>
          <p:nvPr/>
        </p:nvSpPr>
        <p:spPr>
          <a:xfrm>
            <a:off x="4965191" y="2578353"/>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01</a:t>
            </a:r>
          </a:p>
        </p:txBody>
      </p:sp>
      <p:sp>
        <p:nvSpPr>
          <p:cNvPr id="720" name="TextBox 18"/>
          <p:cNvSpPr txBox="1"/>
          <p:nvPr/>
        </p:nvSpPr>
        <p:spPr>
          <a:xfrm>
            <a:off x="5440679" y="2411984"/>
            <a:ext cx="242316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Advanced recommendation models</a:t>
            </a:r>
          </a:p>
        </p:txBody>
      </p:sp>
      <p:sp>
        <p:nvSpPr>
          <p:cNvPr id="721" name="TextBox 19"/>
          <p:cNvSpPr txBox="1"/>
          <p:nvPr/>
        </p:nvSpPr>
        <p:spPr>
          <a:xfrm>
            <a:off x="5440679" y="2882709"/>
            <a:ext cx="2423161" cy="396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Learned compatibility models and deeper personalization.</a:t>
            </a:r>
          </a:p>
        </p:txBody>
      </p:sp>
      <p:sp>
        <p:nvSpPr>
          <p:cNvPr id="722" name="Oval 20"/>
          <p:cNvSpPr/>
          <p:nvPr/>
        </p:nvSpPr>
        <p:spPr>
          <a:xfrm>
            <a:off x="8165592" y="2542032"/>
            <a:ext cx="347473" cy="347473"/>
          </a:xfrm>
          <a:prstGeom prst="ellipse">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723" name="TextBox 21"/>
          <p:cNvSpPr txBox="1"/>
          <p:nvPr/>
        </p:nvSpPr>
        <p:spPr>
          <a:xfrm>
            <a:off x="8211311" y="2578353"/>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02</a:t>
            </a:r>
          </a:p>
        </p:txBody>
      </p:sp>
      <p:sp>
        <p:nvSpPr>
          <p:cNvPr id="724" name="TextBox 22"/>
          <p:cNvSpPr txBox="1"/>
          <p:nvPr/>
        </p:nvSpPr>
        <p:spPr>
          <a:xfrm>
            <a:off x="8686800" y="2513584"/>
            <a:ext cx="2423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Dataset expansion</a:t>
            </a:r>
          </a:p>
        </p:txBody>
      </p:sp>
      <p:sp>
        <p:nvSpPr>
          <p:cNvPr id="725" name="TextBox 23"/>
          <p:cNvSpPr txBox="1"/>
          <p:nvPr/>
        </p:nvSpPr>
        <p:spPr>
          <a:xfrm>
            <a:off x="8686800" y="2823970"/>
            <a:ext cx="24231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Larger, diverse and better-organized training data.</a:t>
            </a:r>
          </a:p>
        </p:txBody>
      </p:sp>
      <p:sp>
        <p:nvSpPr>
          <p:cNvPr id="726" name="Oval 24"/>
          <p:cNvSpPr/>
          <p:nvPr/>
        </p:nvSpPr>
        <p:spPr>
          <a:xfrm>
            <a:off x="4919471" y="3328415"/>
            <a:ext cx="347473" cy="347473"/>
          </a:xfrm>
          <a:prstGeom prst="ellipse">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727" name="TextBox 25"/>
          <p:cNvSpPr txBox="1"/>
          <p:nvPr/>
        </p:nvSpPr>
        <p:spPr>
          <a:xfrm>
            <a:off x="4965191" y="3364736"/>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03</a:t>
            </a:r>
          </a:p>
        </p:txBody>
      </p:sp>
      <p:sp>
        <p:nvSpPr>
          <p:cNvPr id="728" name="TextBox 26"/>
          <p:cNvSpPr txBox="1"/>
          <p:nvPr/>
        </p:nvSpPr>
        <p:spPr>
          <a:xfrm>
            <a:off x="5440679" y="3299966"/>
            <a:ext cx="2423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Full wear-event history</a:t>
            </a:r>
          </a:p>
        </p:txBody>
      </p:sp>
      <p:sp>
        <p:nvSpPr>
          <p:cNvPr id="729" name="TextBox 27"/>
          <p:cNvSpPr txBox="1"/>
          <p:nvPr/>
        </p:nvSpPr>
        <p:spPr>
          <a:xfrm>
            <a:off x="5440679" y="3610355"/>
            <a:ext cx="24231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Store complete wear events and usage history.</a:t>
            </a:r>
          </a:p>
        </p:txBody>
      </p:sp>
      <p:sp>
        <p:nvSpPr>
          <p:cNvPr id="730" name="Oval 28"/>
          <p:cNvSpPr/>
          <p:nvPr/>
        </p:nvSpPr>
        <p:spPr>
          <a:xfrm>
            <a:off x="8165592" y="3328415"/>
            <a:ext cx="347473" cy="347473"/>
          </a:xfrm>
          <a:prstGeom prst="ellipse">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731" name="TextBox 29"/>
          <p:cNvSpPr txBox="1"/>
          <p:nvPr/>
        </p:nvSpPr>
        <p:spPr>
          <a:xfrm>
            <a:off x="8211311" y="3364736"/>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04</a:t>
            </a:r>
          </a:p>
        </p:txBody>
      </p:sp>
      <p:sp>
        <p:nvSpPr>
          <p:cNvPr id="732" name="TextBox 30"/>
          <p:cNvSpPr txBox="1"/>
          <p:nvPr/>
        </p:nvSpPr>
        <p:spPr>
          <a:xfrm>
            <a:off x="8686800" y="3299966"/>
            <a:ext cx="2423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Robust personalization</a:t>
            </a:r>
          </a:p>
        </p:txBody>
      </p:sp>
      <p:sp>
        <p:nvSpPr>
          <p:cNvPr id="733" name="TextBox 31"/>
          <p:cNvSpPr txBox="1"/>
          <p:nvPr/>
        </p:nvSpPr>
        <p:spPr>
          <a:xfrm>
            <a:off x="8686800" y="3610355"/>
            <a:ext cx="24231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Make preference controls fully functional and reliable.</a:t>
            </a:r>
          </a:p>
        </p:txBody>
      </p:sp>
      <p:sp>
        <p:nvSpPr>
          <p:cNvPr id="734" name="Oval 32"/>
          <p:cNvSpPr/>
          <p:nvPr/>
        </p:nvSpPr>
        <p:spPr>
          <a:xfrm>
            <a:off x="4919471" y="4114800"/>
            <a:ext cx="347473" cy="347473"/>
          </a:xfrm>
          <a:prstGeom prst="ellipse">
            <a:avLst/>
          </a:prstGeom>
          <a:solidFill>
            <a:srgbClr val="5B4391"/>
          </a:solidFill>
          <a:ln w="12700">
            <a:miter lim="400000"/>
          </a:ln>
        </p:spPr>
        <p:txBody>
          <a:bodyPr lIns="45718" tIns="45718" rIns="45718" bIns="45718" anchor="ctr"/>
          <a:lstStyle/>
          <a:p>
            <a:pPr algn="ctr">
              <a:defRPr sz="2100">
                <a:solidFill>
                  <a:srgbClr val="FFFFFF"/>
                </a:solidFill>
              </a:defRPr>
            </a:pPr>
          </a:p>
        </p:txBody>
      </p:sp>
      <p:sp>
        <p:nvSpPr>
          <p:cNvPr id="735" name="TextBox 33"/>
          <p:cNvSpPr txBox="1"/>
          <p:nvPr/>
        </p:nvSpPr>
        <p:spPr>
          <a:xfrm>
            <a:off x="4965191" y="4151121"/>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05</a:t>
            </a:r>
          </a:p>
        </p:txBody>
      </p:sp>
      <p:sp>
        <p:nvSpPr>
          <p:cNvPr id="736" name="TextBox 34"/>
          <p:cNvSpPr txBox="1"/>
          <p:nvPr/>
        </p:nvSpPr>
        <p:spPr>
          <a:xfrm>
            <a:off x="5440679" y="4159122"/>
            <a:ext cx="2423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Classifier calibration</a:t>
            </a:r>
          </a:p>
        </p:txBody>
      </p:sp>
      <p:sp>
        <p:nvSpPr>
          <p:cNvPr id="737" name="TextBox 35"/>
          <p:cNvSpPr txBox="1"/>
          <p:nvPr/>
        </p:nvSpPr>
        <p:spPr>
          <a:xfrm>
            <a:off x="5440679" y="4525136"/>
            <a:ext cx="24231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Improve confidence calibration and evaluation reliability.</a:t>
            </a:r>
          </a:p>
        </p:txBody>
      </p:sp>
      <p:sp>
        <p:nvSpPr>
          <p:cNvPr id="738" name="Oval 36"/>
          <p:cNvSpPr/>
          <p:nvPr/>
        </p:nvSpPr>
        <p:spPr>
          <a:xfrm>
            <a:off x="8165592" y="4114800"/>
            <a:ext cx="347473" cy="347473"/>
          </a:xfrm>
          <a:prstGeom prst="ellipse">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739" name="TextBox 37"/>
          <p:cNvSpPr txBox="1"/>
          <p:nvPr/>
        </p:nvSpPr>
        <p:spPr>
          <a:xfrm>
            <a:off x="8211311" y="4151121"/>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06</a:t>
            </a:r>
          </a:p>
        </p:txBody>
      </p:sp>
      <p:sp>
        <p:nvSpPr>
          <p:cNvPr id="740" name="TextBox 38"/>
          <p:cNvSpPr txBox="1"/>
          <p:nvPr/>
        </p:nvSpPr>
        <p:spPr>
          <a:xfrm>
            <a:off x="8686800" y="4086351"/>
            <a:ext cx="2423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Notifications</a:t>
            </a:r>
          </a:p>
        </p:txBody>
      </p:sp>
      <p:sp>
        <p:nvSpPr>
          <p:cNvPr id="741" name="TextBox 39"/>
          <p:cNvSpPr txBox="1"/>
          <p:nvPr/>
        </p:nvSpPr>
        <p:spPr>
          <a:xfrm>
            <a:off x="8686800" y="4396740"/>
            <a:ext cx="24231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Laundry reminders and outfit/planner notifications.</a:t>
            </a:r>
          </a:p>
        </p:txBody>
      </p:sp>
      <p:sp>
        <p:nvSpPr>
          <p:cNvPr id="742" name="Oval 40"/>
          <p:cNvSpPr/>
          <p:nvPr/>
        </p:nvSpPr>
        <p:spPr>
          <a:xfrm>
            <a:off x="4918075" y="5066410"/>
            <a:ext cx="347473" cy="347473"/>
          </a:xfrm>
          <a:prstGeom prst="ellipse">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743" name="TextBox 41"/>
          <p:cNvSpPr txBox="1"/>
          <p:nvPr/>
        </p:nvSpPr>
        <p:spPr>
          <a:xfrm>
            <a:off x="4965191" y="5125212"/>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07</a:t>
            </a:r>
          </a:p>
        </p:txBody>
      </p:sp>
      <p:sp>
        <p:nvSpPr>
          <p:cNvPr id="744" name="TextBox 42"/>
          <p:cNvSpPr txBox="1"/>
          <p:nvPr/>
        </p:nvSpPr>
        <p:spPr>
          <a:xfrm>
            <a:off x="5440679" y="5092826"/>
            <a:ext cx="2423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Mobile application</a:t>
            </a:r>
          </a:p>
        </p:txBody>
      </p:sp>
      <p:sp>
        <p:nvSpPr>
          <p:cNvPr id="745" name="TextBox 43"/>
          <p:cNvSpPr txBox="1"/>
          <p:nvPr/>
        </p:nvSpPr>
        <p:spPr>
          <a:xfrm>
            <a:off x="5440679" y="5435219"/>
            <a:ext cx="24231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Extend the system to native mobile access.</a:t>
            </a:r>
          </a:p>
        </p:txBody>
      </p:sp>
      <p:sp>
        <p:nvSpPr>
          <p:cNvPr id="746" name="Oval 44"/>
          <p:cNvSpPr/>
          <p:nvPr/>
        </p:nvSpPr>
        <p:spPr>
          <a:xfrm>
            <a:off x="8165592" y="4901183"/>
            <a:ext cx="347473" cy="347473"/>
          </a:xfrm>
          <a:prstGeom prst="ellipse">
            <a:avLst/>
          </a:prstGeom>
          <a:solidFill>
            <a:srgbClr val="5B4391"/>
          </a:solidFill>
          <a:ln w="12700">
            <a:miter lim="400000"/>
          </a:ln>
        </p:spPr>
        <p:txBody>
          <a:bodyPr lIns="45718" tIns="45718" rIns="45718" bIns="45718" anchor="ctr"/>
          <a:lstStyle/>
          <a:p>
            <a:pPr algn="ctr">
              <a:defRPr>
                <a:solidFill>
                  <a:srgbClr val="FFFFFF"/>
                </a:solidFill>
              </a:defRPr>
            </a:pPr>
          </a:p>
        </p:txBody>
      </p:sp>
      <p:sp>
        <p:nvSpPr>
          <p:cNvPr id="747" name="TextBox 45"/>
          <p:cNvSpPr txBox="1"/>
          <p:nvPr/>
        </p:nvSpPr>
        <p:spPr>
          <a:xfrm>
            <a:off x="8211311" y="4937504"/>
            <a:ext cx="256033"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Aptos"/>
                <a:ea typeface="Aptos"/>
                <a:cs typeface="Aptos"/>
                <a:sym typeface="Aptos"/>
              </a:defRPr>
            </a:lvl1pPr>
          </a:lstStyle>
          <a:p>
            <a:pPr/>
            <a:r>
              <a:t>08</a:t>
            </a:r>
          </a:p>
        </p:txBody>
      </p:sp>
      <p:sp>
        <p:nvSpPr>
          <p:cNvPr id="748" name="TextBox 46"/>
          <p:cNvSpPr txBox="1"/>
          <p:nvPr/>
        </p:nvSpPr>
        <p:spPr>
          <a:xfrm>
            <a:off x="8686800" y="4872735"/>
            <a:ext cx="24231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5B4391"/>
                </a:solidFill>
                <a:latin typeface="Aptos"/>
                <a:ea typeface="Aptos"/>
                <a:cs typeface="Aptos"/>
                <a:sym typeface="Aptos"/>
              </a:defRPr>
            </a:lvl1pPr>
          </a:lstStyle>
          <a:p>
            <a:pPr/>
            <a:r>
              <a:t>Production deployment</a:t>
            </a:r>
          </a:p>
        </p:txBody>
      </p:sp>
      <p:sp>
        <p:nvSpPr>
          <p:cNvPr id="749" name="TextBox 47"/>
          <p:cNvSpPr txBox="1"/>
          <p:nvPr/>
        </p:nvSpPr>
        <p:spPr>
          <a:xfrm>
            <a:off x="8686800" y="5290312"/>
            <a:ext cx="24231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2B2A30"/>
                </a:solidFill>
                <a:latin typeface="Aptos"/>
                <a:ea typeface="Aptos"/>
                <a:cs typeface="Aptos"/>
                <a:sym typeface="Aptos"/>
              </a:defRPr>
            </a:lvl1pPr>
          </a:lstStyle>
          <a:p>
            <a:pPr/>
            <a:r>
              <a:t>Deployment, scalability and stronger security/validation.</a:t>
            </a:r>
          </a:p>
        </p:txBody>
      </p:sp>
      <p:sp>
        <p:nvSpPr>
          <p:cNvPr id="750" name="Rounded Rectangle 48"/>
          <p:cNvSpPr/>
          <p:nvPr/>
        </p:nvSpPr>
        <p:spPr>
          <a:xfrm>
            <a:off x="4924425" y="6105652"/>
            <a:ext cx="6309360" cy="347473"/>
          </a:xfrm>
          <a:prstGeom prst="roundRect">
            <a:avLst>
              <a:gd name="adj" fmla="val 16667"/>
            </a:avLst>
          </a:prstGeom>
          <a:solidFill>
            <a:srgbClr val="EFE9F9"/>
          </a:solidFill>
          <a:ln w="12700">
            <a:solidFill>
              <a:srgbClr val="EFE9F9"/>
            </a:solidFill>
          </a:ln>
        </p:spPr>
        <p:txBody>
          <a:bodyPr lIns="45718" tIns="45718" rIns="45718" bIns="45718" anchor="ctr"/>
          <a:lstStyle/>
          <a:p>
            <a:pPr algn="ctr">
              <a:defRPr>
                <a:solidFill>
                  <a:srgbClr val="FFFFFF"/>
                </a:solidFill>
              </a:defRPr>
            </a:pPr>
          </a:p>
        </p:txBody>
      </p:sp>
      <p:sp>
        <p:nvSpPr>
          <p:cNvPr id="751" name="TextBox 49"/>
          <p:cNvSpPr txBox="1"/>
          <p:nvPr/>
        </p:nvSpPr>
        <p:spPr>
          <a:xfrm>
            <a:off x="5093207" y="6170168"/>
            <a:ext cx="5961889"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5B4391"/>
                </a:solidFill>
                <a:latin typeface="Aptos"/>
                <a:ea typeface="Aptos"/>
                <a:cs typeface="Aptos"/>
                <a:sym typeface="Aptos"/>
              </a:defRPr>
            </a:lvl1pPr>
          </a:lstStyle>
          <a:p>
            <a:pPr/>
            <a:r>
              <a:t>Priority: stronger personalization • better evaluation • complete tracking • mobile &amp; deployment</a:t>
            </a:r>
          </a:p>
        </p:txBody>
      </p:sp>
      <p:sp>
        <p:nvSpPr>
          <p:cNvPr id="752" name="TextBox 52"/>
          <p:cNvSpPr txBox="1"/>
          <p:nvPr/>
        </p:nvSpPr>
        <p:spPr>
          <a:xfrm>
            <a:off x="548639" y="6635241"/>
            <a:ext cx="6309361" cy="180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600">
                <a:solidFill>
                  <a:srgbClr val="696570"/>
                </a:solidFill>
                <a:latin typeface="Aptos"/>
                <a:ea typeface="Aptos"/>
                <a:cs typeface="Aptos"/>
                <a:sym typeface="Aptos"/>
              </a:defRPr>
            </a:lvl1pPr>
          </a:lstStyle>
          <a:p>
            <a:pPr/>
            <a:r>
              <a:t>WEARLYTICS  |  S3 MCA MINI PROJECT — SECOND INTERIM PRESENTATION</a:t>
            </a:r>
          </a:p>
        </p:txBody>
      </p:sp>
      <p:sp>
        <p:nvSpPr>
          <p:cNvPr id="753" name="TextBox 53"/>
          <p:cNvSpPr txBox="1"/>
          <p:nvPr/>
        </p:nvSpPr>
        <p:spPr>
          <a:xfrm>
            <a:off x="10972800" y="6635241"/>
            <a:ext cx="548641" cy="180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600">
                <a:solidFill>
                  <a:srgbClr val="696570"/>
                </a:solidFill>
                <a:latin typeface="Aptos"/>
                <a:ea typeface="Aptos"/>
                <a:cs typeface="Aptos"/>
                <a:sym typeface="Aptos"/>
              </a:defRPr>
            </a:lvl1pPr>
          </a:lstStyle>
          <a:p>
            <a:pPr/>
            <a:r>
              <a:t>14 / 15</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755" name="TextBox 1"/>
          <p:cNvSpPr txBox="1"/>
          <p:nvPr/>
        </p:nvSpPr>
        <p:spPr>
          <a:xfrm>
            <a:off x="603504" y="320040"/>
            <a:ext cx="2724912"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2200">
                <a:solidFill>
                  <a:srgbClr val="684E91"/>
                </a:solidFill>
                <a:latin typeface="Aptos"/>
                <a:ea typeface="Aptos"/>
                <a:cs typeface="Aptos"/>
                <a:sym typeface="Aptos"/>
              </a:defRPr>
            </a:lvl1pPr>
          </a:lstStyle>
          <a:p>
            <a:pPr/>
            <a:r>
              <a:t>11 · REFERENCES</a:t>
            </a:r>
          </a:p>
        </p:txBody>
      </p:sp>
      <p:sp>
        <p:nvSpPr>
          <p:cNvPr id="756" name="TextBox 3"/>
          <p:cNvSpPr txBox="1"/>
          <p:nvPr/>
        </p:nvSpPr>
        <p:spPr>
          <a:xfrm>
            <a:off x="589056" y="878108"/>
            <a:ext cx="8668513"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500">
                <a:solidFill>
                  <a:srgbClr val="686374"/>
                </a:solidFill>
                <a:latin typeface="Aptos"/>
                <a:ea typeface="Aptos"/>
                <a:cs typeface="Aptos"/>
                <a:sym typeface="Aptos"/>
              </a:defRPr>
            </a:lvl1pPr>
          </a:lstStyle>
          <a:p>
            <a:pPr/>
            <a:r>
              <a:t>Key literature papers, dataset source and official technical documentation</a:t>
            </a:r>
          </a:p>
        </p:txBody>
      </p:sp>
      <p:sp>
        <p:nvSpPr>
          <p:cNvPr id="757" name="TextBox 5"/>
          <p:cNvSpPr txBox="1"/>
          <p:nvPr/>
        </p:nvSpPr>
        <p:spPr>
          <a:xfrm>
            <a:off x="198788" y="1589816"/>
            <a:ext cx="2724913"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500">
                <a:solidFill>
                  <a:srgbClr val="684E91"/>
                </a:solidFill>
                <a:latin typeface="Aptos"/>
                <a:ea typeface="Aptos"/>
                <a:cs typeface="Aptos"/>
                <a:sym typeface="Aptos"/>
              </a:defRPr>
            </a:lvl1pPr>
          </a:lstStyle>
          <a:p>
            <a:pPr/>
            <a:r>
              <a:t>RESEARCH PAPERS</a:t>
            </a:r>
          </a:p>
        </p:txBody>
      </p:sp>
      <p:sp>
        <p:nvSpPr>
          <p:cNvPr id="758" name="TextBox 9"/>
          <p:cNvSpPr txBox="1"/>
          <p:nvPr/>
        </p:nvSpPr>
        <p:spPr>
          <a:xfrm>
            <a:off x="187632" y="2150609"/>
            <a:ext cx="365761"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01</a:t>
            </a:r>
          </a:p>
        </p:txBody>
      </p:sp>
      <p:sp>
        <p:nvSpPr>
          <p:cNvPr id="759" name="TextBox 10"/>
          <p:cNvSpPr txBox="1"/>
          <p:nvPr/>
        </p:nvSpPr>
        <p:spPr>
          <a:xfrm>
            <a:off x="665497" y="2122073"/>
            <a:ext cx="6336793"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Saed, S. &amp; Teimourpour, B. (2026)</a:t>
            </a:r>
          </a:p>
        </p:txBody>
      </p:sp>
      <p:sp>
        <p:nvSpPr>
          <p:cNvPr id="760" name="TextBox 15"/>
          <p:cNvSpPr txBox="1"/>
          <p:nvPr/>
        </p:nvSpPr>
        <p:spPr>
          <a:xfrm>
            <a:off x="187632" y="3069874"/>
            <a:ext cx="365761"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02</a:t>
            </a:r>
          </a:p>
        </p:txBody>
      </p:sp>
      <p:sp>
        <p:nvSpPr>
          <p:cNvPr id="761" name="TextBox 16"/>
          <p:cNvSpPr txBox="1"/>
          <p:nvPr/>
        </p:nvSpPr>
        <p:spPr>
          <a:xfrm>
            <a:off x="665497" y="3063905"/>
            <a:ext cx="6336793"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Balloni, E., Pietrini, R., Frontoni, E., Mancini, A. &amp; Paolanti, M. (2025)</a:t>
            </a:r>
          </a:p>
        </p:txBody>
      </p:sp>
      <p:sp>
        <p:nvSpPr>
          <p:cNvPr id="762" name="TextBox 21"/>
          <p:cNvSpPr txBox="1"/>
          <p:nvPr/>
        </p:nvSpPr>
        <p:spPr>
          <a:xfrm>
            <a:off x="187632" y="4017203"/>
            <a:ext cx="365761"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03</a:t>
            </a:r>
          </a:p>
        </p:txBody>
      </p:sp>
      <p:sp>
        <p:nvSpPr>
          <p:cNvPr id="763" name="TextBox 22"/>
          <p:cNvSpPr txBox="1"/>
          <p:nvPr/>
        </p:nvSpPr>
        <p:spPr>
          <a:xfrm>
            <a:off x="665497" y="4001800"/>
            <a:ext cx="6336793"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Chang, C.-L., Chen, Y.-L. &amp; Jiang, D.-X. (2025)</a:t>
            </a:r>
          </a:p>
        </p:txBody>
      </p:sp>
      <p:sp>
        <p:nvSpPr>
          <p:cNvPr id="764" name="TextBox 27"/>
          <p:cNvSpPr txBox="1"/>
          <p:nvPr/>
        </p:nvSpPr>
        <p:spPr>
          <a:xfrm>
            <a:off x="187632" y="4950500"/>
            <a:ext cx="365761"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04</a:t>
            </a:r>
          </a:p>
        </p:txBody>
      </p:sp>
      <p:sp>
        <p:nvSpPr>
          <p:cNvPr id="765" name="TextBox 28"/>
          <p:cNvSpPr txBox="1"/>
          <p:nvPr/>
        </p:nvSpPr>
        <p:spPr>
          <a:xfrm>
            <a:off x="665497" y="4940584"/>
            <a:ext cx="6336793" cy="468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Suvarna, B. &amp; Balakrishna, S. (2024)</a:t>
            </a:r>
          </a:p>
        </p:txBody>
      </p:sp>
      <p:sp>
        <p:nvSpPr>
          <p:cNvPr id="766" name="TextBox 32"/>
          <p:cNvSpPr txBox="1"/>
          <p:nvPr/>
        </p:nvSpPr>
        <p:spPr>
          <a:xfrm>
            <a:off x="187632" y="5883797"/>
            <a:ext cx="365761"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ctr" defTabSz="457200">
              <a:defRPr b="1" sz="1400">
                <a:solidFill>
                  <a:srgbClr val="684E91"/>
                </a:solidFill>
                <a:latin typeface="Aptos"/>
                <a:ea typeface="Aptos"/>
                <a:cs typeface="Aptos"/>
                <a:sym typeface="Aptos"/>
              </a:defRPr>
            </a:lvl1pPr>
          </a:lstStyle>
          <a:p>
            <a:pPr/>
            <a:r>
              <a:t>05</a:t>
            </a:r>
          </a:p>
        </p:txBody>
      </p:sp>
      <p:sp>
        <p:nvSpPr>
          <p:cNvPr id="767" name="TextBox 33"/>
          <p:cNvSpPr txBox="1"/>
          <p:nvPr/>
        </p:nvSpPr>
        <p:spPr>
          <a:xfrm>
            <a:off x="665497" y="5883797"/>
            <a:ext cx="6336793"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Liu, J., Hou, L., Yu, X., Song, X. &amp; Ren, Z. (2024)</a:t>
            </a:r>
          </a:p>
        </p:txBody>
      </p:sp>
      <p:sp>
        <p:nvSpPr>
          <p:cNvPr id="768" name="Rounded Rectangle 35"/>
          <p:cNvSpPr/>
          <p:nvPr/>
        </p:nvSpPr>
        <p:spPr>
          <a:xfrm>
            <a:off x="8654064" y="1585752"/>
            <a:ext cx="3320508" cy="2148841"/>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769" name="TextBox 36"/>
          <p:cNvSpPr txBox="1"/>
          <p:nvPr/>
        </p:nvSpPr>
        <p:spPr>
          <a:xfrm>
            <a:off x="8919239" y="1832640"/>
            <a:ext cx="2267713"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684E91"/>
                </a:solidFill>
                <a:latin typeface="Aptos"/>
                <a:ea typeface="Aptos"/>
                <a:cs typeface="Aptos"/>
                <a:sym typeface="Aptos"/>
              </a:defRPr>
            </a:lvl1pPr>
          </a:lstStyle>
          <a:p>
            <a:pPr/>
            <a:r>
              <a:t>DATASET</a:t>
            </a:r>
          </a:p>
        </p:txBody>
      </p:sp>
      <p:sp>
        <p:nvSpPr>
          <p:cNvPr id="770" name="TextBox 37"/>
          <p:cNvSpPr txBox="1"/>
          <p:nvPr/>
        </p:nvSpPr>
        <p:spPr>
          <a:xfrm>
            <a:off x="8919239" y="2253264"/>
            <a:ext cx="3018306" cy="468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2D2A37"/>
                </a:solidFill>
                <a:latin typeface="Aptos"/>
                <a:ea typeface="Aptos"/>
                <a:cs typeface="Aptos"/>
                <a:sym typeface="Aptos"/>
              </a:defRPr>
            </a:lvl1pPr>
          </a:lstStyle>
          <a:p>
            <a:pPr/>
            <a:r>
              <a:t>Alexey Grigorev — Clothing Dataset (Full)</a:t>
            </a:r>
          </a:p>
        </p:txBody>
      </p:sp>
      <p:sp>
        <p:nvSpPr>
          <p:cNvPr id="771" name="TextBox 38"/>
          <p:cNvSpPr txBox="1"/>
          <p:nvPr/>
        </p:nvSpPr>
        <p:spPr>
          <a:xfrm>
            <a:off x="8919239" y="2774472"/>
            <a:ext cx="234086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686374"/>
                </a:solidFill>
                <a:latin typeface="Aptos"/>
                <a:ea typeface="Aptos"/>
                <a:cs typeface="Aptos"/>
                <a:sym typeface="Aptos"/>
              </a:defRPr>
            </a:lvl1pPr>
          </a:lstStyle>
          <a:p>
            <a:pPr/>
            <a:r>
              <a:t>Kaggle</a:t>
            </a:r>
          </a:p>
        </p:txBody>
      </p:sp>
      <p:sp>
        <p:nvSpPr>
          <p:cNvPr id="772" name="TextBox 39"/>
          <p:cNvSpPr txBox="1"/>
          <p:nvPr/>
        </p:nvSpPr>
        <p:spPr>
          <a:xfrm>
            <a:off x="8919239" y="3112800"/>
            <a:ext cx="2920493" cy="468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Used for clothing-image classification and model evaluation.</a:t>
            </a:r>
          </a:p>
        </p:txBody>
      </p:sp>
      <p:sp>
        <p:nvSpPr>
          <p:cNvPr id="773" name="Rounded Rectangle 40"/>
          <p:cNvSpPr/>
          <p:nvPr/>
        </p:nvSpPr>
        <p:spPr>
          <a:xfrm>
            <a:off x="8654064" y="3917472"/>
            <a:ext cx="3450843" cy="2514601"/>
          </a:xfrm>
          <a:prstGeom prst="roundRect">
            <a:avLst>
              <a:gd name="adj" fmla="val 16667"/>
            </a:avLst>
          </a:prstGeom>
          <a:solidFill>
            <a:srgbClr val="FFFFFF"/>
          </a:solidFill>
          <a:ln w="1270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sz="1400">
                <a:solidFill>
                  <a:srgbClr val="FFFFFF"/>
                </a:solidFill>
                <a:latin typeface="+mn-lt"/>
                <a:ea typeface="+mn-ea"/>
                <a:cs typeface="+mn-cs"/>
                <a:sym typeface="Calibri"/>
              </a:defRPr>
            </a:pPr>
          </a:p>
        </p:txBody>
      </p:sp>
      <p:sp>
        <p:nvSpPr>
          <p:cNvPr id="774" name="TextBox 41"/>
          <p:cNvSpPr txBox="1"/>
          <p:nvPr/>
        </p:nvSpPr>
        <p:spPr>
          <a:xfrm>
            <a:off x="8919239" y="4173504"/>
            <a:ext cx="2313433" cy="468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b="1" sz="1400">
                <a:solidFill>
                  <a:srgbClr val="684E91"/>
                </a:solidFill>
                <a:latin typeface="Aptos"/>
                <a:ea typeface="Aptos"/>
                <a:cs typeface="Aptos"/>
                <a:sym typeface="Aptos"/>
              </a:defRPr>
            </a:lvl1pPr>
          </a:lstStyle>
          <a:p>
            <a:pPr/>
            <a:r>
              <a:t>OFFICIAL TECHNICAL REFERENCES</a:t>
            </a:r>
          </a:p>
        </p:txBody>
      </p:sp>
      <p:sp>
        <p:nvSpPr>
          <p:cNvPr id="775" name="TextBox 42"/>
          <p:cNvSpPr txBox="1"/>
          <p:nvPr/>
        </p:nvSpPr>
        <p:spPr>
          <a:xfrm>
            <a:off x="8937528" y="4813584"/>
            <a:ext cx="224942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Flask Documentation</a:t>
            </a:r>
          </a:p>
        </p:txBody>
      </p:sp>
      <p:sp>
        <p:nvSpPr>
          <p:cNvPr id="776" name="TextBox 43"/>
          <p:cNvSpPr txBox="1"/>
          <p:nvPr/>
        </p:nvSpPr>
        <p:spPr>
          <a:xfrm>
            <a:off x="8937528" y="5124480"/>
            <a:ext cx="3333208"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PyTorch / torchvision Documentation</a:t>
            </a:r>
          </a:p>
        </p:txBody>
      </p:sp>
      <p:sp>
        <p:nvSpPr>
          <p:cNvPr id="777" name="TextBox 44"/>
          <p:cNvSpPr txBox="1"/>
          <p:nvPr/>
        </p:nvSpPr>
        <p:spPr>
          <a:xfrm>
            <a:off x="8985913" y="5435376"/>
            <a:ext cx="3018306"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SQLAlchemy Documentation</a:t>
            </a:r>
          </a:p>
        </p:txBody>
      </p:sp>
      <p:sp>
        <p:nvSpPr>
          <p:cNvPr id="778" name="TextBox 45"/>
          <p:cNvSpPr txBox="1"/>
          <p:nvPr/>
        </p:nvSpPr>
        <p:spPr>
          <a:xfrm>
            <a:off x="8928383" y="5746272"/>
            <a:ext cx="224942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scikit-learn Documentation</a:t>
            </a:r>
          </a:p>
        </p:txBody>
      </p:sp>
      <p:sp>
        <p:nvSpPr>
          <p:cNvPr id="779" name="TextBox 46"/>
          <p:cNvSpPr txBox="1"/>
          <p:nvPr/>
        </p:nvSpPr>
        <p:spPr>
          <a:xfrm>
            <a:off x="8937528" y="6057168"/>
            <a:ext cx="2249425"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defTabSz="457200">
              <a:defRPr sz="1400">
                <a:solidFill>
                  <a:srgbClr val="2D2A37"/>
                </a:solidFill>
                <a:latin typeface="Aptos"/>
                <a:ea typeface="Aptos"/>
                <a:cs typeface="Aptos"/>
                <a:sym typeface="Aptos"/>
              </a:defRPr>
            </a:lvl1pPr>
          </a:lstStyle>
          <a:p>
            <a:pPr/>
            <a:r>
              <a:t>• Bootstrap Documentation</a:t>
            </a:r>
          </a:p>
        </p:txBody>
      </p:sp>
      <p:sp>
        <p:nvSpPr>
          <p:cNvPr id="780" name="TextBox 49"/>
          <p:cNvSpPr txBox="1"/>
          <p:nvPr/>
        </p:nvSpPr>
        <p:spPr>
          <a:xfrm>
            <a:off x="11040647" y="6550944"/>
            <a:ext cx="484632"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lgn="r" defTabSz="457200">
              <a:defRPr b="1" sz="1400">
                <a:solidFill>
                  <a:srgbClr val="684E91"/>
                </a:solidFill>
                <a:latin typeface="Aptos"/>
                <a:ea typeface="Aptos"/>
                <a:cs typeface="Aptos"/>
                <a:sym typeface="Aptos"/>
              </a:defRPr>
            </a:lvl1pPr>
          </a:lstStyle>
          <a:p>
            <a:pPr/>
            <a:r>
              <a:t>11</a:t>
            </a:r>
          </a:p>
        </p:txBody>
      </p:sp>
      <p:sp>
        <p:nvSpPr>
          <p:cNvPr id="781" name="Suvarna, B. and Balakrishna, S., 2024. Enhanced content-based fashion recommendation system through deep ensemble classifier with transfer learning. Fash Text 11, 24 (2024) [online]"/>
          <p:cNvSpPr txBox="1"/>
          <p:nvPr/>
        </p:nvSpPr>
        <p:spPr>
          <a:xfrm>
            <a:off x="728482" y="5237764"/>
            <a:ext cx="7661167" cy="4920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i="1" sz="1400">
                <a:solidFill>
                  <a:srgbClr val="222222"/>
                </a:solidFill>
                <a:latin typeface="Arial"/>
                <a:ea typeface="Arial"/>
                <a:cs typeface="Arial"/>
                <a:sym typeface="Arial"/>
              </a:defRPr>
            </a:pPr>
            <a:r>
              <a:rPr i="0"/>
              <a:t>Suvarna, B. and Balakrishna, S., 2024. </a:t>
            </a:r>
            <a:r>
              <a:t>Enhanced content-based fashion recommendation system through deep ensemble classifier with transfer learning. Fash Text 11, 24 (2024)</a:t>
            </a:r>
            <a:r>
              <a:rPr i="0"/>
              <a:t> [online]</a:t>
            </a:r>
          </a:p>
        </p:txBody>
      </p:sp>
      <p:sp>
        <p:nvSpPr>
          <p:cNvPr id="782" name="Balloni, E., Pietrini, R., Frontoni, E., Mancini, A. and Paolanti, M., 2025. OutfitAI: shop the outfit with a deep learning-based intelligent expert system. Multimedia Tools and Applications, 84(32), pp.40195-40214."/>
          <p:cNvSpPr txBox="1"/>
          <p:nvPr/>
        </p:nvSpPr>
        <p:spPr>
          <a:xfrm>
            <a:off x="792235" y="3309956"/>
            <a:ext cx="7533661" cy="6952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Balloni, E., Pietrini, R., Frontoni, E., Mancini, A. and Paolanti, M., 2025. OutfitAI: shop the outfit with a deep learning-based intelligent expert system. </a:t>
            </a:r>
            <a:r>
              <a:rPr i="1"/>
              <a:t>Multimedia Tools and Applications</a:t>
            </a:r>
            <a:r>
              <a:t>, </a:t>
            </a:r>
            <a:r>
              <a:rPr i="1"/>
              <a:t>84</a:t>
            </a:r>
            <a:r>
              <a:t>(32), pp.40195-40214.</a:t>
            </a:r>
          </a:p>
        </p:txBody>
      </p:sp>
      <p:sp>
        <p:nvSpPr>
          <p:cNvPr id="783" name="Saed, S. and Teimourpour, B., 2026. Hybrid-hierarchical fashion graph attention network for compatibility-oriented and personalized outfit recommendation. Machine Learning with Applications, p.100802."/>
          <p:cNvSpPr txBox="1"/>
          <p:nvPr/>
        </p:nvSpPr>
        <p:spPr>
          <a:xfrm>
            <a:off x="775803" y="2342839"/>
            <a:ext cx="7781015" cy="6952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Saed, S. and Teimourpour, B., 2026. Hybrid-hierarchical fashion graph attention network for compatibility-oriented and personalized outfit recommendation. </a:t>
            </a:r>
            <a:r>
              <a:rPr i="1"/>
              <a:t>Machine Learning with Applications</a:t>
            </a:r>
            <a:r>
              <a:t>, p.100802.</a:t>
            </a:r>
          </a:p>
        </p:txBody>
      </p:sp>
      <p:sp>
        <p:nvSpPr>
          <p:cNvPr id="784" name="Chang, C.L., Chen, Y.L. and Jiang, D.X., 2025. Using large multimodal models to predict outfit compatibility. Decision Support Systems, 194, p.114457."/>
          <p:cNvSpPr txBox="1"/>
          <p:nvPr/>
        </p:nvSpPr>
        <p:spPr>
          <a:xfrm>
            <a:off x="787568" y="4277073"/>
            <a:ext cx="7781015" cy="4920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Chang, C.L., Chen, Y.L. and Jiang, D.X., 2025. Using large multimodal models to predict outfit compatibility. </a:t>
            </a:r>
            <a:r>
              <a:rPr i="1"/>
              <a:t>Decision Support Systems</a:t>
            </a:r>
            <a:r>
              <a:t>, </a:t>
            </a:r>
            <a:r>
              <a:rPr i="1"/>
              <a:t>194</a:t>
            </a:r>
            <a:r>
              <a:t>, p.114457.</a:t>
            </a:r>
          </a:p>
        </p:txBody>
      </p:sp>
      <p:sp>
        <p:nvSpPr>
          <p:cNvPr id="785" name="Sun, K., Zhang, P., Zhang, J., Tao, J. and Yuan, K., 2024. PFNet: Attribute-aware personalized fashion editing with explainable fashion compatibility analysis. Information Processing &amp; Management, 61(1), p.103540."/>
          <p:cNvSpPr txBox="1"/>
          <p:nvPr/>
        </p:nvSpPr>
        <p:spPr>
          <a:xfrm>
            <a:off x="736925" y="6171849"/>
            <a:ext cx="7882301" cy="6952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defTabSz="457200">
              <a:defRPr sz="1400">
                <a:solidFill>
                  <a:srgbClr val="222222"/>
                </a:solidFill>
                <a:latin typeface="Arial"/>
                <a:ea typeface="Arial"/>
                <a:cs typeface="Arial"/>
                <a:sym typeface="Arial"/>
              </a:defRPr>
            </a:pPr>
            <a:r>
              <a:t>Sun, K., Zhang, P., Zhang, J., Tao, J. and Yuan, K., 2024. PFNet: Attribute-aware personalized fashion editing with explainable fashion compatibility analysis. </a:t>
            </a:r>
            <a:r>
              <a:rPr i="1"/>
              <a:t>Information Processing &amp; Management</a:t>
            </a:r>
            <a:r>
              <a:t>, </a:t>
            </a:r>
            <a:r>
              <a:rPr i="1"/>
              <a:t>61</a:t>
            </a:r>
            <a:r>
              <a:t>(1), p.103540.</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D"/>
        </a:solidFill>
      </p:bgPr>
    </p:bg>
    <p:spTree>
      <p:nvGrpSpPr>
        <p:cNvPr id="1" name=""/>
        <p:cNvGrpSpPr/>
        <p:nvPr/>
      </p:nvGrpSpPr>
      <p:grpSpPr>
        <a:xfrm>
          <a:off x="0" y="0"/>
          <a:ext cx="0" cy="0"/>
          <a:chOff x="0" y="0"/>
          <a:chExt cx="0" cy="0"/>
        </a:xfrm>
      </p:grpSpPr>
      <p:sp>
        <p:nvSpPr>
          <p:cNvPr id="787" name="Rounded Rectangle 1"/>
          <p:cNvSpPr/>
          <p:nvPr/>
        </p:nvSpPr>
        <p:spPr>
          <a:xfrm>
            <a:off x="502919" y="502919"/>
            <a:ext cx="2011681" cy="914401"/>
          </a:xfrm>
          <a:prstGeom prst="roundRect">
            <a:avLst>
              <a:gd name="adj" fmla="val 16667"/>
            </a:avLst>
          </a:prstGeom>
          <a:solidFill>
            <a:srgbClr val="EFE9F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788" name="Rounded Rectangle 2"/>
          <p:cNvSpPr/>
          <p:nvPr/>
        </p:nvSpPr>
        <p:spPr>
          <a:xfrm>
            <a:off x="9692640" y="5440679"/>
            <a:ext cx="2011681" cy="914401"/>
          </a:xfrm>
          <a:prstGeom prst="roundRect">
            <a:avLst>
              <a:gd name="adj" fmla="val 16667"/>
            </a:avLst>
          </a:prstGeom>
          <a:solidFill>
            <a:srgbClr val="EFE9F8"/>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789" name="Rounded Rectangle 3"/>
          <p:cNvSpPr/>
          <p:nvPr/>
        </p:nvSpPr>
        <p:spPr>
          <a:xfrm>
            <a:off x="1051560" y="1051560"/>
            <a:ext cx="10104120" cy="4709160"/>
          </a:xfrm>
          <a:prstGeom prst="roundRect">
            <a:avLst>
              <a:gd name="adj" fmla="val 16667"/>
            </a:avLst>
          </a:prstGeom>
          <a:solidFill>
            <a:srgbClr val="FFFFFF"/>
          </a:solidFill>
          <a:ln w="15240">
            <a:solidFill>
              <a:srgbClr val="DCD6E8"/>
            </a:solidFill>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790" name="TextBox 4"/>
          <p:cNvSpPr txBox="1"/>
          <p:nvPr/>
        </p:nvSpPr>
        <p:spPr>
          <a:xfrm>
            <a:off x="3803903" y="1708196"/>
            <a:ext cx="455371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b="1" sz="1300">
                <a:solidFill>
                  <a:srgbClr val="684E91"/>
                </a:solidFill>
                <a:latin typeface="Aptos"/>
                <a:ea typeface="Aptos"/>
                <a:cs typeface="Aptos"/>
                <a:sym typeface="Aptos"/>
              </a:defRPr>
            </a:lvl1pPr>
          </a:lstStyle>
          <a:p>
            <a:pPr/>
            <a:r>
              <a:t>WEARLYTICS</a:t>
            </a:r>
          </a:p>
        </p:txBody>
      </p:sp>
      <p:sp>
        <p:nvSpPr>
          <p:cNvPr id="791" name="TextBox 5"/>
          <p:cNvSpPr txBox="1"/>
          <p:nvPr/>
        </p:nvSpPr>
        <p:spPr>
          <a:xfrm>
            <a:off x="1846834" y="2690621"/>
            <a:ext cx="8485632" cy="7350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b="1" sz="4600">
                <a:solidFill>
                  <a:srgbClr val="2D2A37"/>
                </a:solidFill>
                <a:latin typeface="Aptos"/>
                <a:ea typeface="Aptos"/>
                <a:cs typeface="Aptos"/>
                <a:sym typeface="Aptos"/>
              </a:defRPr>
            </a:lvl1pPr>
          </a:lstStyle>
          <a:p>
            <a:pPr/>
            <a:r>
              <a:t>Thank You</a:t>
            </a:r>
          </a:p>
        </p:txBody>
      </p:sp>
      <p:sp>
        <p:nvSpPr>
          <p:cNvPr id="792" name="Rectangle 6"/>
          <p:cNvSpPr/>
          <p:nvPr/>
        </p:nvSpPr>
        <p:spPr>
          <a:xfrm>
            <a:off x="5074920" y="3666742"/>
            <a:ext cx="2057401" cy="54865"/>
          </a:xfrm>
          <a:prstGeom prst="rect">
            <a:avLst/>
          </a:prstGeom>
          <a:solidFill>
            <a:srgbClr val="684E91"/>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defTabSz="457200">
              <a:defRPr>
                <a:solidFill>
                  <a:srgbClr val="FFFFFF"/>
                </a:solidFill>
                <a:latin typeface="+mn-lt"/>
                <a:ea typeface="+mn-ea"/>
                <a:cs typeface="+mn-cs"/>
                <a:sym typeface="Calibri"/>
              </a:defRPr>
            </a:pPr>
          </a:p>
        </p:txBody>
      </p:sp>
      <p:sp>
        <p:nvSpPr>
          <p:cNvPr id="793" name="TextBox 8"/>
          <p:cNvSpPr txBox="1"/>
          <p:nvPr/>
        </p:nvSpPr>
        <p:spPr>
          <a:xfrm>
            <a:off x="2020823" y="4355083"/>
            <a:ext cx="8119873" cy="2143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1200">
                <a:solidFill>
                  <a:srgbClr val="2D2A37"/>
                </a:solidFill>
                <a:latin typeface="Aptos"/>
                <a:ea typeface="Aptos"/>
                <a:cs typeface="Aptos"/>
                <a:sym typeface="Aptos"/>
              </a:defRPr>
            </a:lvl1pPr>
          </a:lstStyle>
          <a:p>
            <a:pPr/>
            <a:r>
              <a:t>AI-Powered Smart Wardrobe and Personalized Outfit Recommendation System</a:t>
            </a:r>
          </a:p>
        </p:txBody>
      </p:sp>
      <p:sp>
        <p:nvSpPr>
          <p:cNvPr id="794" name="TextBox 9"/>
          <p:cNvSpPr txBox="1"/>
          <p:nvPr/>
        </p:nvSpPr>
        <p:spPr>
          <a:xfrm>
            <a:off x="2935223" y="4969763"/>
            <a:ext cx="6291073"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b="1" sz="1500">
                <a:solidFill>
                  <a:srgbClr val="684E91"/>
                </a:solidFill>
                <a:latin typeface="Aptos"/>
                <a:ea typeface="Aptos"/>
                <a:cs typeface="Aptos"/>
                <a:sym typeface="Aptos"/>
              </a:defRPr>
            </a:lvl1pPr>
          </a:lstStyle>
          <a:p>
            <a:pPr/>
            <a:r>
              <a:t>ANCHANA R P  ·  ROLL NO. 23</a:t>
            </a:r>
          </a:p>
        </p:txBody>
      </p:sp>
      <p:sp>
        <p:nvSpPr>
          <p:cNvPr id="795" name="TextBox 10"/>
          <p:cNvSpPr txBox="1"/>
          <p:nvPr/>
        </p:nvSpPr>
        <p:spPr>
          <a:xfrm>
            <a:off x="2935223" y="5440375"/>
            <a:ext cx="6291073" cy="1889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defTabSz="457200">
              <a:defRPr sz="1000">
                <a:solidFill>
                  <a:srgbClr val="686374"/>
                </a:solidFill>
                <a:latin typeface="Aptos"/>
                <a:ea typeface="Aptos"/>
                <a:cs typeface="Aptos"/>
                <a:sym typeface="Aptos"/>
              </a:defRPr>
            </a:lvl1pPr>
          </a:lstStyle>
          <a:p>
            <a:pPr/>
            <a:r>
              <a:t>S3 MCA  ·  SECOND INTERIM PRESENTATION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