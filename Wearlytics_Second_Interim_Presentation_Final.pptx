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8a2cfab1af4b80" /><Relationship Type="http://schemas.openxmlformats.org/officeDocument/2006/relationships/extended-properties" Target="/docProps/app.xml" Id="Rb750dab41c684fdf" /><Relationship Type="http://schemas.openxmlformats.org/officeDocument/2006/relationships/officeDocument" Target="/ppt/presentation.xml" Id="R556da713662f41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43263259bf4a50"/>
  </p:sldMasterIdLst>
  <p:notesMasterIdLst>
    <p:notesMasterId xmlns:r="http://schemas.openxmlformats.org/officeDocument/2006/relationships" r:id="Re1d7a676b4a04125"/>
  </p:notesMasterIdLst>
  <p:sldIdLst>
    <p:sldId xmlns:r="http://schemas.openxmlformats.org/officeDocument/2006/relationships" id="256" r:id="R7c9501941c624aca"/>
    <p:sldId xmlns:r="http://schemas.openxmlformats.org/officeDocument/2006/relationships" id="257" r:id="R810a4dfdccf04c49"/>
    <p:sldId xmlns:r="http://schemas.openxmlformats.org/officeDocument/2006/relationships" id="258" r:id="Ra89a544ec5984be6"/>
    <p:sldId xmlns:r="http://schemas.openxmlformats.org/officeDocument/2006/relationships" id="259" r:id="Rdab4cd6ad14a4001"/>
    <p:sldId xmlns:r="http://schemas.openxmlformats.org/officeDocument/2006/relationships" id="260" r:id="R17e3fa6cb8ae428c"/>
    <p:sldId xmlns:r="http://schemas.openxmlformats.org/officeDocument/2006/relationships" id="261" r:id="R96dcaf422eb24dbf"/>
    <p:sldId xmlns:r="http://schemas.openxmlformats.org/officeDocument/2006/relationships" id="262" r:id="R026cd27e740b404f"/>
    <p:sldId xmlns:r="http://schemas.openxmlformats.org/officeDocument/2006/relationships" id="263" r:id="Ra04af1b860df4081"/>
    <p:sldId xmlns:r="http://schemas.openxmlformats.org/officeDocument/2006/relationships" id="264" r:id="Ra31a5d3cd2b54144"/>
    <p:sldId xmlns:r="http://schemas.openxmlformats.org/officeDocument/2006/relationships" id="265" r:id="Reda62b535e474b24"/>
    <p:sldId xmlns:r="http://schemas.openxmlformats.org/officeDocument/2006/relationships" id="266" r:id="Rdbfdabd181b54ead"/>
    <p:sldId xmlns:r="http://schemas.openxmlformats.org/officeDocument/2006/relationships" id="267" r:id="Rd8134818ce014f48"/>
    <p:sldId xmlns:r="http://schemas.openxmlformats.org/officeDocument/2006/relationships" id="268" r:id="R75fe9a8b0ebc4ced"/>
    <p:sldId xmlns:r="http://schemas.openxmlformats.org/officeDocument/2006/relationships" id="269" r:id="R9c75b24f3c8f4a5f"/>
    <p:sldId xmlns:r="http://schemas.openxmlformats.org/officeDocument/2006/relationships" id="270" r:id="R69fc2318e2a942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1ced38ac8e4ce6" /><Relationship Type="http://schemas.openxmlformats.org/officeDocument/2006/relationships/slideMaster" Target="/ppt/slideMasters/slideMaster1.xml" Id="Rd743263259bf4a50" /><Relationship Type="http://schemas.openxmlformats.org/officeDocument/2006/relationships/notesMaster" Target="/ppt/notesMasters/notesMaster1.xml" Id="Re1d7a676b4a04125" /><Relationship Type="http://schemas.openxmlformats.org/officeDocument/2006/relationships/presProps" Target="/ppt/presProps.xml" Id="Rb4d219983a4540d1" /><Relationship Type="http://schemas.openxmlformats.org/officeDocument/2006/relationships/tableStyles" Target="/ppt/tableStyles.xml" Id="R6b424ecc38074ca8" /><Relationship Type="http://schemas.openxmlformats.org/officeDocument/2006/relationships/slide" Target="/ppt/slides/slide1.xml" Id="R7c9501941c624aca" /><Relationship Type="http://schemas.openxmlformats.org/officeDocument/2006/relationships/slide" Target="/ppt/slides/slide2.xml" Id="R810a4dfdccf04c49" /><Relationship Type="http://schemas.openxmlformats.org/officeDocument/2006/relationships/slide" Target="/ppt/slides/slide3.xml" Id="Ra89a544ec5984be6" /><Relationship Type="http://schemas.openxmlformats.org/officeDocument/2006/relationships/slide" Target="/ppt/slides/slide4.xml" Id="Rdab4cd6ad14a4001" /><Relationship Type="http://schemas.openxmlformats.org/officeDocument/2006/relationships/slide" Target="/ppt/slides/slide5.xml" Id="R17e3fa6cb8ae428c" /><Relationship Type="http://schemas.openxmlformats.org/officeDocument/2006/relationships/slide" Target="/ppt/slides/slide6.xml" Id="R96dcaf422eb24dbf" /><Relationship Type="http://schemas.openxmlformats.org/officeDocument/2006/relationships/slide" Target="/ppt/slides/slide7.xml" Id="R026cd27e740b404f" /><Relationship Type="http://schemas.openxmlformats.org/officeDocument/2006/relationships/slide" Target="/ppt/slides/slide8.xml" Id="Ra04af1b860df4081" /><Relationship Type="http://schemas.openxmlformats.org/officeDocument/2006/relationships/slide" Target="/ppt/slides/slide9.xml" Id="Ra31a5d3cd2b54144" /><Relationship Type="http://schemas.openxmlformats.org/officeDocument/2006/relationships/slide" Target="/ppt/slides/slide10.xml" Id="Reda62b535e474b24" /><Relationship Type="http://schemas.openxmlformats.org/officeDocument/2006/relationships/slide" Target="/ppt/slides/slide11.xml" Id="Rdbfdabd181b54ead" /><Relationship Type="http://schemas.openxmlformats.org/officeDocument/2006/relationships/slide" Target="/ppt/slides/slide12.xml" Id="Rd8134818ce014f48" /><Relationship Type="http://schemas.openxmlformats.org/officeDocument/2006/relationships/slide" Target="/ppt/slides/slide13.xml" Id="R75fe9a8b0ebc4ced" /><Relationship Type="http://schemas.openxmlformats.org/officeDocument/2006/relationships/slide" Target="/ppt/slides/slide14.xml" Id="R9c75b24f3c8f4a5f" /><Relationship Type="http://schemas.openxmlformats.org/officeDocument/2006/relationships/slide" Target="/ppt/slides/slide15.xml" Id="R69fc2318e2a942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5841bd4bae46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cc5838bdd441c" /><Relationship Type="http://schemas.openxmlformats.org/officeDocument/2006/relationships/notesMaster" Target="/ppt/notesMasters/notesMaster1.xml" Id="R6c148413901b4c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8a2b73f9b040e3" /><Relationship Type="http://schemas.openxmlformats.org/officeDocument/2006/relationships/notesMaster" Target="/ppt/notesMasters/notesMaster1.xml" Id="R1ad2c80a34714e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5f530dae0a4685" /><Relationship Type="http://schemas.openxmlformats.org/officeDocument/2006/relationships/notesMaster" Target="/ppt/notesMasters/notesMaster1.xml" Id="Rd4914e2d94d04b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c59fff82574d6d" /><Relationship Type="http://schemas.openxmlformats.org/officeDocument/2006/relationships/notesMaster" Target="/ppt/notesMasters/notesMaster1.xml" Id="R773dd2aa764c46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dc7735b5d548e4" /><Relationship Type="http://schemas.openxmlformats.org/officeDocument/2006/relationships/notesMaster" Target="/ppt/notesMasters/notesMaster1.xml" Id="R59aee60dd47a43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b0833c4b684992" /><Relationship Type="http://schemas.openxmlformats.org/officeDocument/2006/relationships/notesMaster" Target="/ppt/notesMasters/notesMaster1.xml" Id="R00426a53353a45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16514ab3074cbf" /><Relationship Type="http://schemas.openxmlformats.org/officeDocument/2006/relationships/notesMaster" Target="/ppt/notesMasters/notesMaster1.xml" Id="R7642e093606743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bee8a99aa04497" /><Relationship Type="http://schemas.openxmlformats.org/officeDocument/2006/relationships/notesMaster" Target="/ppt/notesMasters/notesMaster1.xml" Id="Rd51679783a4a47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ab8af0d4f0471d" /><Relationship Type="http://schemas.openxmlformats.org/officeDocument/2006/relationships/notesMaster" Target="/ppt/notesMasters/notesMaster1.xml" Id="R889c4cfdd1cf4c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14ec2ce61e41b4" /><Relationship Type="http://schemas.openxmlformats.org/officeDocument/2006/relationships/notesMaster" Target="/ppt/notesMasters/notesMaster1.xml" Id="R61d76ed2f4de46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ce42453b764e77" /><Relationship Type="http://schemas.openxmlformats.org/officeDocument/2006/relationships/notesMaster" Target="/ppt/notesMasters/notesMaster1.xml" Id="R4b53a7514fdb45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76d71bd29a41e4" /><Relationship Type="http://schemas.openxmlformats.org/officeDocument/2006/relationships/notesMaster" Target="/ppt/notesMasters/notesMaster1.xml" Id="Rf0c07ac8bfc040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49f0b4091444b8" /><Relationship Type="http://schemas.openxmlformats.org/officeDocument/2006/relationships/notesMaster" Target="/ppt/notesMasters/notesMaster1.xml" Id="Rd8b2e30762554a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f7403ecee64196" /><Relationship Type="http://schemas.openxmlformats.org/officeDocument/2006/relationships/notesMaster" Target="/ppt/notesMasters/notesMaster1.xml" Id="Rc5f422af26654b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112e54fa834ed2" /><Relationship Type="http://schemas.openxmlformats.org/officeDocument/2006/relationships/notesMaster" Target="/ppt/notesMasters/notesMaster1.xml" Id="R43c4d9f26d79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dc3fa779a4b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53bc2fde6d4773" /><Relationship Type="http://schemas.openxmlformats.org/officeDocument/2006/relationships/slideLayout" Target="/ppt/slideLayouts/slideLayout1.xml" Id="Rddc267ec163c44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c267ec163c44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6fa50988543ee" /><Relationship Type="http://schemas.openxmlformats.org/officeDocument/2006/relationships/image" Target="/ppt/media/image.png" Id="R36bde9a96ec8451b" /><Relationship Type="http://schemas.openxmlformats.org/officeDocument/2006/relationships/notesSlide" Target="/ppt/notesSlides/notesSlide1.xml" Id="R125e47ede8234e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ac4f74b794c86" /><Relationship Type="http://schemas.openxmlformats.org/officeDocument/2006/relationships/notesSlide" Target="/ppt/notesSlides/notesSlide2.xml" Id="Rbc2f4051cb8c48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ae3e194c84684" /><Relationship Type="http://schemas.openxmlformats.org/officeDocument/2006/relationships/notesSlide" Target="/ppt/notesSlides/notesSlide3.xml" Id="R1366c527fb75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6507a33a5470c" /><Relationship Type="http://schemas.openxmlformats.org/officeDocument/2006/relationships/notesSlide" Target="/ppt/notesSlides/notesSlide4.xml" Id="R9ee34c79ade5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3cedb831f4704" /><Relationship Type="http://schemas.openxmlformats.org/officeDocument/2006/relationships/notesSlide" Target="/ppt/notesSlides/notesSlide5.xml" Id="R762257d3051b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e8b60f7254f55" /><Relationship Type="http://schemas.openxmlformats.org/officeDocument/2006/relationships/notesSlide" Target="/ppt/notesSlides/notesSlide6.xml" Id="R283e4ec4f35745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abe075fe54da4" /><Relationship Type="http://schemas.openxmlformats.org/officeDocument/2006/relationships/notesSlide" Target="/ppt/notesSlides/notesSlide7.xml" Id="R06ec60a3183c43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f95334f524102" /><Relationship Type="http://schemas.openxmlformats.org/officeDocument/2006/relationships/notesSlide" Target="/ppt/notesSlides/notesSlide8.xml" Id="Rb09afde9580348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80529dd1249de" /><Relationship Type="http://schemas.openxmlformats.org/officeDocument/2006/relationships/notesSlide" Target="/ppt/notesSlides/notesSlide9.xml" Id="R908f5006ffd34f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8947388c043da" /><Relationship Type="http://schemas.openxmlformats.org/officeDocument/2006/relationships/notesSlide" Target="/ppt/notesSlides/notesSlide10.xml" Id="Ra679e929103e4f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35f5e6ec8405c" /><Relationship Type="http://schemas.openxmlformats.org/officeDocument/2006/relationships/notesSlide" Target="/ppt/notesSlides/notesSlide11.xml" Id="R5c3584bb549241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7c843ed7f4488" /><Relationship Type="http://schemas.openxmlformats.org/officeDocument/2006/relationships/notesSlide" Target="/ppt/notesSlides/notesSlide12.xml" Id="R732ba30eabbd4e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1cfab3cb14ae7" /><Relationship Type="http://schemas.openxmlformats.org/officeDocument/2006/relationships/image" Target="/ppt/media/image2.png" Id="R19383b3bb31f4409" /><Relationship Type="http://schemas.openxmlformats.org/officeDocument/2006/relationships/image" Target="/ppt/media/image3.png" Id="Rd4f23c23ef324e2d" /><Relationship Type="http://schemas.openxmlformats.org/officeDocument/2006/relationships/image" Target="/ppt/media/image4.png" Id="Rfb3f5d6f5f664c59" /><Relationship Type="http://schemas.openxmlformats.org/officeDocument/2006/relationships/notesSlide" Target="/ppt/notesSlides/notesSlide13.xml" Id="Rc2c11c7633e44b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bdf6caccf44f9" /><Relationship Type="http://schemas.openxmlformats.org/officeDocument/2006/relationships/notesSlide" Target="/ppt/notesSlides/notesSlide14.xml" Id="Rb0c0d4fa9f2342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ca6faa8cc4908" /><Relationship Type="http://schemas.openxmlformats.org/officeDocument/2006/relationships/notesSlide" Target="/ppt/notesSlides/notesSlide15.xml" Id="Rc659dfab10a146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EBCF7-136D-4592-9272-B9E2729C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C2FF"/>
                </a:solidFill>
              </a:defRPr>
            </a:pPr>
            <a:r>
              <a:rPr sz="975" b="1">
                <a:solidFill>
                  <a:srgbClr val="C9C2FF"/>
                </a:solidFill>
              </a:rPr>
              <a:t>S3 MCA MINI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6C399-0503-4EAA-AA2C-1E5FD60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Wearlytics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59FDB-6E26-4F3A-88B0-4BB58AAE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9DBEA"/>
                </a:solidFill>
              </a:defRPr>
            </a:pPr>
            <a:r>
              <a:rPr sz="1950" b="0">
                <a:solidFill>
                  <a:srgbClr val="D9DBEA"/>
                </a:solidFill>
              </a:rPr>
              <a:t>AI-Powered Smart Wardrobe and</a:t>
            </a:r>
          </a:p>
          <a:p xmlns:a="http://schemas.openxmlformats.org/drawingml/2006/main">
            <a:pPr algn="l">
              <a:defRPr sz="1950" b="0">
                <a:solidFill>
                  <a:srgbClr val="D9DBEA"/>
                </a:solidFill>
              </a:defRPr>
            </a:pPr>
            <a:r>
              <a:rPr sz="1950" b="0">
                <a:solidFill>
                  <a:srgbClr val="D9DBEA"/>
                </a:solidFill>
              </a:rPr>
              <a:t>Personalized Outfit Recommendation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D9DF1-0F8A-42DF-B52E-8D23425A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381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54E8"/>
          </a:solidFill>
          <a:ln xmlns:a="http://schemas.openxmlformats.org/drawingml/2006/main" w="9525">
            <a:solidFill>
              <a:srgbClr val="695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B18B5-23B8-435F-9050-27FB954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ANCHANA R P  •  Roll No.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F35CA-3F6C-4E36-BFDC-2F2D655D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542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DBEA"/>
                </a:solidFill>
              </a:defRPr>
            </a:pPr>
            <a:r>
              <a:rPr sz="1200" b="0">
                <a:solidFill>
                  <a:srgbClr val="D9DBEA"/>
                </a:solidFill>
              </a:rPr>
              <a:t>S3 MCA</a:t>
            </a:r>
          </a:p>
          <a:p xmlns:a="http://schemas.openxmlformats.org/drawingml/2006/main">
            <a:pPr algn="l">
              <a:defRPr sz="1200" b="0">
                <a:solidFill>
                  <a:srgbClr val="D9DBEA"/>
                </a:solidFill>
              </a:defRPr>
            </a:pPr>
            <a:r>
              <a:rPr sz="1200" b="0">
                <a:solidFill>
                  <a:srgbClr val="D9DBEA"/>
                </a:solidFill>
              </a:rPr>
              <a:t>Lourdes Matha College of Science and Technology</a:t>
            </a:r>
          </a:p>
          <a:p xmlns:a="http://schemas.openxmlformats.org/drawingml/2006/main">
            <a:pPr algn="l">
              <a:defRPr sz="1200" b="0">
                <a:solidFill>
                  <a:srgbClr val="D9DBEA"/>
                </a:solidFill>
              </a:defRPr>
            </a:pPr>
            <a:r>
              <a:rPr sz="1200" b="0">
                <a:solidFill>
                  <a:srgbClr val="D9DBEA"/>
                </a:solidFill>
              </a:rPr>
              <a:t>Guide: Prof. Bismi K. Charleys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4EEFB-C693-4797-8BBF-F949A644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14375"/>
            <a:ext cx="4476750" cy="5238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42A52"/>
          </a:solidFill>
          <a:ln xmlns:a="http://schemas.openxmlformats.org/drawingml/2006/main" w="9525">
            <a:solidFill>
              <a:srgbClr val="3A427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de9a96ec8451b"/>
          <a:stretch xmlns:a="http://schemas.openxmlformats.org/drawingml/2006/main"/>
        </p:blipFill>
        <p:spPr>
          <a:xfrm xmlns:a="http://schemas.openxmlformats.org/drawingml/2006/main">
            <a:off x="7029450" y="2119303"/>
            <a:ext cx="4057650" cy="2524144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2F999-4030-4C58-97D8-D81124F8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0D0"/>
                </a:solidFill>
              </a:defRPr>
            </a:pPr>
            <a:r>
              <a:rPr sz="825" b="1">
                <a:solidFill>
                  <a:srgbClr val="A9B0D0"/>
                </a:solidFill>
              </a:rPr>
              <a:t>SECOND INTERIM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81566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50047-E1D7-463D-8BBD-2E456CF7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02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F0E2D-7F9C-4658-B91F-CDD960D4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A digital wardrobe reduces daily outfit-selection friction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36637-3802-4C3D-BC5F-C298A01F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Wearlytics brings wardrobe organization, availability status, and explainable outfit suggestions into one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79995-61B4-42F9-BE68-026A53B5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ADB74-C106-49D6-9E6F-7A44070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DABB0-DDD8-4CEB-B971-382941F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3DFC8-B362-4785-9656-3FF867F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861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F5FAB-7E03-4133-8035-17531757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C6B"/>
          </a:solidFill>
          <a:ln xmlns:a="http://schemas.openxmlformats.org/drawingml/2006/main" w="0">
            <a:solidFill>
              <a:srgbClr val="E45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DBB9A-D7C9-4B20-8592-A490875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The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34186-1EBE-4DED-A802-F237FBFB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886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Clothes are difficult to catalogue, track and retrieve. Outfit selection is repetitive, and unused items are easy to overlook.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1842A-F7CF-4D30-884F-7669FE16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2861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64F77-F0E5-4C54-80D8-2EBCEFB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4E8"/>
          </a:solidFill>
          <a:ln xmlns:a="http://schemas.openxmlformats.org/drawingml/2006/main" w="0">
            <a:solidFill>
              <a:srgbClr val="695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442ED-5787-44A2-B1A3-AC9517B8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62175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The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0603C-D328-4F97-BF0F-61342665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2886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Digitize wardrobe items, record wear/laundry status, and rank compatible outfit combinations using transparent rules.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9B2AF-928B-454A-97F3-54DF561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2861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848C2-A2EA-4F90-9116-DFAF647F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483"/>
          </a:solidFill>
          <a:ln xmlns:a="http://schemas.openxmlformats.org/drawingml/2006/main" w="0">
            <a:solidFill>
              <a:srgbClr val="23C4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84A2D-F79E-4060-B7E1-01986A92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The 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7094E-F3E6-4AAF-A095-05FF2D2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24125"/>
            <a:ext cx="2886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 user can make availability-aware outfit choices, save looks, plan a week and review wardrobe utilization.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916BC-BE4C-4345-9CD7-5BAD718B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3238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EEEA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F3924-4DCA-45F3-8273-4BA67CE1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Implemented in the current Flask 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4FE1B-1B0F-41E9-B23C-3542778E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54E8"/>
          </a:solidFill>
          <a:ln xmlns:a="http://schemas.openxmlformats.org/drawingml/2006/main" w="0">
            <a:solidFill>
              <a:srgbClr val="695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4ADD0-9A8A-493A-AB23-17755766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3A"/>
                </a:solidFill>
              </a:defRPr>
            </a:pPr>
            <a:r>
              <a:rPr sz="1200" b="0">
                <a:solidFill>
                  <a:srgbClr val="20243A"/>
                </a:solidFill>
              </a:rPr>
              <a:t>Image-assisted garment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61240-BC76-4124-B9AE-82E0E79C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483"/>
          </a:solidFill>
          <a:ln xmlns:a="http://schemas.openxmlformats.org/drawingml/2006/main" w="0">
            <a:solidFill>
              <a:srgbClr val="23C4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6D9B8-542D-4F35-B430-0C3F7BB5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6257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3A"/>
                </a:solidFill>
              </a:defRPr>
            </a:pPr>
            <a:r>
              <a:rPr sz="1200" b="0">
                <a:solidFill>
                  <a:srgbClr val="20243A"/>
                </a:solidFill>
              </a:rPr>
              <a:t>Weighted outfit compatibility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CBCC3-92A9-4958-9858-C0F584A1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78CBF0-321C-4607-B28E-7F96C6CF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6257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3A"/>
                </a:solidFill>
              </a:defRPr>
            </a:pPr>
            <a:r>
              <a:rPr sz="1200" b="0">
                <a:solidFill>
                  <a:srgbClr val="20243A"/>
                </a:solidFill>
              </a:rPr>
              <a:t>Planner and wear analytics</a:t>
            </a:r>
          </a:p>
        </p:txBody>
      </p:sp>
    </p:spTree>
    <p:extLst>
      <p:ext uri="{BB962C8B-B14F-4D97-AF65-F5344CB8AC3E}">
        <p14:creationId xmlns:p14="http://schemas.microsoft.com/office/powerpoint/2010/main" val="1593493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6F188-860E-4B7E-BB75-61ACAF5B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03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9CCDA-457D-4366-B14B-9DA50420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Literature survey: the project sits at the intersection of four research areas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85797-4652-4838-86E1-0865EAAB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The review informs future validation; the implemented recommender remains rule- and content-based.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B3675-4A54-4EA4-BD47-1AC4E65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CC16-AF2B-456A-84A1-218BBAB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D3B1F-F905-4D2D-A26E-E8689C6D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AAE4E-7739-4233-9727-A9E526FA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0C671-758D-4FF8-8379-841DB661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4E8"/>
          </a:solidFill>
          <a:ln xmlns:a="http://schemas.openxmlformats.org/drawingml/2006/main" w="0">
            <a:solidFill>
              <a:srgbClr val="695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683A2-EC20-4E40-A979-77B57ADB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1. Apparel image 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A5244-AD94-4F5E-A1DA-40679576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Transfer learning with lightweight CNNs such as MobileNetV2 for clothing-category recognition.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526CB-B470-42F1-8208-ED84A8CC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78975-DDBA-4FB1-9FC6-3087923A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483"/>
          </a:solidFill>
          <a:ln xmlns:a="http://schemas.openxmlformats.org/drawingml/2006/main" w="0">
            <a:solidFill>
              <a:srgbClr val="23C4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1A27D-66D4-4070-A0B4-AF4EAB3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62175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2. Fashion 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18D29-ECA6-4D51-AA84-6EBF017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24125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Content-based outfit construction, compatibility rules, explainability and cold-start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80D48-D9BF-4579-B68D-E99B2D5C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C05CD-A081-4C11-8DF9-FC38D020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6692B-B13C-46B7-8B35-D6DADBBF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3. Personalization from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6206F-CEAE-4393-9F82-DA2E117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Explicit likes/dislikes, preference learning, negative feedback and user control through pinned items.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A1AC8-9ED6-437C-BC40-D80A039A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5A548-7951-4076-A858-012B6BF5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2F7"/>
          </a:solidFill>
          <a:ln xmlns:a="http://schemas.openxmlformats.org/drawingml/2006/main" w="0">
            <a:solidFill>
              <a:srgbClr val="3E82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7D06D-BC0D-42C3-82EB-B55060B4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33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4. Image colour &amp; sustainability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266C7-28DC-44B1-ACB7-CFC2751E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Foreground-aware dominant-color extraction, wardrobe utilization and underused-item awareness.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D7E74-E1EE-4FCC-B6DE-5DCD8B3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5C6B"/>
                </a:solidFill>
              </a:defRPr>
            </a:pPr>
            <a:r>
              <a:rPr sz="1200" b="1">
                <a:solidFill>
                  <a:srgbClr val="E45C6B"/>
                </a:solidFill>
              </a:rPr>
              <a:t>Current implementation boundary: no embeddings, cosine similarity, collaborative filtering, or learned compatibility model.</a:t>
            </a:r>
          </a:p>
        </p:txBody>
      </p:sp>
    </p:spTree>
    <p:extLst>
      <p:ext uri="{BB962C8B-B14F-4D97-AF65-F5344CB8AC3E}">
        <p14:creationId xmlns:p14="http://schemas.microsoft.com/office/powerpoint/2010/main" val="704091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81FA3-1EAF-44F5-ADC6-BEC4CEC7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04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5929F-F4C4-47A9-81B9-7B78AE2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Existing approaches leave wardrobe information and decisions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7E700-8214-4A90-B4A6-594C2FE1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Wearlytics addresses concrete gaps through integrated management and transparent ranking.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A590A-450E-4C8E-A375-58684D99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61D6F-A80E-4B59-9CD2-C3FB8C6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1F34C-FF60-42D5-B062-7C04BD65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5F4F8-01E4-4F81-94A9-D92B0894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Manual cataloguing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F1AF3-C2CD-4949-945B-833FE94E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573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Item details and images are hard to retrieve.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19557-C964-417C-9169-3F0BBAD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54E8"/>
                </a:solidFill>
              </a:defRPr>
            </a:pPr>
            <a:r>
              <a:rPr sz="1650" b="1">
                <a:solidFill>
                  <a:srgbClr val="6954E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C91B3-9EDC-446B-B907-F865995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81175"/>
            <a:ext cx="3619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FCF7"/>
          </a:solidFill>
          <a:ln xmlns:a="http://schemas.openxmlformats.org/drawingml/2006/main" w="9525">
            <a:solidFill>
              <a:srgbClr val="C8F0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68B06-821B-4B07-A6A5-4CFB9389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B55"/>
                </a:solidFill>
              </a:defRPr>
            </a:pPr>
            <a:r>
              <a:rPr sz="1125" b="1">
                <a:solidFill>
                  <a:srgbClr val="147B55"/>
                </a:solidFill>
              </a:rPr>
              <a:t>Searchable wardrobe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69767-6B17-4367-B348-F8DA6042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Repeated outfit effort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D0A0B-2E99-4D2A-9E30-E03C5AB1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717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Users repeatedly decide what pairs well.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CF234-1189-4412-95C6-781A0D31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54E8"/>
                </a:solidFill>
              </a:defRPr>
            </a:pPr>
            <a:r>
              <a:rPr sz="1650" b="1">
                <a:solidFill>
                  <a:srgbClr val="6954E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2207A-6392-4716-98CF-F8D18DE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95575"/>
            <a:ext cx="3619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FCF7"/>
          </a:solidFill>
          <a:ln xmlns:a="http://schemas.openxmlformats.org/drawingml/2006/main" w="9525">
            <a:solidFill>
              <a:srgbClr val="C8F0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DAD3F-F898-4646-84E4-25CEA46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6702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B55"/>
                </a:solidFill>
              </a:defRPr>
            </a:pPr>
            <a:r>
              <a:rPr sz="1125" b="1">
                <a:solidFill>
                  <a:srgbClr val="147B55"/>
                </a:solidFill>
              </a:rPr>
              <a:t>Ranked compatible combinations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F62EA-3A67-42F8-8B9B-EA1767C6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Unavailable items included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BDCC1-BFAF-49ED-A6D7-46D343D3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861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Laundry status is easy to forget.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EB924-CC4B-4AB8-B1CF-B5E112CA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861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54E8"/>
                </a:solidFill>
              </a:defRPr>
            </a:pPr>
            <a:r>
              <a:rPr sz="1650" b="1">
                <a:solidFill>
                  <a:srgbClr val="6954E8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A1A62-6E08-4A72-B854-FF93BE6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3619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FCF7"/>
          </a:solidFill>
          <a:ln xmlns:a="http://schemas.openxmlformats.org/drawingml/2006/main" w="9525">
            <a:solidFill>
              <a:srgbClr val="C8F0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8C431-01BB-44C3-9F99-78E05A6D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8142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B55"/>
                </a:solidFill>
              </a:defRPr>
            </a:pPr>
            <a:r>
              <a:rPr sz="1125" b="1">
                <a:solidFill>
                  <a:srgbClr val="147B55"/>
                </a:solidFill>
              </a:rPr>
              <a:t>Laundry-aware recommendation 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564FF-B338-406A-A234-53184993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No utilization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17FBB-A06C-4A17-BE45-B256B8F4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005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Underused items remain invisible.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81D05-7647-4B8D-9BC7-6E75FD93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005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54E8"/>
                </a:solidFill>
              </a:defRPr>
            </a:pPr>
            <a:r>
              <a:rPr sz="1650" b="1">
                <a:solidFill>
                  <a:srgbClr val="6954E8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389B-F4F4-4612-9686-5A3BB771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3619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FCF7"/>
          </a:solidFill>
          <a:ln xmlns:a="http://schemas.openxmlformats.org/drawingml/2006/main" w="9525">
            <a:solidFill>
              <a:srgbClr val="C8F0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DADCA-C7D5-4E7A-A5A4-EC181EA1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9582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B55"/>
                </a:solidFill>
              </a:defRPr>
            </a:pPr>
            <a:r>
              <a:rPr sz="1125" b="1">
                <a:solidFill>
                  <a:srgbClr val="147B55"/>
                </a:solidFill>
              </a:rPr>
              <a:t>Wear counts and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B2AB7-03D1-4E7A-9583-31F6DF13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C6B"/>
                </a:solidFill>
              </a:defRPr>
            </a:pPr>
            <a:r>
              <a:rPr sz="825" b="1">
                <a:solidFill>
                  <a:srgbClr val="E45C6B"/>
                </a:solidFill>
              </a:rPr>
              <a:t>Existing drawback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7C763E-68C8-4A64-8C5A-0B866AA2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C6B"/>
                </a:solidFill>
              </a:defRPr>
            </a:pPr>
            <a:r>
              <a:rPr sz="825" b="1">
                <a:solidFill>
                  <a:srgbClr val="E45C6B"/>
                </a:solidFill>
              </a:rPr>
              <a:t>Observed gap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1849F-5C46-400C-8233-AE188BC5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C483"/>
                </a:solidFill>
              </a:defRPr>
            </a:pPr>
            <a:r>
              <a:rPr sz="825" b="1">
                <a:solidFill>
                  <a:srgbClr val="23C483"/>
                </a:solidFill>
              </a:rPr>
              <a:t>Implemented response</a:t>
            </a:r>
          </a:p>
        </p:txBody>
      </p:sp>
    </p:spTree>
    <p:extLst>
      <p:ext uri="{BB962C8B-B14F-4D97-AF65-F5344CB8AC3E}">
        <p14:creationId xmlns:p14="http://schemas.microsoft.com/office/powerpoint/2010/main" val="150405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4CE40B-0644-4479-929C-6613C666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05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20827-EEC0-4978-90D8-D8898D05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The proposed system combines a wardrobe, AI assistance, and planning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A53FB-BF60-4CAA-A091-7A85095B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Implemented features are separated from future extensions for an honest interim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24D35-D53D-4C18-B572-A5AE03F0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C7913-96E6-4A99-B947-B9BAD101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24F18-B1A8-4626-8BB9-7814F606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6875F-30C4-4915-873D-61751309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2344F-67C9-4462-A248-2F70C72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54E8"/>
                </a:solidFill>
              </a:defRPr>
            </a:pPr>
            <a:r>
              <a:rPr sz="1200" b="1">
                <a:solidFill>
                  <a:srgbClr val="6954E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20F6C-EAEC-483A-8D0D-82CD8CF9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Authenticate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0DE0B-DFE5-49A8-A52C-F001635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Registration, login and hashed passwords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AC82F-0F02-4BDD-AC24-5F62484E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55E48-3302-4B36-805E-B3DF75B0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54E8"/>
                </a:solidFill>
              </a:defRPr>
            </a:pPr>
            <a:r>
              <a:rPr sz="1200" b="1">
                <a:solidFill>
                  <a:srgbClr val="6954E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7067A-86CF-4DF5-A6FA-161B0435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Build wardrobe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53FE1-7128-4E87-B852-7B957455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Upload, classify, color-tag, edit and 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5C203-581E-4BF2-BF2A-753D7F24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CED21-5AA2-4ABB-8A56-B0491AA7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54E8"/>
                </a:solidFill>
              </a:defRPr>
            </a:pPr>
            <a:r>
              <a:rPr sz="1200" b="1">
                <a:solidFill>
                  <a:srgbClr val="6954E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5D9BA-5B18-4F68-9FAD-D90117C7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Style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4A859-3661-4239-A9B0-E17969F4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Score available combinations for occasion and season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883FF-3BD6-4720-A66C-579EF164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94466-0FB0-4158-ADC4-6780C9F1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54E8"/>
                </a:solidFill>
              </a:defRPr>
            </a:pPr>
            <a:r>
              <a:rPr sz="1200" b="1">
                <a:solidFill>
                  <a:srgbClr val="6954E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3E65C-1D6F-499A-9CE4-588A5B6B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527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7C5D3-4716-40F8-95E0-7B9839E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Record feedback and update simple preferences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A65B8-4E76-4FE9-AAC3-6996C418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1F468-F7F0-45CB-A391-14582D81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54E8"/>
                </a:solidFill>
              </a:defRPr>
            </a:pPr>
            <a:r>
              <a:rPr sz="1200" b="1">
                <a:solidFill>
                  <a:srgbClr val="6954E8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9FDA7-B48D-4A26-B3F1-85A44980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527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Plan &amp;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2CEDAD-E5EB-49D6-A160-587CB1D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33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Save outfits, schedule the week and inspect usage</a:t>
            </a:r>
          </a:p>
        </p:txBody>
      </p:sp>
      <p:cxnSp>
        <p:nvCxnSpPr>
          <p:cNvPr id="6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76500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ADD8"/>
            </a:solidFill>
            <a:prstDash val="solid"/>
            <a:headEnd type="arrow" w="sm" len="sm"/>
          </a:ln>
        </p:spPr>
      </p:cxnSp>
      <p:cxnSp>
        <p:nvCxnSpPr>
          <p:cNvPr id="6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48200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ADD8"/>
            </a:solidFill>
            <a:prstDash val="solid"/>
            <a:headEnd type="arrow" w="sm" len="sm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819900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ADD8"/>
            </a:solidFill>
            <a:prstDash val="solid"/>
            <a:headEnd type="arrow" w="sm" len="sm"/>
          </a:ln>
        </p:spPr>
      </p:cxnSp>
      <p:cxnSp>
        <p:nvCxnSpPr>
          <p:cNvPr id="66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991600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ADD8"/>
            </a:solidFill>
            <a:prstDash val="solid"/>
            <a:head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F29E2D-1F84-4BB3-8FF2-04682072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9F1"/>
          </a:solidFill>
          <a:ln xmlns:a="http://schemas.openxmlformats.org/drawingml/2006/main" w="9525">
            <a:solidFill>
              <a:srgbClr val="E9F9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FC3FCE-899C-4315-808B-9584310E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7B55"/>
                </a:solidFill>
              </a:defRPr>
            </a:pPr>
            <a:r>
              <a:rPr sz="825" b="1">
                <a:solidFill>
                  <a:srgbClr val="147B55"/>
                </a:solidFill>
              </a:rPr>
              <a:t>Implemented now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9938A7-3EFA-499C-BDD8-0ABA260F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3A"/>
                </a:solidFill>
              </a:defRPr>
            </a:pPr>
            <a:r>
              <a:rPr sz="1050" b="0">
                <a:solidFill>
                  <a:srgbClr val="20243A"/>
                </a:solidFill>
              </a:rPr>
              <a:t>AI Stylist • wearable-item filtering • feedback • planner • analytics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8A8833-12F0-4AC0-90B3-2909538E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FFF6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29489D-6F54-4E65-B54D-DCD13927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6400"/>
                </a:solidFill>
              </a:defRPr>
            </a:pPr>
            <a:r>
              <a:rPr sz="825" b="1">
                <a:solidFill>
                  <a:srgbClr val="9A6400"/>
                </a:solidFill>
              </a:rPr>
              <a:t>Future / not implemented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FFB7C5-F900-4AD2-A6AD-F8397D99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3435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Mobile app • notifications • full wear-event history • body/size/fit personalization • learned compatibility</a:t>
            </a:r>
          </a:p>
        </p:txBody>
      </p:sp>
    </p:spTree>
    <p:extLst>
      <p:ext uri="{BB962C8B-B14F-4D97-AF65-F5344CB8AC3E}">
        <p14:creationId xmlns:p14="http://schemas.microsoft.com/office/powerpoint/2010/main" val="2101729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FAFDA1-2F3E-4BC0-BC19-B753C1B8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06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E3517-4DCD-4028-8819-DBD3F6EC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The application uses a modular Python web stack with local AI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46EB-DFF1-4610-82EB-F2AC8BA4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Server-rendered pages and a relational schema keep the current build simple and extensible.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026CA-680C-4BEB-A9F0-8EEF119A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20AB6-D86D-4FDA-AA72-0BD2456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153FA-0FE2-463D-A756-932FB0E1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0B155-A1F4-4EE2-AE8D-27942D10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B48D9-D8BD-4B30-8846-F1658573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4E8"/>
          </a:solidFill>
          <a:ln xmlns:a="http://schemas.openxmlformats.org/drawingml/2006/main" w="0">
            <a:solidFill>
              <a:srgbClr val="695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B8B32-0B24-4025-8657-7B075FE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767FD-5554-4A51-AE87-ED385CB9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Jinja2 templates • HTML5 • CSS3 • Bootstrap 5.3.8 • vanilla JavaScript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7ACE6-E145-45F8-8B69-DB53FD7A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85ACD-EA30-48C9-9011-B13EACC3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2F7"/>
          </a:solidFill>
          <a:ln xmlns:a="http://schemas.openxmlformats.org/drawingml/2006/main" w="0">
            <a:solidFill>
              <a:srgbClr val="3E82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95028-A441-44AA-B1E3-33C9DA93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86219-D408-4DBA-B12A-C8DB5B53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Python • Flask • Blueprints • Flask-Login • Werkzeug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1C59C-3DAF-409D-A537-9182136A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B2F4E-AADA-4B4C-B2BA-7D85443E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483"/>
          </a:solidFill>
          <a:ln xmlns:a="http://schemas.openxmlformats.org/drawingml/2006/main" w="0">
            <a:solidFill>
              <a:srgbClr val="23C4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99723-AC52-498D-BAE7-4C2271F2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E76AC-BCEE-49C3-A33E-894EB09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SQLAlchemy • Flask-Migrate • Alembic • MySQL support / SQLite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37831-241E-4A2D-B56E-692138DB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14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6E8FA-893D-4215-BA8A-7F6D302F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A0480-AB77-490A-A3B0-071F6390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9925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AI / image processing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63DAE-5388-4862-9A51-74727A98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PyTorch • torchvision • MobileNetV2 • Pillow • NumPy • OpenCV • scikit-learn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93C30-822C-400D-B6D5-A783CBA6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58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D9B3B-F1AC-4E36-9DE3-8CE2D2A3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C6B"/>
          </a:solidFill>
          <a:ln xmlns:a="http://schemas.openxmlformats.org/drawingml/2006/main" w="0">
            <a:solidFill>
              <a:srgbClr val="E45C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63A69-87ED-46F1-80D5-E777550D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Testing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06994-7D0F-4C85-A1ED-71D4379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Two executable integration scripts using Flask test client and in-memory SQLite</a:t>
            </a:r>
          </a:p>
        </p:txBody>
      </p:sp>
    </p:spTree>
    <p:extLst>
      <p:ext uri="{BB962C8B-B14F-4D97-AF65-F5344CB8AC3E}">
        <p14:creationId xmlns:p14="http://schemas.microsoft.com/office/powerpoint/2010/main" val="1800562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65307B-6624-4213-B683-CFFE44F0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07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C2863-E863-439D-B318-6854EB3B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A clear request flow links the browser, Flask modules, data, and AI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577D0-A64C-4B5A-A519-078B0508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Recommendation results are derived from the user’s stored wardrobe—not from an external fashion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39693-A41A-4E94-93C0-8AE2572D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81D2A-BF72-4AC3-8CBA-11D96FA1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242A3-07ED-48A1-93A2-5C39697D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50993-08CB-483A-AE95-D5EDD37D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D4D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75385-B532-475D-86DB-7D4D3F3E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52E"/>
                </a:solidFill>
              </a:defRPr>
            </a:pPr>
            <a:r>
              <a:rPr sz="1425" b="1">
                <a:solidFill>
                  <a:srgbClr val="10152E"/>
                </a:solidFill>
              </a:rPr>
              <a:t>Browser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F7390-DCF2-427E-8F83-70450AD4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Jinja2 + 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82D2A-2491-4C57-9840-AEBE47DE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2047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DC460-C0D5-40DA-BB74-5C6E6CC4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Flask Blueprints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39352-3292-4413-8904-7F1CBE5A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auth • wardrobe • stylist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29C65-027F-41FB-844E-41DF2FEB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2047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0FCF7"/>
          </a:solidFill>
          <a:ln xmlns:a="http://schemas.openxmlformats.org/drawingml/2006/main" w="9525">
            <a:solidFill>
              <a:srgbClr val="C8F0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D25B2-2176-4AFF-8CEE-4F1246AC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479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SQLAlchemy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22E6C-D75B-407D-A577-13BF3225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52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users • wardrobe • outfits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DFB8C-4190-4DA8-8A4C-205ED54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762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E9"/>
          </a:solidFill>
          <a:ln xmlns:a="http://schemas.openxmlformats.org/drawingml/2006/main" w="9525">
            <a:solidFill>
              <a:srgbClr val="F5D9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6A0EA-1B75-4CD5-9650-8B1CB723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AI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96AE3-1A6B-4127-91AF-009F3C6E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classify • color •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808D6-DA65-4E0C-A805-6B7CD129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81250"/>
            <a:ext cx="1666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DEFF1"/>
          </a:solidFill>
          <a:ln xmlns:a="http://schemas.openxmlformats.org/drawingml/2006/main" w="9525">
            <a:solidFill>
              <a:srgbClr val="F5C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4F7C2-EA1A-4C97-BB8D-2A86195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479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A5193-0443-4460-AC32-1F44B9A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ranked outfit UI</a:t>
            </a:r>
          </a:p>
        </p:txBody>
      </p: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2905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8EE8"/>
            </a:solidFill>
            <a:prstDash val="solid"/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05375" y="2905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8EE8"/>
            </a:solidFill>
            <a:prstDash val="solid"/>
            <a:headEnd type="arrow" w="sm" len="sm"/>
          </a:ln>
        </p:spPr>
      </p:cxn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334250" y="2905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8EE8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77375" y="2905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8EE8"/>
            </a:solidFill>
            <a:prstDash val="solid"/>
            <a:head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A97CA8-A3EF-40CB-87F4-602B47BB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Persistence: MySQL when DATABASE_URL is configured; SQLite fallback for development/testing.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A5CDC-4812-480B-BD83-ED5D85CD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333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FF1"/>
          </a:solidFill>
          <a:ln xmlns:a="http://schemas.openxmlformats.org/drawingml/2006/main" w="9525">
            <a:solidFill>
              <a:srgbClr val="FDEF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F7BC6-2DC6-4529-82B2-9885A0D5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45C6B"/>
                </a:solidFill>
              </a:defRPr>
            </a:pPr>
            <a:r>
              <a:rPr sz="825" b="1">
                <a:solidFill>
                  <a:srgbClr val="E45C6B"/>
                </a:solidFill>
              </a:rPr>
              <a:t>No external recommendation API</a:t>
            </a:r>
          </a:p>
        </p:txBody>
      </p:sp>
    </p:spTree>
    <p:extLst>
      <p:ext uri="{BB962C8B-B14F-4D97-AF65-F5344CB8AC3E}">
        <p14:creationId xmlns:p14="http://schemas.microsoft.com/office/powerpoint/2010/main" val="21288886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566A9-A530-471A-9A27-9551B7FC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08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FDFCE-367B-4ECE-AD32-DB59067A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The dataset is mapped to six categories; the database persists nine actual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026E8-CD43-44E9-AE70-C6113926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The dataset is top-heavy, while the schema supports wardrobe, feedback, planning and custom outfits.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AD363-0F05-4855-8CA3-B299EFC9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40B5E-4224-4606-A996-6996D59F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582D0-BFEE-4E7B-96C5-5C4DBD88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C2EC3-20FB-4271-B316-3040560F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Mapped dataset: 5,096 of 5,403 CSV annotations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E0650-0C1E-4AA3-A1B8-737377B1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3A"/>
                </a:solidFill>
              </a:defRPr>
            </a:pPr>
            <a:r>
              <a:rPr sz="975" b="1">
                <a:solidFill>
                  <a:srgbClr val="20243A"/>
                </a:solidFill>
              </a:rPr>
              <a:t>Tops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4357B-37B0-49E6-9772-D13C08FC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2667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54E8"/>
          </a:solidFill>
          <a:ln xmlns:a="http://schemas.openxmlformats.org/drawingml/2006/main" w="9525">
            <a:solidFill>
              <a:srgbClr val="695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C1DC2-2B50-4A7B-B833-1BA60B2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2461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BBE64-07EB-4481-92B7-B72630E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3A"/>
                </a:solidFill>
              </a:defRPr>
            </a:pPr>
            <a:r>
              <a:rPr sz="975" b="1">
                <a:solidFill>
                  <a:srgbClr val="20243A"/>
                </a:solidFill>
              </a:rPr>
              <a:t>Bottoms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AC56B-4855-4A5B-8426-DD3C496D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14600"/>
            <a:ext cx="125168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2F7"/>
          </a:solidFill>
          <a:ln xmlns:a="http://schemas.openxmlformats.org/drawingml/2006/main" w="9525">
            <a:solidFill>
              <a:srgbClr val="3E82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0F761-864F-4ABC-870F-E781F822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1155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FCC70-7A06-46CD-B9A3-2E081C89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3A"/>
                </a:solidFill>
              </a:defRPr>
            </a:pPr>
            <a:r>
              <a:rPr sz="975" b="1">
                <a:solidFill>
                  <a:srgbClr val="20243A"/>
                </a:solidFill>
              </a:rPr>
              <a:t>Outerwear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10B21-F457-49FB-B2AE-2C4522C0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564611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483"/>
          </a:solidFill>
          <a:ln xmlns:a="http://schemas.openxmlformats.org/drawingml/2006/main" w="9525">
            <a:solidFill>
              <a:srgbClr val="23C4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D63A9-7FDD-4224-B0CA-DBF295B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521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CC339-48BF-493A-82EC-03039DFD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3A"/>
                </a:solidFill>
              </a:defRPr>
            </a:pPr>
            <a:r>
              <a:rPr sz="975" b="1">
                <a:solidFill>
                  <a:srgbClr val="20243A"/>
                </a:solidFill>
              </a:rPr>
              <a:t>Shoes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70A2F-5028-4DDA-85A1-04085CF8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467077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524"/>
          </a:solidFill>
          <a:ln xmlns:a="http://schemas.openxmlformats.org/drawingml/2006/main" w="9525">
            <a:solidFill>
              <a:srgbClr val="F5A5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9A1AE-C970-4276-9B29-537A42D9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431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EBB97-CB27-40DB-B92A-36649EEB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3A"/>
                </a:solidFill>
              </a:defRPr>
            </a:pPr>
            <a:r>
              <a:rPr sz="975" b="1">
                <a:solidFill>
                  <a:srgbClr val="20243A"/>
                </a:solidFill>
              </a:rPr>
              <a:t>Dresses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3B329-1D0B-470A-A74F-A5809C0F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386883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67AA"/>
          </a:solidFill>
          <a:ln xmlns:a="http://schemas.openxmlformats.org/drawingml/2006/main" w="9525">
            <a:solidFill>
              <a:srgbClr val="D667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26D39-15E9-4E8C-A67B-0C4E3422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357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A6C91-B114-4F5B-9CCD-087655F8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3A"/>
                </a:solidFill>
              </a:defRPr>
            </a:pPr>
            <a:r>
              <a:rPr sz="975" b="1">
                <a:solidFill>
                  <a:srgbClr val="20243A"/>
                </a:solidFill>
              </a:rPr>
              <a:t>Accessories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45DE3-EB19-4534-BA32-7F0A857A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14800"/>
            <a:ext cx="185314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C6B"/>
          </a:solidFill>
          <a:ln xmlns:a="http://schemas.openxmlformats.org/drawingml/2006/main" w="9525">
            <a:solidFill>
              <a:srgbClr val="E45C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8FDBE-759D-4DEF-809B-CC1EA2B7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171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3F220-8CD8-41C0-84FA-7777C56E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24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Actual relational tables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F0685-065A-4DD3-9C5A-1A582C01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B32FF-3E2F-46F0-8D89-FBD74DF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02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users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5DF66-AC36-4293-B322-30CDDC0F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A51E4F-FFB0-49E8-8849-E5855DF4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02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clothing_items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48B427-DF95-4803-992F-1697485D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02339-1A0E-4D0E-B9E1-28B52FAF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02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outfits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3609B-4289-491E-8EC4-363640B2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21592-BF43-4813-90DD-4D821B4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outfit_items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032A2F-8B0B-4546-89F2-B28CFE2A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951AFB-21ED-4C71-9BE1-2CE3F649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weekly_plans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456E12-65FC-467F-9AC6-C781BA81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9B569A-DA0A-44AA-ABAC-AE945885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user_preferences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47565F-D870-419D-8C36-1735F351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C07FB9-A4E7-451D-9EC4-8F3D135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48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outfit_feedback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10DF28-DE09-4F6A-965C-4B1AE6C8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9087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4B7FE6-32A0-4A29-8527-FAB02E9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48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custom_outfits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7C06F4-0750-43BE-9D95-316BE588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9087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4FEF28-9BA3-4B5B-BE16-AF0614DF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48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243A"/>
                </a:solidFill>
              </a:defRPr>
            </a:pPr>
            <a:r>
              <a:rPr sz="825" b="1">
                <a:solidFill>
                  <a:srgbClr val="20243A"/>
                </a:solidFill>
              </a:rPr>
              <a:t>custom_outfit_items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A14C1E-3833-4269-A3C4-7E9C132C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Excluded labels: Not sure 228 • Other 67 • Skip 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269DEC-B7E0-442E-8943-778BD105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5C6B"/>
                </a:solidFill>
              </a:defRPr>
            </a:pPr>
            <a:r>
              <a:rPr sz="975" b="1">
                <a:solidFill>
                  <a:srgbClr val="E45C6B"/>
                </a:solidFill>
              </a:rPr>
              <a:t>No user_profiles, preferences, or recommendations table exists.</a:t>
            </a:r>
          </a:p>
        </p:txBody>
      </p:sp>
    </p:spTree>
    <p:extLst>
      <p:ext uri="{BB962C8B-B14F-4D97-AF65-F5344CB8AC3E}">
        <p14:creationId xmlns:p14="http://schemas.microsoft.com/office/powerpoint/2010/main" val="249396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B506D-C0EC-4BE0-9C37-26B32CF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09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4388C-2A1A-4E14-8CDF-97EB35E0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Local image upload follows a resilient classification and colour-analysis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46BBA-31F3-4E9E-A3C7-27B94364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The user can review and apply suggestions; category replacement is not automatic on save.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1F4F5-8AA6-4EDD-BA95-E6A26F77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13351-06F4-4D5B-BE4F-A1F305CF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6E7B2-5E68-4BC7-870E-ED685F71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88971-D681-4A9A-A1FD-16E11074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190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130BC-2C78-460D-9BF0-13E8C412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4E8"/>
                </a:solidFill>
              </a:defRPr>
            </a:pPr>
            <a:r>
              <a:rPr sz="975" b="1">
                <a:solidFill>
                  <a:srgbClr val="6954E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FFA8E-EE23-466A-A67F-65E79715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FED93-A9C4-4EB7-8E7A-157CC5AE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Validate type, secure filename, UUID 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225AA-0E00-4491-9880-F0161002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2190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EB2E9-6856-4372-8ACD-9B9C2002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71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4E8"/>
                </a:solidFill>
              </a:defRPr>
            </a:pPr>
            <a:r>
              <a:rPr sz="975" b="1">
                <a:solidFill>
                  <a:srgbClr val="6954E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49CAE-7DCB-4531-90F6-F8394CE7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5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Classify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0DE8D-5D19-476D-9CA0-AF1D98B6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Fine-tuned MobileNetV2; ImageNet, CV and fixed fallbacks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7271A-A667-49B7-BB20-1A8CC969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2190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CD3FC-3E46-4387-8340-04D0BAE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4E8"/>
                </a:solidFill>
              </a:defRPr>
            </a:pPr>
            <a:r>
              <a:rPr sz="975" b="1">
                <a:solidFill>
                  <a:srgbClr val="6954E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7BEB8-FAB9-43CD-838C-EFFC0E99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05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Detect colour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6FB15-A6E2-4BA1-93E1-C005D07B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Center crop, background mask, K-Means (k=3), nearest named colour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ACAC2-B1B9-47C3-8B7A-5F0A385B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190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41DC9-B6C3-4A21-874E-D978715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54E8"/>
                </a:solidFill>
              </a:defRPr>
            </a:pPr>
            <a:r>
              <a:rPr sz="975" b="1">
                <a:solidFill>
                  <a:srgbClr val="6954E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343A7-A233-4639-A858-C0A826F2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05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Persist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360C0-FBF1-4A4E-91B6-71EFC6BA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Store image metadata, confidence and detected hex</a:t>
            </a:r>
          </a:p>
        </p:txBody>
      </p: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57500" y="311943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9AEB"/>
            </a:solidFill>
            <a:prstDash val="solid"/>
            <a:headEnd type="arrow" w="sm" len="sm"/>
          </a:ln>
        </p:spPr>
      </p:cxnSp>
      <p:cxnSp>
        <p:nvCxnSpPr>
          <p:cNvPr id="6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43550" y="311943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9AEB"/>
            </a:solidFill>
            <a:prstDash val="solid"/>
            <a:headEnd type="arrow" w="sm" len="sm"/>
          </a:ln>
        </p:spPr>
      </p:cxnSp>
      <p:cxnSp>
        <p:nvCxnSpPr>
          <p:cNvPr id="6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229600" y="311943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9AEB"/>
            </a:solidFill>
            <a:prstDash val="solid"/>
            <a:head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CB807-7FB8-4FAF-8F40-B77F522E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3333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92FA6-10C1-4AA7-95E2-DC0A9851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4E8"/>
          </a:solidFill>
          <a:ln xmlns:a="http://schemas.openxmlformats.org/drawingml/2006/main" w="0">
            <a:solidFill>
              <a:srgbClr val="6954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0C332F-0AEC-4C82-9D2A-34F98D48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Classifier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D0400-5FA9-42A3-B607-F4E9116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Category, default clothing type, confidence, source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09FF7-2A1C-43E7-BCCD-9E30EC47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3333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B55C5-F8F3-4A7D-81DE-B7DDB6EA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483"/>
          </a:solidFill>
          <a:ln xmlns:a="http://schemas.openxmlformats.org/drawingml/2006/main" w="0">
            <a:solidFill>
              <a:srgbClr val="23C4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EE6BFF-F529-4B7F-A0C7-B9B4E68A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815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Colour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F15572-D073-4AFA-8490-7FE26236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43500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Dominant RGB, nearest hex and named colour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FE783C-0367-42FA-B3ED-78AF195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3333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372B6-81A9-40F0-8BD9-D48A2CA8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E13F5C-4A81-470A-A931-F6A40556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815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Human control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D20F3B-8F91-44FE-805F-EAD0FB19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Form allows manual category/type/color correction</a:t>
            </a:r>
          </a:p>
        </p:txBody>
      </p:sp>
    </p:spTree>
    <p:extLst>
      <p:ext uri="{BB962C8B-B14F-4D97-AF65-F5344CB8AC3E}">
        <p14:creationId xmlns:p14="http://schemas.microsoft.com/office/powerpoint/2010/main" val="604945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6C328-F97C-49E1-8239-8407ED2D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010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2B705-8CDB-4ADE-B732-D32E52E3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The AI Stylist ranks viable wardrobe combinations with transparent weighted scoring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F6605-3E4C-4C6F-9586-0F692204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Only available items are considered; pinned items must all appear in a returned combination.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9ED55-9E2F-4D94-970A-B3DD939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C8A5D-3FB2-4218-BFCF-BDE9CB3D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AFECE-4812-4D29-9DD6-BE53E19B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5E1D4-17E7-4F3B-AF8B-0F0F79D3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E2DDF-6743-4DD9-ACBB-965F713B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Available wardrobe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F2ED7-FB12-4663-B3FC-7F69945B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Exclude laundry 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08DA9-2D1B-4055-A625-73FA6CEF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3927B-C295-4B63-8812-1D1E8062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38375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Filter &amp; combine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937D0-9066-4715-A946-62B68E36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193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Season / occasion; top+bottom or dress; optional shoes/extras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CD479-D8F6-4E4D-9EEA-AC6E18C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D099D-D0B0-419B-8E22-83AC5238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9EF5-F4EC-4A94-A70B-F44CFB62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Seven weighted components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15FC1-2573-450C-92EB-BAE12049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FFAAA-CE85-4967-95B6-D9B70D08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38375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Rank &amp; 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2E87B-142B-4FFD-9E16-C358FE7E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193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Top 3, breakdown, feedback actions</a:t>
            </a:r>
          </a:p>
        </p:txBody>
      </p:sp>
      <p:cxnSp>
        <p:nvCxnSpPr>
          <p:cNvPr id="6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57500" y="25717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9AEB"/>
            </a:solidFill>
            <a:prstDash val="solid"/>
            <a:headEnd type="arrow" w="sm" len="sm"/>
          </a:ln>
        </p:spPr>
      </p:cxnSp>
      <p:cxnSp>
        <p:nvCxnSpPr>
          <p:cNvPr id="6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572125" y="25717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9AEB"/>
            </a:solidFill>
            <a:prstDash val="solid"/>
            <a:headEnd type="arrow" w="sm" len="sm"/>
          </a:ln>
        </p:spPr>
      </p:cxnSp>
      <p:cxnSp>
        <p:nvCxnSpPr>
          <p:cNvPr id="64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286750" y="25717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9AEB"/>
            </a:solidFill>
            <a:prstDash val="solid"/>
            <a:head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B3C74-FBE1-4EA0-8CF5-E77FB90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3A"/>
                </a:solidFill>
              </a:defRPr>
            </a:pPr>
            <a:r>
              <a:rPr sz="900" b="1">
                <a:solidFill>
                  <a:srgbClr val="20243A"/>
                </a:solidFill>
              </a:rPr>
              <a:t>Color harmony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99F4E-9B80-45B8-AEFC-FF153520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33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6954E8"/>
          </a:solidFill>
          <a:ln xmlns:a="http://schemas.openxmlformats.org/drawingml/2006/main" w="9525">
            <a:solidFill>
              <a:srgbClr val="695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44C73-3544-4BDC-A5D9-C14A5AC3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954E8"/>
                </a:solidFill>
              </a:defRPr>
            </a:pPr>
            <a:r>
              <a:rPr sz="1200" b="1">
                <a:solidFill>
                  <a:srgbClr val="6954E8"/>
                </a:solidFill>
              </a:rPr>
              <a:t>25%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2EF52-486F-4010-B862-9675EF0F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052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3A"/>
                </a:solidFill>
              </a:defRPr>
            </a:pPr>
            <a:r>
              <a:rPr sz="900" b="1">
                <a:solidFill>
                  <a:srgbClr val="20243A"/>
                </a:solidFill>
              </a:rPr>
              <a:t>Category balance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3BAF3-B0FC-4428-9E08-B13AF744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62450"/>
            <a:ext cx="133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E82F7"/>
          </a:solidFill>
          <a:ln xmlns:a="http://schemas.openxmlformats.org/drawingml/2006/main" w="9525">
            <a:solidFill>
              <a:srgbClr val="3E82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D815C-0522-4236-B612-6E991631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29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E82F7"/>
                </a:solidFill>
              </a:defRPr>
            </a:pPr>
            <a:r>
              <a:rPr sz="1200" b="1">
                <a:solidFill>
                  <a:srgbClr val="3E82F7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9E7A8-8408-4838-8470-C680BA0D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052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3A"/>
                </a:solidFill>
              </a:defRPr>
            </a:pPr>
            <a:r>
              <a:rPr sz="900" b="1">
                <a:solidFill>
                  <a:srgbClr val="20243A"/>
                </a:solidFill>
              </a:rPr>
              <a:t>Occasion match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4FB25C-6B6D-42FA-A4FA-06456F17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133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3C483"/>
          </a:solidFill>
          <a:ln xmlns:a="http://schemas.openxmlformats.org/drawingml/2006/main" w="9525">
            <a:solidFill>
              <a:srgbClr val="23C4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F9322-4744-479F-997E-E939E0D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29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C483"/>
                </a:solidFill>
              </a:defRPr>
            </a:pPr>
            <a:r>
              <a:rPr sz="1200" b="1">
                <a:solidFill>
                  <a:srgbClr val="23C483"/>
                </a:solidFill>
              </a:rPr>
              <a:t>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C7EF8-C429-4827-84A7-D62545D0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052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3A"/>
                </a:solidFill>
              </a:defRPr>
            </a:pPr>
            <a:r>
              <a:rPr sz="900" b="1">
                <a:solidFill>
                  <a:srgbClr val="20243A"/>
                </a:solidFill>
              </a:rPr>
              <a:t>Season match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8FEA22-0CB2-48B7-A8C4-A368EA7E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62450"/>
            <a:ext cx="1333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A524"/>
          </a:solidFill>
          <a:ln xmlns:a="http://schemas.openxmlformats.org/drawingml/2006/main" w="9525">
            <a:solidFill>
              <a:srgbClr val="F5A5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04FA15-4B63-49AB-AA5C-8F54226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29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A524"/>
                </a:solidFill>
              </a:defRPr>
            </a:pPr>
            <a:r>
              <a:rPr sz="1200" b="1">
                <a:solidFill>
                  <a:srgbClr val="F5A524"/>
                </a:solidFill>
              </a:rPr>
              <a:t>15%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26D45F-E6DD-44C3-8925-471AB7ED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3A"/>
                </a:solidFill>
              </a:defRPr>
            </a:pPr>
            <a:r>
              <a:rPr sz="900" b="1">
                <a:solidFill>
                  <a:srgbClr val="20243A"/>
                </a:solidFill>
              </a:rPr>
              <a:t>Preferences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65BF08-71D1-44D0-8947-DFDB0465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133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667AA"/>
          </a:solidFill>
          <a:ln xmlns:a="http://schemas.openxmlformats.org/drawingml/2006/main" w="9525">
            <a:solidFill>
              <a:srgbClr val="D667A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B3208-A380-4C6F-BBED-23595337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29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67AA"/>
                </a:solidFill>
              </a:defRPr>
            </a:pPr>
            <a:r>
              <a:rPr sz="1200" b="1">
                <a:solidFill>
                  <a:srgbClr val="D667AA"/>
                </a:solidFill>
              </a:rPr>
              <a:t>12%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BBC0EF-1446-45EF-AD84-9051B10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3A"/>
                </a:solidFill>
              </a:defRPr>
            </a:pPr>
            <a:r>
              <a:rPr sz="900" b="1">
                <a:solidFill>
                  <a:srgbClr val="20243A"/>
                </a:solidFill>
              </a:rPr>
              <a:t>Novelty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D386AD-1A13-4D2C-901C-DD0ED64E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C6B"/>
          </a:solidFill>
          <a:ln xmlns:a="http://schemas.openxmlformats.org/drawingml/2006/main" w="9525">
            <a:solidFill>
              <a:srgbClr val="E45C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1A9EA7-A432-4A8C-9FFF-026404CD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29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C6B"/>
                </a:solidFill>
              </a:defRPr>
            </a:pPr>
            <a:r>
              <a:rPr sz="1200" b="1">
                <a:solidFill>
                  <a:srgbClr val="E45C6B"/>
                </a:solidFill>
              </a:rPr>
              <a:t>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8758DF-DAB0-4EB3-A506-5165D72E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052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43A"/>
                </a:solidFill>
              </a:defRPr>
            </a:pPr>
            <a:r>
              <a:rPr sz="900" b="1">
                <a:solidFill>
                  <a:srgbClr val="20243A"/>
                </a:solidFill>
              </a:rPr>
              <a:t>Favorites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469457-0C3B-497E-A439-A108D867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6245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879C"/>
          </a:solidFill>
          <a:ln xmlns:a="http://schemas.openxmlformats.org/drawingml/2006/main" w="9525">
            <a:solidFill>
              <a:srgbClr val="7C879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6B635E-624F-4EA0-A1BF-836152E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29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79C"/>
                </a:solidFill>
              </a:defRPr>
            </a:pPr>
            <a:r>
              <a:rPr sz="1200" b="1">
                <a:solidFill>
                  <a:srgbClr val="7C879C"/>
                </a:solidFill>
              </a:rPr>
              <a:t>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AF42D1-A847-4170-BEA8-3083BD4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Preference feedback: likes/favorites add colours and styles; disliked outfit items are avoided when viable alternatives exist.</a:t>
            </a:r>
          </a:p>
        </p:txBody>
      </p:sp>
    </p:spTree>
    <p:extLst>
      <p:ext uri="{BB962C8B-B14F-4D97-AF65-F5344CB8AC3E}">
        <p14:creationId xmlns:p14="http://schemas.microsoft.com/office/powerpoint/2010/main" val="1012829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06EA1-2523-410B-83A8-B0017B53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011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39C71-820C-49EA-B170-89D4E31E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Major modules turn stored wardrobe data into usable daily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271D3-5334-4ADD-AD8F-872B78FD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The current system is modular rather than a single monolithic route 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A1252-6CFC-4644-97CB-B3D95576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18DE0-5965-4671-9341-906B923A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A3CA3-E3DA-467A-B76F-6BADE199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C8FFF-D127-4B0D-A0A6-9EEFCA8A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6FB26-EB9D-46B9-B04C-FEBF0472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4E8"/>
          </a:solidFill>
          <a:ln xmlns:a="http://schemas.openxmlformats.org/drawingml/2006/main" w="0">
            <a:solidFill>
              <a:srgbClr val="695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EC6F3-7612-40D7-9F7C-28DDDE0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4C6FD-627F-43F7-8298-4B00FFD0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933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Register, login, logout, safe redirect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B9AEF-3908-4438-8C3B-069D6EC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84A6E-66D2-47CA-8B27-9E65B70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2F7"/>
          </a:solidFill>
          <a:ln xmlns:a="http://schemas.openxmlformats.org/drawingml/2006/main" w="0">
            <a:solidFill>
              <a:srgbClr val="3E82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6A87D-DE82-4DEB-9396-549FE155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621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Wardrobe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DFBD3-1A92-4A43-9B1D-7987F5DE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24125"/>
            <a:ext cx="2933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CRUD, upload, search, favorites, wears, laundry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BD29B-825B-4369-9E39-568928D8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A7D61-BCC4-440A-BEDF-94CF9E27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483"/>
          </a:solidFill>
          <a:ln xmlns:a="http://schemas.openxmlformats.org/drawingml/2006/main" w="0">
            <a:solidFill>
              <a:srgbClr val="23C4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D7BD0-443F-4D9F-8088-93474CCC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621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AI Stylist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1D614-9F7C-42DA-9FA4-68083A93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2933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Pinned item selection, scoring, explanations,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A0333-23CC-45BC-8824-4A7A5D42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5781B-90E9-4F6A-9AC6-4FDDAC55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8B310-2C77-483C-B4E4-11143550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Outfits &amp; Planner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935A3-C384-43E0-81B1-9D5EE658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933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Save ranked outfits, seven-day plan, custom outfit creation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16BC2-3453-43DE-859E-34721723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623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5B750-F41F-4D63-9837-306460D7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6237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AA"/>
          </a:solidFill>
          <a:ln xmlns:a="http://schemas.openxmlformats.org/drawingml/2006/main" w="0">
            <a:solidFill>
              <a:srgbClr val="D667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BE75E-F30F-4E14-990C-260D673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719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Analytics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EF4C1-3520-4C4D-AABC-3E3B586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33875"/>
            <a:ext cx="2933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Usage, category/season/color splits, utilization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11971-21ED-440D-9CDF-09801AA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23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EF92C-85B9-4037-8BAD-D960E1D9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237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C6B"/>
          </a:solidFill>
          <a:ln xmlns:a="http://schemas.openxmlformats.org/drawingml/2006/main" w="0">
            <a:solidFill>
              <a:srgbClr val="E45C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E5F42D-3A99-4A53-AB8A-EC71C5E3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719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Profile &amp; Preferences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E6EE5-B991-428D-B7AC-5282C6D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2933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Bio, password, avatar, style/occasion/season preferences</a:t>
            </a:r>
          </a:p>
        </p:txBody>
      </p:sp>
    </p:spTree>
    <p:extLst>
      <p:ext uri="{BB962C8B-B14F-4D97-AF65-F5344CB8AC3E}">
        <p14:creationId xmlns:p14="http://schemas.microsoft.com/office/powerpoint/2010/main" val="837417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CF0EB-D712-4353-A461-57AFC7B7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012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A7585-4D72-407F-A465-89F19E74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The classifier reaches 89.19% final test accuracy on the recorded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BB7C2-803C-44AD-8A1F-2E580F3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Validation peaked at 91.88%; class support imbalance should be considered when interpreting per-class scores.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D3FF3-4832-479E-9699-B75A63BB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CF1FD-04FF-4EAA-B87A-900EE76D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9C8E8-FE7E-472C-96BB-46AE66AF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5AC7F-6AAB-47F6-B924-D4E65C0C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EAFB9-3414-41B2-A721-AD2CD991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145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954E8"/>
                </a:solidFill>
              </a:defRPr>
            </a:pPr>
            <a:r>
              <a:rPr sz="3150" b="1">
                <a:solidFill>
                  <a:srgbClr val="6954E8"/>
                </a:solidFill>
              </a:rPr>
              <a:t>89.19%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96FBE-6327-4081-8006-2B5C7C9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43A"/>
                </a:solidFill>
              </a:defRPr>
            </a:pPr>
            <a:r>
              <a:rPr sz="1200" b="1">
                <a:solidFill>
                  <a:srgbClr val="20243A"/>
                </a:solidFill>
              </a:rPr>
              <a:t>Final test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4762-1B3B-4C15-AC5E-5FF5F04A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67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509 test images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854B2-7F3C-4E95-BD4A-426C04CB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288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00B36-CE1E-4100-9B35-88FC918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C483"/>
                </a:solidFill>
              </a:defRPr>
            </a:pPr>
            <a:r>
              <a:rPr sz="3150" b="1">
                <a:solidFill>
                  <a:srgbClr val="23C483"/>
                </a:solidFill>
              </a:rPr>
              <a:t>91.88%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A0D23-46D3-44F6-8D1C-A730B92C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43A"/>
                </a:solidFill>
              </a:defRPr>
            </a:pPr>
            <a:r>
              <a:rPr sz="1200" b="1">
                <a:solidFill>
                  <a:srgbClr val="20243A"/>
                </a:solidFill>
              </a:rPr>
              <a:t>Best validation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07421-73C0-4215-B74D-3FB363D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Epoch 12 of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20D7C-9FE4-4DFD-92AA-910BE538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52E"/>
                </a:solidFill>
              </a:defRPr>
            </a:pPr>
            <a:r>
              <a:rPr sz="1200" b="1">
                <a:solidFill>
                  <a:srgbClr val="10152E"/>
                </a:solidFill>
              </a:rPr>
              <a:t>Per-class F1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6CF63-50B0-4ABA-A954-BCC44CF4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3A"/>
                </a:solidFill>
              </a:defRPr>
            </a:pPr>
            <a:r>
              <a:rPr sz="900" b="0">
                <a:solidFill>
                  <a:srgbClr val="20243A"/>
                </a:solidFill>
              </a:rPr>
              <a:t>Accessories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94AD3-2BA0-416F-9F0E-37B9A791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521303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54E8"/>
          </a:solidFill>
          <a:ln xmlns:a="http://schemas.openxmlformats.org/drawingml/2006/main" w="9525">
            <a:solidFill>
              <a:srgbClr val="695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6444A-3931-47CE-94CE-708FDB8D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0.842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7C5B3-536E-40D0-9015-83B2E377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3A"/>
                </a:solidFill>
              </a:defRPr>
            </a:pPr>
            <a:r>
              <a:rPr sz="900" b="0">
                <a:solidFill>
                  <a:srgbClr val="20243A"/>
                </a:solidFill>
              </a:rPr>
              <a:t>Bottoms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373D9-6E97-4247-933C-092FF532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86300"/>
            <a:ext cx="5838349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54E8"/>
          </a:solidFill>
          <a:ln xmlns:a="http://schemas.openxmlformats.org/drawingml/2006/main" w="9525">
            <a:solidFill>
              <a:srgbClr val="695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9F1EE-F51A-4EC6-AE95-48344376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0.943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DA065-3F88-41FF-BDED-A23274F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3A"/>
                </a:solidFill>
              </a:defRPr>
            </a:pPr>
            <a:r>
              <a:rPr sz="900" b="0">
                <a:solidFill>
                  <a:srgbClr val="20243A"/>
                </a:solidFill>
              </a:rPr>
              <a:t>Dresses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7960B-357D-4BAE-826F-2DD0E84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4488656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54E8"/>
          </a:solidFill>
          <a:ln xmlns:a="http://schemas.openxmlformats.org/drawingml/2006/main" w="9525">
            <a:solidFill>
              <a:srgbClr val="695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CAFB0-105A-4C85-8F9D-912F9FE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0.725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615F3-BEB6-4574-87C7-1BC920FF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3A"/>
                </a:solidFill>
              </a:defRPr>
            </a:pPr>
            <a:r>
              <a:rPr sz="900" b="0">
                <a:solidFill>
                  <a:srgbClr val="20243A"/>
                </a:solidFill>
              </a:rPr>
              <a:t>Outerwear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C7240-E8BA-49A1-A602-E0832495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452580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54E8"/>
          </a:solidFill>
          <a:ln xmlns:a="http://schemas.openxmlformats.org/drawingml/2006/main" w="9525">
            <a:solidFill>
              <a:srgbClr val="695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C6B3A-0670-4334-9177-C578825B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0.731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C7093-3B2D-4D22-9809-A19F987D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3A"/>
                </a:solidFill>
              </a:defRPr>
            </a:pPr>
            <a:r>
              <a:rPr sz="900" b="0">
                <a:solidFill>
                  <a:srgbClr val="20243A"/>
                </a:solidFill>
              </a:rPr>
              <a:t>Shoes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AD25D-5DE5-4000-B30F-BECC6A8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600551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483"/>
          </a:solidFill>
          <a:ln xmlns:a="http://schemas.openxmlformats.org/drawingml/2006/main" w="9525">
            <a:solidFill>
              <a:srgbClr val="23C4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EA12C-9540-4E92-A8DA-71649C92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0.970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36178C-65F0-495F-8734-27FC55B7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3A"/>
                </a:solidFill>
              </a:defRPr>
            </a:pPr>
            <a:r>
              <a:rPr sz="900" b="0">
                <a:solidFill>
                  <a:srgbClr val="20243A"/>
                </a:solidFill>
              </a:rPr>
              <a:t>Tops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B32A16-D179-446A-9650-073EEF9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564642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54E8"/>
          </a:solidFill>
          <a:ln xmlns:a="http://schemas.openxmlformats.org/drawingml/2006/main" w="9525">
            <a:solidFill>
              <a:srgbClr val="6954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A8040-9FE8-401E-BFB2-2220BC31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1025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0.912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FB2EE-30B0-431A-BFBA-A00E1A1D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Evaluation source: app/services/model_evaluation.json</a:t>
            </a:r>
          </a:p>
        </p:txBody>
      </p:sp>
    </p:spTree>
    <p:extLst>
      <p:ext uri="{BB962C8B-B14F-4D97-AF65-F5344CB8AC3E}">
        <p14:creationId xmlns:p14="http://schemas.microsoft.com/office/powerpoint/2010/main" val="13628854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651A8D-9FC0-4DE3-B60B-82EBB67D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013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16B44-84CE-4206-996E-1E4611DF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Healthy project screens show the wardrobe-to-recommendation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D54F3-C985-41B8-90D4-A4B301C3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Only functioning application captures are shown; error/debug screenshots are intentionally excluded.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ED844-1550-44A5-9F45-4C0C31ED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C69CE-F0ED-4817-9BA0-665A953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95465-A953-4962-B7E0-686EB9B3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13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83b3bb31f4409"/>
          <a:stretch xmlns:a="http://schemas.openxmlformats.org/drawingml/2006/main"/>
        </p:blipFill>
        <p:spPr>
          <a:xfrm xmlns:a="http://schemas.openxmlformats.org/drawingml/2006/main">
            <a:off x="666750" y="2292850"/>
            <a:ext cx="3333750" cy="2034174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23c23ef324e2d"/>
          <a:stretch xmlns:a="http://schemas.openxmlformats.org/drawingml/2006/main"/>
        </p:blipFill>
        <p:spPr>
          <a:xfrm xmlns:a="http://schemas.openxmlformats.org/drawingml/2006/main">
            <a:off x="4429125" y="2274652"/>
            <a:ext cx="3333750" cy="2070571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f5d6f5f664c59"/>
          <a:stretch xmlns:a="http://schemas.openxmlformats.org/drawingml/2006/main"/>
        </p:blipFill>
        <p:spPr>
          <a:xfrm xmlns:a="http://schemas.openxmlformats.org/drawingml/2006/main">
            <a:off x="8191500" y="2273024"/>
            <a:ext cx="3333750" cy="2073827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CE1A7-6B43-45F6-B729-3725156E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52E"/>
                </a:solidFill>
              </a:defRPr>
            </a:pPr>
            <a:r>
              <a:rPr sz="1125" b="1">
                <a:solidFill>
                  <a:srgbClr val="10152E"/>
                </a:solidFill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C72DF-8294-47C6-A377-1B2E482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72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52E"/>
                </a:solidFill>
              </a:defRPr>
            </a:pPr>
            <a:r>
              <a:rPr sz="1125" b="1">
                <a:solidFill>
                  <a:srgbClr val="10152E"/>
                </a:solidFill>
              </a:rPr>
              <a:t>Scored recommendation breakdown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36E91-950A-44F8-901D-40CD65B2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52E"/>
                </a:solidFill>
              </a:defRPr>
            </a:pPr>
            <a:r>
              <a:rPr sz="1125" b="1">
                <a:solidFill>
                  <a:srgbClr val="10152E"/>
                </a:solidFill>
              </a:rPr>
              <a:t>Unified AI Stylist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991D1-08B5-4CB6-9CD5-DAC239F0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3000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9F1"/>
          </a:solidFill>
          <a:ln xmlns:a="http://schemas.openxmlformats.org/drawingml/2006/main" w="9525">
            <a:solidFill>
              <a:srgbClr val="E9F9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0E4B4-D663-483B-B8A3-948630F5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3000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7B55"/>
                </a:solidFill>
              </a:defRPr>
            </a:pPr>
            <a:r>
              <a:rPr sz="825" b="1">
                <a:solidFill>
                  <a:srgbClr val="147B55"/>
                </a:solidFill>
              </a:rPr>
              <a:t>Real UI captures from the project workspace</a:t>
            </a:r>
          </a:p>
        </p:txBody>
      </p:sp>
    </p:spTree>
    <p:extLst>
      <p:ext uri="{BB962C8B-B14F-4D97-AF65-F5344CB8AC3E}">
        <p14:creationId xmlns:p14="http://schemas.microsoft.com/office/powerpoint/2010/main" val="6257050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A7228-AA5B-4E19-BB07-5ED707E3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014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86053-EB00-4F6F-A2F6-E1A7101A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Wearlytics demonstrates an integrated, explainable smart-wardrobe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2AA5F-73CC-4964-8296-FC8D75B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The next stage is to strengthen evaluation, reliability and personalization without overstating the current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6D023-0870-457F-A219-0C6DB25B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9659C-F88F-438B-9E07-C86A740B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F8301-647B-44FC-A79B-3BEDCAD9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00DCE-3781-49BF-BF86-F0A8BC3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191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5EA89-2A03-48C2-815C-B0C132AC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483"/>
          </a:solidFill>
          <a:ln xmlns:a="http://schemas.openxmlformats.org/drawingml/2006/main" w="0">
            <a:solidFill>
              <a:srgbClr val="23C4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5BE87-5CBD-4807-809B-4F22CA3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Delivered in this interim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C7C35-4CDD-468F-8F88-3AF3EFFF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47910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Authenticated wardrobe management, image-assisted metadata, weighted recommendations, feedback, planner, laundry state, analytics and passing integration suites.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4EDFB-980C-4057-8BF0-A5DE6A05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191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22402-B1D4-493D-9669-36EAE557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441F5-0EC9-4C3F-86BF-86C110F2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621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2E"/>
                </a:solidFill>
              </a:defRPr>
            </a:pPr>
            <a:r>
              <a:rPr sz="1350" b="1">
                <a:solidFill>
                  <a:srgbClr val="10152E"/>
                </a:solidFill>
              </a:rPr>
              <a:t>Future enhancement priorities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1315A-835B-4FF0-9AD7-A746B610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24125"/>
            <a:ext cx="47910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Reproducible dataset organization; full wear-event history; robust preference toggles; fixed custom-outfit editing; calibrated classifier evaluation; notifications, deployment and mobile access.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739B6-499F-43DE-8EAB-432A08EA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54E8"/>
                </a:solidFill>
              </a:defRPr>
            </a:pPr>
            <a:r>
              <a:rPr sz="1125" b="1">
                <a:solidFill>
                  <a:srgbClr val="6954E8"/>
                </a:solidFill>
              </a:rPr>
              <a:t>Key 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C01FF-6080-432F-B803-C683C94C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52E"/>
                </a:solidFill>
              </a:defRPr>
            </a:pPr>
            <a:r>
              <a:rPr sz="1725" b="1">
                <a:solidFill>
                  <a:srgbClr val="10152E"/>
                </a:solidFill>
              </a:rPr>
              <a:t>The project is a working Flask-based smart wardrobe system with measurable image-classification performance and transparent recommendation logic.</a:t>
            </a:r>
          </a:p>
        </p:txBody>
      </p:sp>
    </p:spTree>
    <p:extLst>
      <p:ext uri="{BB962C8B-B14F-4D97-AF65-F5344CB8AC3E}">
        <p14:creationId xmlns:p14="http://schemas.microsoft.com/office/powerpoint/2010/main" val="20931537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3DB933-22D9-4DF0-A520-723E1E9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54E8"/>
                </a:solidFill>
              </a:defRPr>
            </a:pPr>
            <a:r>
              <a:rPr sz="825" b="1">
                <a:solidFill>
                  <a:srgbClr val="6954E8"/>
                </a:solidFill>
              </a:rPr>
              <a:t>015  /  WEARLYTICS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3F3AA-AC36-43BC-BFD8-B3794A3E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2E"/>
                </a:solidFill>
              </a:defRPr>
            </a:pPr>
            <a:r>
              <a:rPr sz="2325" b="1">
                <a:solidFill>
                  <a:srgbClr val="10152E"/>
                </a:solidFill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CF945-C060-4C38-974A-124F029B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Sources used for the verified project facts and literature-survey direction.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09BB1-E13C-412E-9F2E-1F2F76BB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F0"/>
          </a:solidFill>
          <a:ln xmlns:a="http://schemas.openxmlformats.org/drawingml/2006/main" w="0">
            <a:solidFill>
              <a:srgbClr val="E5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946FD-745C-4997-8B49-01C32E39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S3 MCA MINI PROJECT  •  Lourdes Matha College of Science and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15F61-D771-4E83-9FBC-94CECCEE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54E8"/>
                </a:solidFill>
              </a:defRPr>
            </a:pPr>
            <a:r>
              <a:rPr sz="750" b="1">
                <a:solidFill>
                  <a:srgbClr val="6954E8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E1414-03E9-41EA-ABB4-25FA90EA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54E8"/>
                </a:solidFill>
              </a:defRPr>
            </a:pPr>
            <a:r>
              <a:rPr sz="900" b="1">
                <a:solidFill>
                  <a:srgbClr val="6954E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11101-4199-4149-99E9-1D29CCCF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907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3A"/>
                </a:solidFill>
              </a:defRPr>
            </a:pPr>
            <a:r>
              <a:rPr sz="1125" b="0">
                <a:solidFill>
                  <a:srgbClr val="20243A"/>
                </a:solidFill>
              </a:rPr>
              <a:t>Wearlytics source code and migrations, local project workspace (accessed September 2026).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2791E-5EC8-45D9-8269-59E35EB8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54E8"/>
                </a:solidFill>
              </a:defRPr>
            </a:pPr>
            <a:r>
              <a:rPr sz="900" b="1">
                <a:solidFill>
                  <a:srgbClr val="6954E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9FD61-BC5F-4A3E-B68F-B2EFFC0F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3A"/>
                </a:solidFill>
              </a:defRPr>
            </a:pPr>
            <a:r>
              <a:rPr sz="1125" b="0">
                <a:solidFill>
                  <a:srgbClr val="20243A"/>
                </a:solidFill>
              </a:rPr>
              <a:t>Wearlytics model evaluation: app/services/model_evaluation.json; training methodology: train_classifier.py.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674EE-FD76-47AF-9CD4-4BCFBE0C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54E8"/>
                </a:solidFill>
              </a:defRPr>
            </a:pPr>
            <a:r>
              <a:rPr sz="900" b="1">
                <a:solidFill>
                  <a:srgbClr val="6954E8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C9845-1B9C-49B3-BB10-3B1C817D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718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3A"/>
                </a:solidFill>
              </a:defRPr>
            </a:pPr>
            <a:r>
              <a:rPr sz="1125" b="0">
                <a:solidFill>
                  <a:srgbClr val="20243A"/>
                </a:solidFill>
              </a:rPr>
              <a:t>Grigorev, A. Clothing Dataset (Full), Kaggle dataset referenced by the project training script.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F0AE9-09AE-43E7-BD3A-586173B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54E8"/>
                </a:solidFill>
              </a:defRPr>
            </a:pPr>
            <a:r>
              <a:rPr sz="900" b="1">
                <a:solidFill>
                  <a:srgbClr val="6954E8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AE705-690E-4FE7-BE4A-90A81B9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623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3A"/>
                </a:solidFill>
              </a:defRPr>
            </a:pPr>
            <a:r>
              <a:rPr sz="1125" b="0">
                <a:solidFill>
                  <a:srgbClr val="20243A"/>
                </a:solidFill>
              </a:rPr>
              <a:t>Sandler, M., Howard, A., Zhu, M., Zhmoginov, A., &amp; Chen, L.-C. (2018). MobileNetV2: Inverted Residuals and Linear Bottlenecks. CVPR.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66A3F-3BAA-4FBA-804C-3C0C1D3C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54E8"/>
                </a:solidFill>
              </a:defRPr>
            </a:pPr>
            <a:r>
              <a:rPr sz="900" b="1">
                <a:solidFill>
                  <a:srgbClr val="6954E8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076BE-6C88-42BB-87D8-007550C1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3A"/>
                </a:solidFill>
              </a:defRPr>
            </a:pPr>
            <a:r>
              <a:rPr sz="1125" b="0">
                <a:solidFill>
                  <a:srgbClr val="20243A"/>
                </a:solidFill>
              </a:rPr>
              <a:t>Flask Documentation; SQLAlchemy Documentation; PyTorch and torchvision Documentation.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5F844-F5C5-487B-A647-E1DD859C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54E8"/>
                </a:solidFill>
              </a:defRPr>
            </a:pPr>
            <a:r>
              <a:rPr sz="900" b="1">
                <a:solidFill>
                  <a:srgbClr val="6954E8"/>
                </a:solidFill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DB787-AD47-4E89-8889-02062AD3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434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3A"/>
                </a:solidFill>
              </a:defRPr>
            </a:pPr>
            <a:r>
              <a:rPr sz="1125" b="0">
                <a:solidFill>
                  <a:srgbClr val="20243A"/>
                </a:solidFill>
              </a:rPr>
              <a:t>Literature review scope: lightweight apparel classification, content-based outfit recommendation, explicit-feedback personalization, dominant-color extraction, and wardrobe-utilization analytics.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F89FD-77C8-460E-AE8C-69C74FCA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All implementation claims in this presentation are grounded in the inspected Wearlytics project, not inferred features.</a:t>
            </a:r>
          </a:p>
        </p:txBody>
      </p:sp>
    </p:spTree>
    <p:extLst>
      <p:ext uri="{BB962C8B-B14F-4D97-AF65-F5344CB8AC3E}">
        <p14:creationId xmlns:p14="http://schemas.microsoft.com/office/powerpoint/2010/main" val="124971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2026-09-13T08:00:01.4170000Z</dcterms:created>
  <dcterms:modified xsi:type="dcterms:W3CDTF">2026-09-13T08:00:01.4170000Z</dcterms:modified>
</coreProperties>
</file>